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的开题题目是《基于多智能体协同的科研文献智能综述生成系统》。这个项目想解决的不是“让模型更快写出一篇文章”，而是让综述里的每一个关键结论都能回到原文证据。接下来我会用大约十分钟，说明问题、方案、系统设计和评测计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科研文献数量快速增长，单靠个人持续跟踪已经越来越困难。真正的压力来自三处：检索分散、全文与元数据质量不一、以及引用难以核验。研究者需要的是一张可核查的领域地图，包括方法分类、代表工作、实验条件和演进脉络。因此，本项目的核心判断是：问题的核心是证据链，不是生成速度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传统的单次提示词生成，往往只给出“主题、模型、草稿”这样一条不透明的链路，结论从哪来、引用了哪一段都很难回查。项目把它改造成六段式工作流：规划、检索、分析、对比、写作和校验。每一步都有输入、产物、证据和失败处理，所以我把目标概括为：综述等于任务图乘以证据链再乘以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研究可以分成三条线。检索增强生成能引入外部证据，但引用常常停留在段落或文献级；多智能体能分工协作，但自由对话容易造成上下文膨胀和错误级联；自动综述已经有端到端探索，但跨领域评测、冲突处理和工程闭环仍然不足。三条线共同指向同一个切口：细粒度证据定位、结构化任务融合，以及可复现的系统评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针对这个缺口，总体方案分为三层。底层用混合 RAG 负责证据，中层用 CrewAI 负责智能体协作，上层用 Web 应用把整个流程封装成可操作界面，并由 LLM 网关、数据库、任务队列和对象存储提供支撑。右侧三条设计原则分别是结构化产物、证据优先和失败可恢复。最终目标是从主题输入到报告导出，每一个阶段都有状态、产物和证据可查。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系统设置六类角色：协调、检索、分析、对比、撰写和引用校验。协调器把主题拆成有依赖的任务图，各节点之间传递 Plan、Retrieval、Analysis、Comparison、Draft 和 Verification 等类型化产物。任务失败时会进入 schema 校验、重试、检查点和人工复核的恢复路径，而不是静默跳过。这样，多智能体协作就从自由对话变成了可检查的工程执行。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RAG 流水线从论文接入开始，经过章节切分、混合召回和重排序，最终形成带 evidenceId 的证据卡片。写作时，关键声明只能引用证据卡片中存在的 ID；例如“方法 A 在数据集 D 上优于 B”，必须绑定原文片段、章节和页码或表格位置。引用校验会检查支持度，达到阈值才自动通过，否则进入人工复核或定向改写。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结果融合包括归一化、去重、按方法和任务聚类、冲突检测和证据约束写作。遇到不同论文结论冲突时，系统不会强行投票，而是保留双方的实验设置、证据和分歧，交给读者或评审判断。证据质量分由相关性、可信度、可验证性和时效性组成；支持度高于零点七五自动通过，零点五到零点七五进入人工复核，低于零点五拒绝进入正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工程上，系统分为表现层、应用与编排层、智能体与证据层、数据与存储层。前端有主题输入、任务进度、报告工作区和证据面板四个视图，后端通过 FastAPI、SSE、Celery 和 Redis 管理任务与事件，PostgreSQL、pgvector 和对象存储负责持久化。这样的分层让项目不只是一个演示脚本，而是一个可操作、可恢复、可扩展的软件原型。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需求已经收敛为十二项功能需求和八项非功能指标。主流程必须支持主题输入、检索、去重、切分、混合检索、分析、对比、结构化写作和引用校验；增强项包括证据查看、报告编辑、多格式导出和任务监控。验收上先保证证据绑定百分之一百、引用精度目标不低于百分之八十五、专家评分目标不低于四分，所有目标值都以最终实验为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评测选择三个计算机子方向：检索增强生成、LLM 多智能体系统和软件漏洞检测。每个方向准备三个主题，与 Direct LLM、单智能体 RAG、无 RAG 多智能体和本系统四类基线比较。自动指标看引用精度、覆盖率、定位准确率、检索质量、时延和成本；人工评测由三名评分者盲评，并报告 Krippendorff's alpha，目标不低于零点七。我们关心的不是文本像不像，而是有没有证据。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项目按二十四星期推进，分成四个阶段。前两星期完成调研和需求冻结；第三到第八星期完成架构、数据接入和 RAG；第九到第十五星期完成智能体编排与 Web 原型；第十六到第二十四星期完成三领域评测、稳定性优化、技术报告和答辩。每个阶段都要有可运行增量，优先保证证据链、任务恢复和可复现实验。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预期交付四类成果：可运行的系统、可评测的证据包、可交接的文档，以及可判断的演示材料。系统包括 Web 原型、接口、RAG 流水线和部署说明；评测包包括三领域主题、引用核验样本、自动指标和人工评分脚本。目标值包括证据绑定百分之一百、引用精度不低于百分之八十五、覆盖率不低于百分之八十、专家评分不低于四分，但最终以实测结果为准，不选择性展示样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最后用三句话总结：任务图管理复杂度，混合 RAG 管理证据，三领域评测验证可行性。这个项目的价值不是替代研究者，而是把证据链变成可检查的工作流，降低综述整理成本并提高引用可追溯性。请各位老师指正研究边界、评测设计和实施风险，下一步我将完成需求冻结，搭建 RAG 基线，并迭代多智能体任务图。谢谢。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per_agent_open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per_agent_open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342900"/>
            <a:ext cx="10972800" cy="6210300"/>
          </a:xfrm>
          <a:custGeom>
            <a:avLst/>
            <a:gdLst/>
            <a:ahLst/>
            <a:cxnLst/>
            <a:rect l="l" t="t" r="r" b="b"/>
            <a:pathLst>
              <a:path w="10972800" h="6210300">
                <a:moveTo>
                  <a:pt x="0" y="0"/>
                </a:moveTo>
                <a:lnTo>
                  <a:pt x="10972800" y="0"/>
                </a:lnTo>
                <a:moveTo>
                  <a:pt x="0" y="6210300"/>
                </a:moveTo>
                <a:lnTo>
                  <a:pt x="10972800" y="6210300"/>
                </a:lnTo>
                <a:moveTo>
                  <a:pt x="190500" y="0"/>
                </a:moveTo>
                <a:lnTo>
                  <a:pt x="190500" y="6210300"/>
                </a:lnTo>
                <a:moveTo>
                  <a:pt x="10782300" y="0"/>
                </a:moveTo>
                <a:lnTo>
                  <a:pt x="10782300" y="6210300"/>
                </a:lnTo>
                <a:moveTo>
                  <a:pt x="0" y="1028700"/>
                </a:moveTo>
                <a:lnTo>
                  <a:pt x="10972800" y="1028700"/>
                </a:lnTo>
                <a:moveTo>
                  <a:pt x="0" y="6057900"/>
                </a:moveTo>
                <a:lnTo>
                  <a:pt x="10972800" y="60579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7" name="cover-title"/>
          <p:cNvGrpSpPr/>
          <p:nvPr/>
        </p:nvGrpSpPr>
        <p:grpSpPr>
          <a:xfrm>
            <a:off x="592074" y="806450"/>
            <a:ext cx="5608320" cy="1508125"/>
            <a:chOff x="592074" y="806450"/>
            <a:chExt cx="5608320" cy="1508125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806450"/>
              <a:ext cx="2832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RESEARCH BLUEPRINT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110490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基于多智能体协同的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60020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科研文献智能综述生成系统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66950"/>
              <a:ext cx="8001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25" name="cover-diagram"/>
          <p:cNvGrpSpPr/>
          <p:nvPr/>
        </p:nvGrpSpPr>
        <p:grpSpPr>
          <a:xfrm>
            <a:off x="8305800" y="723900"/>
            <a:ext cx="3276600" cy="3107309"/>
            <a:chOff x="8305800" y="723900"/>
            <a:chExt cx="3276600" cy="3107309"/>
          </a:xfrm>
        </p:grpSpPr>
        <p:sp>
          <p:nvSpPr>
            <p:cNvPr id="8" name="Rectangle 8"/>
            <p:cNvSpPr/>
            <p:nvPr/>
          </p:nvSpPr>
          <p:spPr>
            <a:xfrm>
              <a:off x="8305800" y="723900"/>
              <a:ext cx="3276600" cy="3105150"/>
            </a:xfrm>
            <a:prstGeom prst="roundRect">
              <a:avLst>
                <a:gd name="adj" fmla="val 36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724900" y="1257300"/>
              <a:ext cx="2438400" cy="1714500"/>
            </a:xfrm>
            <a:custGeom>
              <a:avLst/>
              <a:gdLst/>
              <a:ahLst/>
              <a:cxnLst/>
              <a:rect l="l" t="t" r="r" b="b"/>
              <a:pathLst>
                <a:path w="2438400" h="1714500">
                  <a:moveTo>
                    <a:pt x="0" y="0"/>
                  </a:moveTo>
                  <a:lnTo>
                    <a:pt x="2438400" y="0"/>
                  </a:lnTo>
                  <a:moveTo>
                    <a:pt x="0" y="571500"/>
                  </a:moveTo>
                  <a:lnTo>
                    <a:pt x="2438400" y="571500"/>
                  </a:lnTo>
                  <a:moveTo>
                    <a:pt x="0" y="1143000"/>
                  </a:moveTo>
                  <a:lnTo>
                    <a:pt x="2438400" y="1143000"/>
                  </a:lnTo>
                  <a:moveTo>
                    <a:pt x="0" y="1714500"/>
                  </a:moveTo>
                  <a:lnTo>
                    <a:pt x="2438400" y="171450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>
                  <a:alpha val="80000"/>
                </a:scheme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182100" y="1066800"/>
              <a:ext cx="1524000" cy="2152650"/>
            </a:xfrm>
            <a:custGeom>
              <a:avLst/>
              <a:gdLst/>
              <a:ahLst/>
              <a:cxnLst/>
              <a:rect l="l" t="t" r="r" b="b"/>
              <a:pathLst>
                <a:path w="1524000" h="2152650">
                  <a:moveTo>
                    <a:pt x="0" y="0"/>
                  </a:moveTo>
                  <a:lnTo>
                    <a:pt x="0" y="2152650"/>
                  </a:lnTo>
                  <a:moveTo>
                    <a:pt x="762000" y="0"/>
                  </a:moveTo>
                  <a:lnTo>
                    <a:pt x="762000" y="2152650"/>
                  </a:lnTo>
                  <a:moveTo>
                    <a:pt x="1524000" y="0"/>
                  </a:moveTo>
                  <a:lnTo>
                    <a:pt x="1524000" y="215265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>
                  <a:alpha val="55000"/>
                </a:schemeClr>
              </a:solidFill>
              <a:custDash>
                <a:ds d="400000" sp="600000"/>
              </a:custDash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629775" y="1704975"/>
              <a:ext cx="628650" cy="663576"/>
              <a:chOff x="9629775" y="1704975"/>
              <a:chExt cx="628650" cy="6635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734550" y="1704975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>
                    <a:moveTo>
                      <a:pt x="0" y="209550"/>
                    </a:moveTo>
                    <a:cubicBezTo>
                      <a:pt x="0" y="325282"/>
                      <a:pt x="93819" y="419100"/>
                      <a:pt x="209550" y="419100"/>
                    </a:cubicBezTo>
                    <a:cubicBezTo>
                      <a:pt x="325282" y="419100"/>
                      <a:pt x="419100" y="325282"/>
                      <a:pt x="419100" y="209550"/>
                    </a:cubicBezTo>
                    <a:cubicBezTo>
                      <a:pt x="419100" y="93819"/>
                      <a:pt x="325282" y="0"/>
                      <a:pt x="209550" y="0"/>
                    </a:cubicBezTo>
                    <a:cubicBezTo>
                      <a:pt x="93819" y="0"/>
                      <a:pt x="0" y="93819"/>
                      <a:pt x="0" y="209550"/>
                    </a:cubicBez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44100" y="1704975"/>
                <a:ext cx="698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19100">
                    <a:moveTo>
                      <a:pt x="0" y="0"/>
                    </a:moveTo>
                    <a:cubicBezTo>
                      <a:pt x="46555" y="11630"/>
                      <a:pt x="69850" y="81480"/>
                      <a:pt x="69850" y="209550"/>
                    </a:cubicBezTo>
                    <a:cubicBezTo>
                      <a:pt x="69850" y="337620"/>
                      <a:pt x="46555" y="407470"/>
                      <a:pt x="0" y="419100"/>
                    </a:cubicBez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74250" y="1704975"/>
                <a:ext cx="698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19100">
                    <a:moveTo>
                      <a:pt x="69850" y="0"/>
                    </a:moveTo>
                    <a:cubicBezTo>
                      <a:pt x="23295" y="11630"/>
                      <a:pt x="0" y="81480"/>
                      <a:pt x="0" y="209550"/>
                    </a:cubicBezTo>
                    <a:cubicBezTo>
                      <a:pt x="0" y="337620"/>
                      <a:pt x="23295" y="407470"/>
                      <a:pt x="69850" y="419100"/>
                    </a:cubicBez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734550" y="1914525"/>
                <a:ext cx="419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9525">
                    <a:moveTo>
                      <a:pt x="0" y="0"/>
                    </a:moveTo>
                    <a:lnTo>
                      <a:pt x="419100" y="0"/>
                    </a:ln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629775" y="2298701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013950" y="2298701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874250" y="2228851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944100" y="212407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</p:grpSp>
        <p:sp>
          <p:nvSpPr>
            <p:cNvPr id="20" name="Ellipse 20"/>
            <p:cNvSpPr/>
            <p:nvPr/>
          </p:nvSpPr>
          <p:spPr>
            <a:xfrm>
              <a:off x="9105900" y="1181100"/>
              <a:ext cx="1676400" cy="16764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  <a:custDash>
                <a:ds d="266667" sp="533333"/>
              </a:custDash>
            </a:ln>
          </p:spPr>
        </p:sp>
        <p:sp>
          <p:nvSpPr>
            <p:cNvPr id="21" name="Rectangle 21"/>
            <p:cNvSpPr/>
            <p:nvPr/>
          </p:nvSpPr>
          <p:spPr>
            <a:xfrm>
              <a:off x="9525000" y="3038475"/>
              <a:ext cx="8382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52529" y="3054350"/>
              <a:ext cx="1183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+mn-lt"/>
                  <a:ea typeface="+mn-ea"/>
                  <a:cs typeface="+mn-cs"/>
                </a:rPr>
                <a:t>AGENT GRAPH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3366" y="749300"/>
              <a:ext cx="929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 872 / Y 076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43366" y="3625850"/>
              <a:ext cx="1622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 / task / trace</a:t>
              </a:r>
            </a:p>
          </p:txBody>
        </p:sp>
      </p:grpSp>
      <p:grpSp>
        <p:nvGrpSpPr>
          <p:cNvPr id="29" name="cover-meta"/>
          <p:cNvGrpSpPr/>
          <p:nvPr/>
        </p:nvGrpSpPr>
        <p:grpSpPr>
          <a:xfrm>
            <a:off x="598170" y="5073650"/>
            <a:ext cx="5474970" cy="1083183"/>
            <a:chOff x="598170" y="5073650"/>
            <a:chExt cx="5474970" cy="1083183"/>
          </a:xfrm>
        </p:grpSpPr>
        <p:sp>
          <p:nvSpPr>
            <p:cNvPr id="26" name="TextBox 26"/>
            <p:cNvSpPr txBox="1"/>
            <p:nvPr/>
          </p:nvSpPr>
          <p:spPr>
            <a:xfrm>
              <a:off x="598170" y="5073650"/>
              <a:ext cx="54749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不是写得更快，而是引得更准、查得到。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5556250"/>
              <a:ext cx="4694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软件工程 · 智能软件工程 / 大语言模型应用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2742" y="5892800"/>
              <a:ext cx="3375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开题报告 · 2026 年 10 月 · 项目组待填写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502400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中国科学技术大学软件学院 · 软件工程实验项目环节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6144747" cy="1297051"/>
            <a:chOff x="592074" y="387350"/>
            <a:chExt cx="6144747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研究背景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328612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文献越来越多，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61447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综述却仍难“说得准、查得到”</a:t>
              </a:r>
            </a:p>
          </p:txBody>
        </p:sp>
      </p:grpSp>
      <p:grpSp>
        <p:nvGrpSpPr>
          <p:cNvPr id="30" name="pressure-field"/>
          <p:cNvGrpSpPr/>
          <p:nvPr/>
        </p:nvGrpSpPr>
        <p:grpSpPr>
          <a:xfrm>
            <a:off x="609600" y="1676400"/>
            <a:ext cx="4572000" cy="3638550"/>
            <a:chOff x="609600" y="1676400"/>
            <a:chExt cx="4572000" cy="363855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4572000" cy="3638550"/>
            </a:xfrm>
            <a:prstGeom prst="roundRect">
              <a:avLst>
                <a:gd name="adj" fmla="val 31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73250"/>
              <a:ext cx="1950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供给侧 / PRESSURE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970" y="221615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论文增长快于个人跟踪能力</a:t>
              </a:r>
            </a:p>
          </p:txBody>
        </p:sp>
        <p:grpSp>
          <p:nvGrpSpPr>
            <p:cNvPr id="15" name="pressure-row-1"/>
            <p:cNvGrpSpPr/>
            <p:nvPr/>
          </p:nvGrpSpPr>
          <p:grpSpPr>
            <a:xfrm>
              <a:off x="957262" y="2889250"/>
              <a:ext cx="3386138" cy="600583"/>
              <a:chOff x="957262" y="2889250"/>
              <a:chExt cx="3386138" cy="600583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957262" y="2900362"/>
                <a:ext cx="257175" cy="257175"/>
                <a:chOff x="957262" y="2900362"/>
                <a:chExt cx="257175" cy="25717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957262" y="2900362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28712" y="307181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85725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419606" y="288925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检索分散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21892" y="3225800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跨库、跨年份、跨版本，需反复筛选</a:t>
                </a:r>
              </a:p>
            </p:txBody>
          </p:sp>
        </p:grpSp>
        <p:grpSp>
          <p:nvGrpSpPr>
            <p:cNvPr id="22" name="pressure-row-2"/>
            <p:cNvGrpSpPr/>
            <p:nvPr/>
          </p:nvGrpSpPr>
          <p:grpSpPr>
            <a:xfrm>
              <a:off x="971550" y="3689350"/>
              <a:ext cx="3371850" cy="600583"/>
              <a:chOff x="971550" y="3689350"/>
              <a:chExt cx="3371850" cy="600583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971550" y="3700462"/>
                <a:ext cx="228600" cy="257176"/>
                <a:chOff x="971550" y="3700462"/>
                <a:chExt cx="228600" cy="257176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71550" y="3700462"/>
                  <a:ext cx="2286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85725">
                      <a:moveTo>
                        <a:pt x="0" y="42862"/>
                      </a:moveTo>
                      <a:cubicBezTo>
                        <a:pt x="0" y="66535"/>
                        <a:pt x="51174" y="85725"/>
                        <a:pt x="114300" y="85725"/>
                      </a:cubicBezTo>
                      <a:cubicBezTo>
                        <a:pt x="177426" y="85725"/>
                        <a:pt x="228600" y="66535"/>
                        <a:pt x="228600" y="42862"/>
                      </a:cubicBezTo>
                      <a:cubicBezTo>
                        <a:pt x="228600" y="19190"/>
                        <a:pt x="177426" y="0"/>
                        <a:pt x="114300" y="0"/>
                      </a:cubicBezTo>
                      <a:cubicBezTo>
                        <a:pt x="51174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71550" y="3743325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71550" y="3829050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419606" y="36893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全文与元数据不齐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21892" y="4025900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摘要、全文、表格与版本质量不一致</a:t>
                </a:r>
              </a:p>
            </p:txBody>
          </p:sp>
        </p:grpSp>
        <p:grpSp>
          <p:nvGrpSpPr>
            <p:cNvPr id="29" name="pressure-row-3"/>
            <p:cNvGrpSpPr/>
            <p:nvPr/>
          </p:nvGrpSpPr>
          <p:grpSpPr>
            <a:xfrm>
              <a:off x="971548" y="4489450"/>
              <a:ext cx="2826641" cy="600583"/>
              <a:chOff x="971548" y="4489450"/>
              <a:chExt cx="2826641" cy="600583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971548" y="4507869"/>
                <a:ext cx="235561" cy="242531"/>
                <a:chOff x="971548" y="4507869"/>
                <a:chExt cx="235561" cy="242531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042988" y="458628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857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71562" y="4507869"/>
                  <a:ext cx="135547" cy="135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47" h="135568">
                      <a:moveTo>
                        <a:pt x="0" y="35556"/>
                      </a:moveTo>
                      <a:lnTo>
                        <a:pt x="6615" y="27898"/>
                      </a:lnTo>
                      <a:cubicBezTo>
                        <a:pt x="34517" y="0"/>
                        <a:pt x="79751" y="3"/>
                        <a:pt x="107649" y="27905"/>
                      </a:cubicBezTo>
                      <a:cubicBezTo>
                        <a:pt x="135547" y="55807"/>
                        <a:pt x="135544" y="101041"/>
                        <a:pt x="107642" y="128939"/>
                      </a:cubicBezTo>
                      <a:lnTo>
                        <a:pt x="100012" y="13556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71548" y="4614862"/>
                  <a:ext cx="128590" cy="13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90" h="135538">
                      <a:moveTo>
                        <a:pt x="128590" y="100012"/>
                      </a:moveTo>
                      <a:lnTo>
                        <a:pt x="122917" y="107642"/>
                      </a:lnTo>
                      <a:cubicBezTo>
                        <a:pt x="94707" y="135538"/>
                        <a:pt x="49301" y="135538"/>
                        <a:pt x="21090" y="107642"/>
                      </a:cubicBezTo>
                      <a:cubicBezTo>
                        <a:pt x="7595" y="94298"/>
                        <a:pt x="0" y="76108"/>
                        <a:pt x="0" y="57129"/>
                      </a:cubicBezTo>
                      <a:cubicBezTo>
                        <a:pt x="0" y="38149"/>
                        <a:pt x="7595" y="19960"/>
                        <a:pt x="21090" y="6615"/>
                      </a:cubicBezTo>
                      <a:lnTo>
                        <a:pt x="28577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419606" y="44894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引用难核验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21892" y="4826000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结论与原文之间缺少稳定定位</a:t>
                </a:r>
              </a:p>
            </p:txBody>
          </p:sp>
        </p:grpSp>
      </p:grpSp>
      <p:grpSp>
        <p:nvGrpSpPr>
          <p:cNvPr id="41" name="need-field"/>
          <p:cNvGrpSpPr/>
          <p:nvPr/>
        </p:nvGrpSpPr>
        <p:grpSpPr>
          <a:xfrm>
            <a:off x="5486400" y="1676400"/>
            <a:ext cx="6096000" cy="3638550"/>
            <a:chOff x="5486400" y="1676400"/>
            <a:chExt cx="6096000" cy="3638550"/>
          </a:xfrm>
        </p:grpSpPr>
        <p:sp>
          <p:nvSpPr>
            <p:cNvPr id="31" name="Rectangle 31"/>
            <p:cNvSpPr/>
            <p:nvPr/>
          </p:nvSpPr>
          <p:spPr>
            <a:xfrm>
              <a:off x="5486400" y="1676400"/>
              <a:ext cx="6096000" cy="3638550"/>
            </a:xfrm>
            <a:prstGeom prst="roundRect">
              <a:avLst>
                <a:gd name="adj" fmla="val 314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84342" y="1873250"/>
              <a:ext cx="2825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需求侧 / RESEARCHER NEED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79770" y="2216150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研究者要的是一张可核查的领域地图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791200" y="28003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82056" y="29654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82056" y="3346450"/>
              <a:ext cx="35561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 → 筛选 → 抽取 → 对比 → 写作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84342" y="381635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人工完成时，真正耗时的不是写，而是整理与核对。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91200" y="4286250"/>
              <a:ext cx="5486400" cy="685800"/>
            </a:xfrm>
            <a:prstGeom prst="roundRect">
              <a:avLst>
                <a:gd name="adj" fmla="val 11111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12942" y="4406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关键缺口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0656" y="4641850"/>
              <a:ext cx="42382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引用可追溯 · 观点可比较 · 过程可复现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98170" y="5607050"/>
            <a:ext cx="5172075" cy="440055"/>
            <a:chOff x="598170" y="5607050"/>
            <a:chExt cx="5172075" cy="440055"/>
          </a:xfrm>
        </p:grpSpPr>
        <p:sp>
          <p:nvSpPr>
            <p:cNvPr id="42" name="TextBox 42"/>
            <p:cNvSpPr txBox="1"/>
            <p:nvPr/>
          </p:nvSpPr>
          <p:spPr>
            <a:xfrm>
              <a:off x="598170" y="5607050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问题的核心是证据链，不是生成速度。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604266" y="650240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研究背景 · 从文献压力到证据链问题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4751430" cy="1297051"/>
            <a:chOff x="592074" y="387350"/>
            <a:chExt cx="475143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核心判断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47514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把综述从“一次性生成”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47514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改造成“可追溯工作流”</a:t>
              </a:r>
            </a:p>
          </p:txBody>
        </p:sp>
      </p:grpSp>
      <p:grpSp>
        <p:nvGrpSpPr>
          <p:cNvPr id="24" name="before-field"/>
          <p:cNvGrpSpPr/>
          <p:nvPr/>
        </p:nvGrpSpPr>
        <p:grpSpPr>
          <a:xfrm>
            <a:off x="609600" y="1676400"/>
            <a:ext cx="4762500" cy="3619500"/>
            <a:chOff x="609600" y="1676400"/>
            <a:chExt cx="4762500" cy="36195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4762500" cy="3619500"/>
            </a:xfrm>
            <a:prstGeom prst="roundRect">
              <a:avLst>
                <a:gd name="adj" fmla="val 3158"/>
              </a:avLst>
            </a:prstGeom>
            <a:solidFill>
              <a:srgbClr val="F1F3F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73250"/>
              <a:ext cx="2260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BEFORE / ONE-SHOT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970" y="21780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一次提示词生成</a:t>
              </a:r>
            </a:p>
          </p:txBody>
        </p:sp>
        <p:grpSp>
          <p:nvGrpSpPr>
            <p:cNvPr id="18" name="before-chain"/>
            <p:cNvGrpSpPr/>
            <p:nvPr/>
          </p:nvGrpSpPr>
          <p:grpSpPr>
            <a:xfrm>
              <a:off x="914400" y="2895600"/>
              <a:ext cx="4152900" cy="533400"/>
              <a:chOff x="914400" y="2895600"/>
              <a:chExt cx="4152900" cy="5334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2895600"/>
                <a:ext cx="1143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97305" y="30543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主题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2057400" y="3162300"/>
                <a:ext cx="419100" cy="1"/>
              </a:xfrm>
              <a:prstGeom prst="line">
                <a:avLst/>
              </a:prstGeom>
              <a:noFill/>
              <a:ln w="14288">
                <a:solidFill>
                  <a:srgbClr val="5B6770"/>
                </a:solidFill>
                <a:tailEnd type="triangle" w="lg" len="lg"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476500" y="2895600"/>
                <a:ext cx="1143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863520" y="3054350"/>
                <a:ext cx="368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619500" y="3162300"/>
                <a:ext cx="419100" cy="1"/>
              </a:xfrm>
              <a:prstGeom prst="line">
                <a:avLst/>
              </a:prstGeom>
              <a:noFill/>
              <a:ln w="14288">
                <a:solidFill>
                  <a:srgbClr val="5B6770"/>
                </a:solidFill>
                <a:tailEnd type="triangle" w="lg" len="lg"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4038600" y="2895600"/>
                <a:ext cx="10287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364355" y="30543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草稿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914400" y="3714750"/>
              <a:ext cx="4152900" cy="9525"/>
            </a:xfrm>
            <a:custGeom>
              <a:avLst/>
              <a:gdLst/>
              <a:ahLst/>
              <a:cxnLst/>
              <a:rect l="l" t="t" r="r" b="b"/>
              <a:pathLst>
                <a:path w="4152900" h="9525">
                  <a:moveTo>
                    <a:pt x="0" y="0"/>
                  </a:moveTo>
                  <a:lnTo>
                    <a:pt x="41529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  <a:prstDash val="dash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5256" y="38798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过程不透明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542" y="42354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结论从哪来、引用了哪一段，难以回查。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5256" y="46418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引用难核验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7542" y="49974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段落级参考文献不能证明具体声明。</a:t>
              </a:r>
            </a:p>
          </p:txBody>
        </p:sp>
      </p:grpSp>
      <p:grpSp>
        <p:nvGrpSpPr>
          <p:cNvPr id="49" name="after-field"/>
          <p:cNvGrpSpPr/>
          <p:nvPr/>
        </p:nvGrpSpPr>
        <p:grpSpPr>
          <a:xfrm>
            <a:off x="5562600" y="1676400"/>
            <a:ext cx="6019800" cy="3619500"/>
            <a:chOff x="5562600" y="1676400"/>
            <a:chExt cx="6019800" cy="3619500"/>
          </a:xfrm>
        </p:grpSpPr>
        <p:sp>
          <p:nvSpPr>
            <p:cNvPr id="25" name="Rectangle 25"/>
            <p:cNvSpPr/>
            <p:nvPr/>
          </p:nvSpPr>
          <p:spPr>
            <a:xfrm>
              <a:off x="5562600" y="1676400"/>
              <a:ext cx="6019800" cy="361950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60542" y="1873250"/>
              <a:ext cx="2830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AFTER / TRACEABLE FLOW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55970" y="2178050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六段可检查的证据工作流</a:t>
              </a:r>
            </a:p>
          </p:txBody>
        </p:sp>
        <p:grpSp>
          <p:nvGrpSpPr>
            <p:cNvPr id="36" name="after-chain-1"/>
            <p:cNvGrpSpPr/>
            <p:nvPr/>
          </p:nvGrpSpPr>
          <p:grpSpPr>
            <a:xfrm>
              <a:off x="5867400" y="2857500"/>
              <a:ext cx="5162550" cy="514350"/>
              <a:chOff x="5867400" y="2857500"/>
              <a:chExt cx="5162550" cy="514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867400" y="285750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412230" y="300672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规划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7334250" y="3114675"/>
                <a:ext cx="38100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7715250" y="285750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260080" y="300672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9182100" y="3114675"/>
                <a:ext cx="38100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563100" y="285750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107930" y="300672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分析</a:t>
                </a:r>
              </a:p>
            </p:txBody>
          </p:sp>
        </p:grpSp>
        <p:grpSp>
          <p:nvGrpSpPr>
            <p:cNvPr id="45" name="after-chain-2"/>
            <p:cNvGrpSpPr/>
            <p:nvPr/>
          </p:nvGrpSpPr>
          <p:grpSpPr>
            <a:xfrm>
              <a:off x="5867400" y="3676650"/>
              <a:ext cx="5162550" cy="514350"/>
              <a:chOff x="5867400" y="3676650"/>
              <a:chExt cx="5162550" cy="5143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867400" y="367665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412230" y="38258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对比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7334250" y="3933825"/>
                <a:ext cx="38100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715250" y="367665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260080" y="38258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写作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9182100" y="3933825"/>
                <a:ext cx="38100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9563100" y="367665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rgbClr val="FFF3E3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07930" y="38258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校验</a:t>
                </a:r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5860542" y="45021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每一步都有输入、产物、证据与失败处理。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67400" y="4876800"/>
              <a:ext cx="51625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31948" y="4940300"/>
              <a:ext cx="2633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9F6"/>
                  </a:solidFill>
                  <a:latin typeface="+mn-lt"/>
                  <a:ea typeface="+mn-ea"/>
                  <a:cs typeface="+mn-cs"/>
                </a:rPr>
                <a:t>目标：可交互 · 可追溯 · 可复现</a:t>
              </a:r>
            </a:p>
          </p:txBody>
        </p:sp>
      </p:grpSp>
      <p:grpSp>
        <p:nvGrpSpPr>
          <p:cNvPr id="51" name="equation"/>
          <p:cNvGrpSpPr/>
          <p:nvPr/>
        </p:nvGrpSpPr>
        <p:grpSpPr>
          <a:xfrm>
            <a:off x="598170" y="5626100"/>
            <a:ext cx="4149047" cy="440055"/>
            <a:chOff x="598170" y="5626100"/>
            <a:chExt cx="4149047" cy="440055"/>
          </a:xfrm>
        </p:grpSpPr>
        <p:sp>
          <p:nvSpPr>
            <p:cNvPr id="50" name="TextBox 50"/>
            <p:cNvSpPr txBox="1"/>
            <p:nvPr/>
          </p:nvSpPr>
          <p:spPr>
            <a:xfrm>
              <a:off x="598170" y="5626100"/>
              <a:ext cx="41490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综述 = 任务图 × 证据链 × 验证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604266" y="65024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核心判断 · 工作流而非单次生成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4679442" cy="1297051"/>
            <a:chOff x="592074" y="387350"/>
            <a:chExt cx="4679442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53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现状与缺口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467944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三条研究线各有进展，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但都留下同一个缺口</a:t>
              </a:r>
            </a:p>
          </p:txBody>
        </p:sp>
      </p:grpSp>
      <p:grpSp>
        <p:nvGrpSpPr>
          <p:cNvPr id="22" name="line-rag"/>
          <p:cNvGrpSpPr/>
          <p:nvPr/>
        </p:nvGrpSpPr>
        <p:grpSpPr>
          <a:xfrm>
            <a:off x="609600" y="1676400"/>
            <a:ext cx="3505200" cy="3714750"/>
            <a:chOff x="609600" y="1676400"/>
            <a:chExt cx="3505200" cy="371475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3505200" cy="3714750"/>
            </a:xfrm>
            <a:prstGeom prst="roundRect">
              <a:avLst>
                <a:gd name="adj" fmla="val 3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73250"/>
              <a:ext cx="81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LINE 01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84250" y="2357437"/>
              <a:ext cx="279399" cy="314325"/>
              <a:chOff x="984250" y="2357437"/>
              <a:chExt cx="279399" cy="3143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84250" y="2357437"/>
                <a:ext cx="279399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04775">
                    <a:moveTo>
                      <a:pt x="0" y="52387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399" y="81320"/>
                      <a:pt x="279399" y="52387"/>
                    </a:cubicBezTo>
                    <a:cubicBezTo>
                      <a:pt x="279399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84250" y="2409825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4250" y="2514600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02970" y="2787650"/>
              <a:ext cx="577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542" y="3225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34925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引入外部证据，降低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37401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模型记忆依赖。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14400" y="4095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542" y="41973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542" y="4445000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引用常停留在段落/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542" y="46926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文献级，难以证明具体声明。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542" y="5016500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需要细粒度证据定位</a:t>
              </a:r>
            </a:p>
          </p:txBody>
        </p:sp>
      </p:grpSp>
      <p:grpSp>
        <p:nvGrpSpPr>
          <p:cNvPr id="44" name="line-agent"/>
          <p:cNvGrpSpPr/>
          <p:nvPr/>
        </p:nvGrpSpPr>
        <p:grpSpPr>
          <a:xfrm>
            <a:off x="4343400" y="1676400"/>
            <a:ext cx="3505200" cy="3714750"/>
            <a:chOff x="4343400" y="1676400"/>
            <a:chExt cx="3505200" cy="3714750"/>
          </a:xfrm>
        </p:grpSpPr>
        <p:sp>
          <p:nvSpPr>
            <p:cNvPr id="23" name="Rectangle 23"/>
            <p:cNvSpPr/>
            <p:nvPr/>
          </p:nvSpPr>
          <p:spPr>
            <a:xfrm>
              <a:off x="4343400" y="1676400"/>
              <a:ext cx="3505200" cy="3714750"/>
            </a:xfrm>
            <a:prstGeom prst="roundRect">
              <a:avLst>
                <a:gd name="adj" fmla="val 3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1342" y="1873250"/>
              <a:ext cx="81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LINE 02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4735512" y="2339975"/>
              <a:ext cx="244475" cy="331787"/>
              <a:chOff x="4735512" y="2339975"/>
              <a:chExt cx="244475" cy="33178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752975" y="237490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857750" y="233997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805362" y="251460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910137" y="251460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35512" y="254952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910137" y="254952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805362" y="261937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822825" y="2444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892675" y="2444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636770" y="2787650"/>
              <a:ext cx="18722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Multi-Agent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41342" y="3225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41342" y="34925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角色分工、工具调用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1342" y="37401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与流程协作。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648200" y="4095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41342" y="41973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41342" y="44450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自由对话易造成上下文膨胀、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41342" y="4692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职责漂移与错误级联。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41342" y="5016500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需要任务契约与结构化产物</a:t>
              </a:r>
            </a:p>
          </p:txBody>
        </p:sp>
      </p:grpSp>
      <p:grpSp>
        <p:nvGrpSpPr>
          <p:cNvPr id="62" name="line-survey"/>
          <p:cNvGrpSpPr/>
          <p:nvPr/>
        </p:nvGrpSpPr>
        <p:grpSpPr>
          <a:xfrm>
            <a:off x="8077200" y="1676400"/>
            <a:ext cx="3505200" cy="3714750"/>
            <a:chOff x="8077200" y="1676400"/>
            <a:chExt cx="3505200" cy="3714750"/>
          </a:xfrm>
        </p:grpSpPr>
        <p:sp>
          <p:nvSpPr>
            <p:cNvPr id="45" name="Rectangle 45"/>
            <p:cNvSpPr/>
            <p:nvPr/>
          </p:nvSpPr>
          <p:spPr>
            <a:xfrm>
              <a:off x="8077200" y="1676400"/>
              <a:ext cx="3505200" cy="3714750"/>
            </a:xfrm>
            <a:prstGeom prst="roundRect">
              <a:avLst>
                <a:gd name="adj" fmla="val 3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75142" y="1873250"/>
              <a:ext cx="81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LINE 03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8469312" y="2357437"/>
              <a:ext cx="244475" cy="314324"/>
              <a:chOff x="8469312" y="2357437"/>
              <a:chExt cx="244475" cy="314324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626475" y="2357437"/>
                <a:ext cx="8731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2">
                    <a:moveTo>
                      <a:pt x="0" y="0"/>
                    </a:moveTo>
                    <a:lnTo>
                      <a:pt x="0" y="69850"/>
                    </a:lnTo>
                    <a:cubicBezTo>
                      <a:pt x="0" y="79494"/>
                      <a:pt x="7818" y="87312"/>
                      <a:pt x="17462" y="87312"/>
                    </a:cubicBezTo>
                    <a:lnTo>
                      <a:pt x="87312" y="8731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469312" y="2357437"/>
                <a:ext cx="244475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314324">
                    <a:moveTo>
                      <a:pt x="209550" y="314324"/>
                    </a:moveTo>
                    <a:lnTo>
                      <a:pt x="34925" y="314324"/>
                    </a:lnTo>
                    <a:cubicBezTo>
                      <a:pt x="15636" y="314324"/>
                      <a:pt x="0" y="298688"/>
                      <a:pt x="0" y="279399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57162" y="0"/>
                    </a:lnTo>
                    <a:lnTo>
                      <a:pt x="244475" y="87312"/>
                    </a:lnTo>
                    <a:lnTo>
                      <a:pt x="244475" y="279399"/>
                    </a:lnTo>
                    <a:cubicBezTo>
                      <a:pt x="244475" y="298688"/>
                      <a:pt x="228838" y="314324"/>
                      <a:pt x="209550" y="314324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539162" y="2462212"/>
                <a:ext cx="17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9525">
                    <a:moveTo>
                      <a:pt x="0" y="0"/>
                    </a:move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539162" y="253206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539162" y="260191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370570" y="2787650"/>
              <a:ext cx="19687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Auto-Survey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75142" y="3225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75142" y="3492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覆盖检索、组织、生成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75142" y="37401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与修订的端到端流程。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8382000" y="4095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75142" y="41973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75142" y="44450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跨领域评测、冲突处理与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75142" y="4692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工程闭环仍不充分。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75142" y="5016500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需要可复现的系统与评测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609600" y="5581650"/>
            <a:ext cx="10972800" cy="552450"/>
            <a:chOff x="609600" y="5581650"/>
            <a:chExt cx="10972800" cy="552450"/>
          </a:xfrm>
        </p:grpSpPr>
        <p:sp>
          <p:nvSpPr>
            <p:cNvPr id="63" name="Rectangle 63"/>
            <p:cNvSpPr/>
            <p:nvPr/>
          </p:nvSpPr>
          <p:spPr>
            <a:xfrm>
              <a:off x="609600" y="5581650"/>
              <a:ext cx="10972800" cy="552450"/>
            </a:xfrm>
            <a:prstGeom prst="roundRect">
              <a:avLst>
                <a:gd name="adj" fmla="val 13793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9056" y="5718175"/>
              <a:ext cx="78045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本项目切口：claim–evidence–locator + 任务 DAG + 可复现 Web 原型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6" name="TextBox 66"/>
            <p:cNvSpPr txBox="1"/>
            <p:nvPr/>
          </p:nvSpPr>
          <p:spPr>
            <a:xfrm>
              <a:off x="604266" y="6502400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现状与缺口 · 三条研究线指向同一工程空白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143881" cy="1297051"/>
            <a:chOff x="592074" y="387350"/>
            <a:chExt cx="5143881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总体方案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23572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三层协作：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智能体、证据与应用闭环</a:t>
              </a:r>
            </a:p>
          </p:txBody>
        </p:sp>
      </p:grpSp>
      <p:grpSp>
        <p:nvGrpSpPr>
          <p:cNvPr id="55" name="architecture"/>
          <p:cNvGrpSpPr/>
          <p:nvPr/>
        </p:nvGrpSpPr>
        <p:grpSpPr>
          <a:xfrm>
            <a:off x="609600" y="1676400"/>
            <a:ext cx="7239000" cy="4002659"/>
            <a:chOff x="609600" y="1676400"/>
            <a:chExt cx="7239000" cy="4002659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7239000" cy="4000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2657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SYSTEM CROSS-SECTION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19075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2906" y="2279650"/>
              <a:ext cx="3070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应用层 / WEB PROTOTYPE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5192" y="2616200"/>
              <a:ext cx="4093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主题配置 · 进度监控 · 证据面板 · 报告编辑与导出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908800" y="2413000"/>
              <a:ext cx="279400" cy="279400"/>
              <a:chOff x="6908800" y="2413000"/>
              <a:chExt cx="279400" cy="279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908800" y="2413000"/>
                <a:ext cx="1047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9700">
                    <a:moveTo>
                      <a:pt x="17462" y="0"/>
                    </a:move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22237"/>
                    </a:lnTo>
                    <a:cubicBezTo>
                      <a:pt x="104775" y="131882"/>
                      <a:pt x="96957" y="139700"/>
                      <a:pt x="87312" y="139700"/>
                    </a:cubicBezTo>
                    <a:lnTo>
                      <a:pt x="17462" y="139700"/>
                    </a:lnTo>
                    <a:cubicBezTo>
                      <a:pt x="7818" y="139700"/>
                      <a:pt x="0" y="131882"/>
                      <a:pt x="0" y="122237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08800" y="2622549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17462" y="0"/>
                    </a:move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52387"/>
                    </a:lnTo>
                    <a:cubicBezTo>
                      <a:pt x="104775" y="62032"/>
                      <a:pt x="96957" y="69850"/>
                      <a:pt x="87312" y="69850"/>
                    </a:cubicBezTo>
                    <a:lnTo>
                      <a:pt x="17462" y="69850"/>
                    </a:lnTo>
                    <a:cubicBezTo>
                      <a:pt x="7818" y="69850"/>
                      <a:pt x="0" y="62032"/>
                      <a:pt x="0" y="52387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083425" y="2552700"/>
                <a:ext cx="1047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9700">
                    <a:moveTo>
                      <a:pt x="17462" y="0"/>
                    </a:move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22237"/>
                    </a:lnTo>
                    <a:cubicBezTo>
                      <a:pt x="104775" y="131882"/>
                      <a:pt x="96957" y="139700"/>
                      <a:pt x="87312" y="139700"/>
                    </a:cubicBezTo>
                    <a:lnTo>
                      <a:pt x="17462" y="139700"/>
                    </a:lnTo>
                    <a:cubicBezTo>
                      <a:pt x="7818" y="139700"/>
                      <a:pt x="0" y="131882"/>
                      <a:pt x="0" y="122237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083425" y="2413000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17462" y="0"/>
                    </a:move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52387"/>
                    </a:lnTo>
                    <a:cubicBezTo>
                      <a:pt x="104775" y="62032"/>
                      <a:pt x="96957" y="69850"/>
                      <a:pt x="87312" y="69850"/>
                    </a:cubicBezTo>
                    <a:lnTo>
                      <a:pt x="17462" y="69850"/>
                    </a:lnTo>
                    <a:cubicBezTo>
                      <a:pt x="7818" y="69850"/>
                      <a:pt x="0" y="62032"/>
                      <a:pt x="0" y="52387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7" name="Line 17"/>
            <p:cNvSpPr/>
            <p:nvPr/>
          </p:nvSpPr>
          <p:spPr>
            <a:xfrm>
              <a:off x="4229100" y="2971800"/>
              <a:ext cx="1" cy="3048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 flipV="1">
              <a:off x="4381500" y="2971800"/>
              <a:ext cx="1" cy="304800"/>
            </a:xfrm>
            <a:prstGeom prst="line">
              <a:avLst/>
            </a:prstGeom>
            <a:noFill/>
            <a:ln w="14288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14400" y="3181350"/>
              <a:ext cx="6629400" cy="914400"/>
            </a:xfrm>
            <a:prstGeom prst="roundRect">
              <a:avLst>
                <a:gd name="adj" fmla="val 8333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52906" y="3270250"/>
              <a:ext cx="34201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协作层 / CREWAI TASK GRAPH</a:t>
              </a:r>
            </a:p>
          </p:txBody>
        </p:sp>
        <p:grpSp>
          <p:nvGrpSpPr>
            <p:cNvPr id="33" name="agents-inline"/>
            <p:cNvGrpSpPr/>
            <p:nvPr/>
          </p:nvGrpSpPr>
          <p:grpSpPr>
            <a:xfrm>
              <a:off x="1162050" y="3638550"/>
              <a:ext cx="5829300" cy="285750"/>
              <a:chOff x="1162050" y="3638550"/>
              <a:chExt cx="5829300" cy="285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1620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4535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协调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21526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4441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31432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4347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分析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1338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4253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对比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1244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4159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撰写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1150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3E3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4065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校验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891337" y="3386137"/>
              <a:ext cx="314325" cy="331787"/>
              <a:chOff x="6891337" y="3386137"/>
              <a:chExt cx="314325" cy="3317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943725" y="3386137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104775"/>
                    </a:moveTo>
                    <a:cubicBezTo>
                      <a:pt x="0" y="162640"/>
                      <a:pt x="46909" y="209550"/>
                      <a:pt x="104775" y="209550"/>
                    </a:cubicBezTo>
                    <a:cubicBezTo>
                      <a:pt x="162640" y="209550"/>
                      <a:pt x="209550" y="162640"/>
                      <a:pt x="209550" y="104775"/>
                    </a:cubicBezTo>
                    <a:cubicBezTo>
                      <a:pt x="209550" y="46909"/>
                      <a:pt x="162640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48500" y="3386137"/>
                <a:ext cx="349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09550">
                    <a:moveTo>
                      <a:pt x="0" y="0"/>
                    </a:moveTo>
                    <a:cubicBezTo>
                      <a:pt x="23277" y="5815"/>
                      <a:pt x="34925" y="40740"/>
                      <a:pt x="34925" y="104775"/>
                    </a:cubicBezTo>
                    <a:cubicBezTo>
                      <a:pt x="34925" y="168810"/>
                      <a:pt x="23277" y="203735"/>
                      <a:pt x="0" y="20955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13575" y="3386137"/>
                <a:ext cx="349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09550">
                    <a:moveTo>
                      <a:pt x="34925" y="0"/>
                    </a:moveTo>
                    <a:cubicBezTo>
                      <a:pt x="11647" y="5815"/>
                      <a:pt x="0" y="40740"/>
                      <a:pt x="0" y="104775"/>
                    </a:cubicBezTo>
                    <a:cubicBezTo>
                      <a:pt x="0" y="168810"/>
                      <a:pt x="11647" y="203735"/>
                      <a:pt x="34925" y="20955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43725" y="3490912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91337" y="3682999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83425" y="3682999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13575" y="364807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48500" y="3595687"/>
                <a:ext cx="9525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7">
                    <a:moveTo>
                      <a:pt x="0" y="0"/>
                    </a:move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43" name="Line 43"/>
            <p:cNvSpPr/>
            <p:nvPr/>
          </p:nvSpPr>
          <p:spPr>
            <a:xfrm>
              <a:off x="4229100" y="4095750"/>
              <a:ext cx="1" cy="2286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4" name="Line 44"/>
            <p:cNvSpPr/>
            <p:nvPr/>
          </p:nvSpPr>
          <p:spPr>
            <a:xfrm flipV="1">
              <a:off x="4381500" y="4095750"/>
              <a:ext cx="1" cy="228600"/>
            </a:xfrm>
            <a:prstGeom prst="line">
              <a:avLst/>
            </a:prstGeom>
            <a:noFill/>
            <a:ln w="14288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4400" y="4286250"/>
              <a:ext cx="6629400" cy="112395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52906" y="4375150"/>
              <a:ext cx="23985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证据层 / HYBRID RAG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5192" y="4730750"/>
              <a:ext cx="5410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arXiv / PubMed → 章节切分 → BM25 + 稠密检索 → 重排序 → 证据库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62050" y="5048250"/>
              <a:ext cx="5143500" cy="228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347216" y="5083175"/>
              <a:ext cx="37908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PostgreSQL + pgvector · object store · citation graph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6908800" y="4681537"/>
              <a:ext cx="279399" cy="314325"/>
              <a:chOff x="6908800" y="4681537"/>
              <a:chExt cx="279399" cy="3143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08800" y="4681537"/>
                <a:ext cx="279399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04775">
                    <a:moveTo>
                      <a:pt x="0" y="52387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399" y="81320"/>
                      <a:pt x="279399" y="52387"/>
                    </a:cubicBezTo>
                    <a:cubicBezTo>
                      <a:pt x="279399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08800" y="4733925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08800" y="4838700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09066" y="5473700"/>
              <a:ext cx="3668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EXTERNAL: LLM gateway · arXiv · PubMed · Crossref</a:t>
              </a:r>
            </a:p>
          </p:txBody>
        </p:sp>
      </p:grpSp>
      <p:grpSp>
        <p:nvGrpSpPr>
          <p:cNvPr id="88" name="design-rules"/>
          <p:cNvGrpSpPr/>
          <p:nvPr/>
        </p:nvGrpSpPr>
        <p:grpSpPr>
          <a:xfrm>
            <a:off x="8077200" y="1676400"/>
            <a:ext cx="3505200" cy="4000500"/>
            <a:chOff x="8077200" y="1676400"/>
            <a:chExt cx="3505200" cy="4000500"/>
          </a:xfrm>
        </p:grpSpPr>
        <p:sp>
          <p:nvSpPr>
            <p:cNvPr id="56" name="Rectangle 56"/>
            <p:cNvSpPr/>
            <p:nvPr/>
          </p:nvSpPr>
          <p:spPr>
            <a:xfrm>
              <a:off x="8077200" y="1676400"/>
              <a:ext cx="3505200" cy="4000500"/>
            </a:xfrm>
            <a:prstGeom prst="roundRect">
              <a:avLst>
                <a:gd name="adj" fmla="val 326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75142" y="1835150"/>
              <a:ext cx="14783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 RULES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70570" y="21399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协作必须可检查</a:t>
              </a:r>
            </a:p>
          </p:txBody>
        </p:sp>
        <p:grpSp>
          <p:nvGrpSpPr>
            <p:cNvPr id="72" name="rule-artifacts"/>
            <p:cNvGrpSpPr/>
            <p:nvPr/>
          </p:nvGrpSpPr>
          <p:grpSpPr>
            <a:xfrm>
              <a:off x="8410575" y="2784475"/>
              <a:ext cx="2801036" cy="819658"/>
              <a:chOff x="8410575" y="2784475"/>
              <a:chExt cx="2801036" cy="819658"/>
            </a:xfrm>
          </p:grpSpPr>
          <p:grpSp>
            <p:nvGrpSpPr>
              <p:cNvPr id="68" name="Group 68"/>
              <p:cNvGrpSpPr/>
              <p:nvPr/>
            </p:nvGrpSpPr>
            <p:grpSpPr>
              <a:xfrm>
                <a:off x="8410575" y="2790825"/>
                <a:ext cx="271463" cy="285750"/>
                <a:chOff x="8410575" y="2790825"/>
                <a:chExt cx="271463" cy="285750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8410575" y="30194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553450" y="27908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553450" y="30194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482012" y="29051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624888" y="29051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454266" y="2957989"/>
                  <a:ext cx="41148" cy="65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8" h="65808">
                      <a:moveTo>
                        <a:pt x="0" y="65808"/>
                      </a:moveTo>
                      <a:lnTo>
                        <a:pt x="41148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525747" y="2843674"/>
                  <a:ext cx="41105" cy="65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05" h="65780">
                      <a:moveTo>
                        <a:pt x="0" y="65780"/>
                      </a:moveTo>
                      <a:lnTo>
                        <a:pt x="4110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25804" y="2958060"/>
                  <a:ext cx="41091" cy="65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1" h="65722">
                      <a:moveTo>
                        <a:pt x="0" y="0"/>
                      </a:moveTo>
                      <a:lnTo>
                        <a:pt x="41091" y="6572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597213" y="2843689"/>
                  <a:ext cx="41162" cy="65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62" h="65865">
                      <a:moveTo>
                        <a:pt x="0" y="0"/>
                      </a:moveTo>
                      <a:lnTo>
                        <a:pt x="41162" y="65865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9" name="TextBox 69"/>
              <p:cNvSpPr txBox="1"/>
              <p:nvPr/>
            </p:nvSpPr>
            <p:spPr>
              <a:xfrm>
                <a:off x="8887206" y="278447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结构化产物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889492" y="3092450"/>
                <a:ext cx="23221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Plan / Retrieval / Analysis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889492" y="3340100"/>
                <a:ext cx="17974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Draft / Verification</a:t>
                </a:r>
              </a:p>
            </p:txBody>
          </p:sp>
        </p:grpSp>
        <p:grpSp>
          <p:nvGrpSpPr>
            <p:cNvPr id="80" name="rule-evidence"/>
            <p:cNvGrpSpPr/>
            <p:nvPr/>
          </p:nvGrpSpPr>
          <p:grpSpPr>
            <a:xfrm>
              <a:off x="8439148" y="3698875"/>
              <a:ext cx="2295969" cy="819658"/>
              <a:chOff x="8439148" y="3698875"/>
              <a:chExt cx="2295969" cy="819658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8439148" y="3726819"/>
                <a:ext cx="235561" cy="242531"/>
                <a:chOff x="8439148" y="3726819"/>
                <a:chExt cx="235561" cy="242531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8510588" y="38052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857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8539162" y="3726819"/>
                  <a:ext cx="135547" cy="135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47" h="135568">
                      <a:moveTo>
                        <a:pt x="0" y="35556"/>
                      </a:moveTo>
                      <a:lnTo>
                        <a:pt x="6615" y="27898"/>
                      </a:lnTo>
                      <a:cubicBezTo>
                        <a:pt x="34517" y="0"/>
                        <a:pt x="79751" y="3"/>
                        <a:pt x="107649" y="27905"/>
                      </a:cubicBezTo>
                      <a:cubicBezTo>
                        <a:pt x="135547" y="55807"/>
                        <a:pt x="135544" y="101041"/>
                        <a:pt x="107642" y="128939"/>
                      </a:cubicBezTo>
                      <a:lnTo>
                        <a:pt x="100012" y="13556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8439148" y="3833812"/>
                  <a:ext cx="128590" cy="13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90" h="135538">
                      <a:moveTo>
                        <a:pt x="128590" y="100012"/>
                      </a:moveTo>
                      <a:lnTo>
                        <a:pt x="122917" y="107642"/>
                      </a:lnTo>
                      <a:cubicBezTo>
                        <a:pt x="94707" y="135538"/>
                        <a:pt x="49301" y="135538"/>
                        <a:pt x="21090" y="107642"/>
                      </a:cubicBezTo>
                      <a:cubicBezTo>
                        <a:pt x="7595" y="94298"/>
                        <a:pt x="0" y="76108"/>
                        <a:pt x="0" y="57129"/>
                      </a:cubicBezTo>
                      <a:cubicBezTo>
                        <a:pt x="0" y="38149"/>
                        <a:pt x="7595" y="19960"/>
                        <a:pt x="21090" y="6615"/>
                      </a:cubicBezTo>
                      <a:lnTo>
                        <a:pt x="28577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8887206" y="369887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证据优先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889492" y="4006850"/>
                <a:ext cx="18456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claim 绑定 evidenceId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889492" y="4254500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与原文定位</a:t>
                </a:r>
              </a:p>
            </p:txBody>
          </p:sp>
        </p:grpSp>
        <p:grpSp>
          <p:nvGrpSpPr>
            <p:cNvPr id="86" name="rule-recovery"/>
            <p:cNvGrpSpPr/>
            <p:nvPr/>
          </p:nvGrpSpPr>
          <p:grpSpPr>
            <a:xfrm>
              <a:off x="8405581" y="4613275"/>
              <a:ext cx="2860208" cy="572008"/>
              <a:chOff x="8405581" y="4613275"/>
              <a:chExt cx="2860208" cy="572008"/>
            </a:xfrm>
          </p:grpSpPr>
          <p:grpSp>
            <p:nvGrpSpPr>
              <p:cNvPr id="83" name="Group 83"/>
              <p:cNvGrpSpPr/>
              <p:nvPr/>
            </p:nvGrpSpPr>
            <p:grpSpPr>
              <a:xfrm>
                <a:off x="8405581" y="4633912"/>
                <a:ext cx="279010" cy="257176"/>
                <a:chOff x="8405581" y="4633912"/>
                <a:chExt cx="279010" cy="257176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8405581" y="463391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8596312" y="48339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sp>
            <p:nvSpPr>
              <p:cNvPr id="84" name="TextBox 84"/>
              <p:cNvSpPr txBox="1"/>
              <p:nvPr/>
            </p:nvSpPr>
            <p:spPr>
              <a:xfrm>
                <a:off x="8887206" y="461327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失败可恢复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889492" y="4921250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检查点、重试与人工复核入口</a:t>
                </a:r>
              </a:p>
            </p:txBody>
          </p:sp>
        </p:grpSp>
        <p:sp>
          <p:nvSpPr>
            <p:cNvPr id="87" name="TextBox 87"/>
            <p:cNvSpPr txBox="1"/>
            <p:nvPr/>
          </p:nvSpPr>
          <p:spPr>
            <a:xfrm>
              <a:off x="8375142" y="5321300"/>
              <a:ext cx="2633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目标：可交互 · 可追溯 · 可复现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600456" y="5880100"/>
            <a:ext cx="7045452" cy="352044"/>
            <a:chOff x="600456" y="5880100"/>
            <a:chExt cx="7045452" cy="352044"/>
          </a:xfrm>
        </p:grpSpPr>
        <p:sp>
          <p:nvSpPr>
            <p:cNvPr id="89" name="TextBox 89"/>
            <p:cNvSpPr txBox="1"/>
            <p:nvPr/>
          </p:nvSpPr>
          <p:spPr>
            <a:xfrm>
              <a:off x="600456" y="588010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从主题输入到报告导出，每一个阶段都有状态、产物和证据可查。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604266" y="65024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总体方案 · 三层协作与证据闭环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608320" cy="1297051"/>
            <a:chOff x="592074" y="387350"/>
            <a:chExt cx="560832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9362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多智能体任务图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六类智能体按任务图协作，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避免自由对话的状态漂移</a:t>
              </a:r>
            </a:p>
          </p:txBody>
        </p:sp>
      </p:grpSp>
      <p:grpSp>
        <p:nvGrpSpPr>
          <p:cNvPr id="85" name="task-dag"/>
          <p:cNvGrpSpPr/>
          <p:nvPr/>
        </p:nvGrpSpPr>
        <p:grpSpPr>
          <a:xfrm>
            <a:off x="609600" y="1676400"/>
            <a:ext cx="10972800" cy="4191000"/>
            <a:chOff x="609600" y="1676400"/>
            <a:chExt cx="109728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3178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TASK DAG / TYPED ARTIFACTS</a:t>
              </a:r>
            </a:p>
          </p:txBody>
        </p:sp>
        <p:grpSp>
          <p:nvGrpSpPr>
            <p:cNvPr id="21" name="coordinator-node"/>
            <p:cNvGrpSpPr/>
            <p:nvPr/>
          </p:nvGrpSpPr>
          <p:grpSpPr>
            <a:xfrm>
              <a:off x="4953000" y="2190750"/>
              <a:ext cx="2286000" cy="628650"/>
              <a:chOff x="4953000" y="2190750"/>
              <a:chExt cx="2286000" cy="6286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4953000" y="2190750"/>
                <a:ext cx="2286000" cy="628650"/>
              </a:xfrm>
              <a:prstGeom prst="roundRect">
                <a:avLst>
                  <a:gd name="adj" fmla="val 1212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5183981" y="2364581"/>
                <a:ext cx="242888" cy="256382"/>
                <a:chOff x="5183981" y="2364581"/>
                <a:chExt cx="242888" cy="25638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5224463" y="236458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3"/>
                      </a:moveTo>
                      <a:cubicBezTo>
                        <a:pt x="0" y="125677"/>
                        <a:pt x="36248" y="161925"/>
                        <a:pt x="80963" y="161925"/>
                      </a:cubicBezTo>
                      <a:cubicBezTo>
                        <a:pt x="125677" y="161925"/>
                        <a:pt x="161925" y="125677"/>
                        <a:pt x="161925" y="80963"/>
                      </a:cubicBezTo>
                      <a:cubicBezTo>
                        <a:pt x="161925" y="36248"/>
                        <a:pt x="125677" y="0"/>
                        <a:pt x="80963" y="0"/>
                      </a:cubicBezTo>
                      <a:cubicBezTo>
                        <a:pt x="36248" y="0"/>
                        <a:pt x="0" y="36248"/>
                        <a:pt x="0" y="80963"/>
                      </a:cubicBez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5305425" y="236458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0" y="0"/>
                      </a:moveTo>
                      <a:cubicBezTo>
                        <a:pt x="17987" y="4493"/>
                        <a:pt x="26988" y="31481"/>
                        <a:pt x="26988" y="80963"/>
                      </a:cubicBezTo>
                      <a:cubicBezTo>
                        <a:pt x="26988" y="130444"/>
                        <a:pt x="17987" y="157432"/>
                        <a:pt x="0" y="161925"/>
                      </a:cubicBez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5278438" y="236458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26988" y="0"/>
                      </a:moveTo>
                      <a:cubicBezTo>
                        <a:pt x="9000" y="4493"/>
                        <a:pt x="0" y="31481"/>
                        <a:pt x="0" y="80963"/>
                      </a:cubicBezTo>
                      <a:cubicBezTo>
                        <a:pt x="0" y="130444"/>
                        <a:pt x="9000" y="157432"/>
                        <a:pt x="26988" y="161925"/>
                      </a:cubicBez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5224463" y="2445544"/>
                  <a:ext cx="161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9525">
                      <a:moveTo>
                        <a:pt x="0" y="0"/>
                      </a:moveTo>
                      <a:lnTo>
                        <a:pt x="161925" y="0"/>
                      </a:ln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5183981" y="259397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5332413" y="259397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5278438" y="25669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5305425" y="2526507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5593842" y="2320925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7F9F6"/>
                    </a:solidFill>
                    <a:latin typeface="+mn-lt"/>
                    <a:ea typeface="+mn-ea"/>
                    <a:cs typeface="+mn-cs"/>
                  </a:rPr>
                  <a:t>协调智能体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595366" y="2559050"/>
                <a:ext cx="8810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CFE0D4"/>
                    </a:solidFill>
                    <a:latin typeface="+mn-lt"/>
                    <a:ea typeface="+mn-ea"/>
                    <a:cs typeface="+mn-cs"/>
                  </a:rPr>
                  <a:t>PlanArtifact</a:t>
                </a: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819275" y="2819400"/>
              <a:ext cx="8572500" cy="323850"/>
            </a:xfrm>
            <a:custGeom>
              <a:avLst/>
              <a:gdLst/>
              <a:ahLst/>
              <a:cxnLst/>
              <a:rect l="l" t="t" r="r" b="b"/>
              <a:pathLst>
                <a:path w="8572500" h="323850">
                  <a:moveTo>
                    <a:pt x="4276725" y="0"/>
                  </a:moveTo>
                  <a:lnTo>
                    <a:pt x="4276725" y="190500"/>
                  </a:lnTo>
                  <a:moveTo>
                    <a:pt x="0" y="190500"/>
                  </a:moveTo>
                  <a:lnTo>
                    <a:pt x="8572500" y="190500"/>
                  </a:lnTo>
                  <a:moveTo>
                    <a:pt x="0" y="190500"/>
                  </a:moveTo>
                  <a:lnTo>
                    <a:pt x="0" y="323850"/>
                  </a:lnTo>
                  <a:moveTo>
                    <a:pt x="2143125" y="190500"/>
                  </a:moveTo>
                  <a:lnTo>
                    <a:pt x="2143125" y="323850"/>
                  </a:lnTo>
                  <a:moveTo>
                    <a:pt x="4286250" y="190500"/>
                  </a:moveTo>
                  <a:lnTo>
                    <a:pt x="4286250" y="323850"/>
                  </a:lnTo>
                  <a:moveTo>
                    <a:pt x="6429375" y="190500"/>
                  </a:moveTo>
                  <a:lnTo>
                    <a:pt x="6429375" y="323850"/>
                  </a:lnTo>
                  <a:moveTo>
                    <a:pt x="8572500" y="190500"/>
                  </a:moveTo>
                  <a:lnTo>
                    <a:pt x="8572500" y="323850"/>
                  </a:lnTo>
                </a:path>
              </a:pathLst>
            </a:custGeom>
            <a:noFill/>
            <a:ln w="11430">
              <a:solidFill>
                <a:schemeClr val="accent3"/>
              </a:solidFill>
              <a:prstDash val="dash"/>
            </a:ln>
          </p:spPr>
        </p:sp>
        <p:grpSp>
          <p:nvGrpSpPr>
            <p:cNvPr id="29" name="retrieval-node"/>
            <p:cNvGrpSpPr/>
            <p:nvPr/>
          </p:nvGrpSpPr>
          <p:grpSpPr>
            <a:xfrm>
              <a:off x="914400" y="3143250"/>
              <a:ext cx="1838648" cy="685800"/>
              <a:chOff x="914400" y="3143250"/>
              <a:chExt cx="1838648" cy="6858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914400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123950" y="3333750"/>
                <a:ext cx="228600" cy="228600"/>
                <a:chOff x="1123950" y="3333750"/>
                <a:chExt cx="228600" cy="2286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123950" y="333375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88900"/>
                      </a:moveTo>
                      <a:cubicBezTo>
                        <a:pt x="0" y="137998"/>
                        <a:pt x="39802" y="177800"/>
                        <a:pt x="88900" y="177800"/>
                      </a:cubicBezTo>
                      <a:cubicBezTo>
                        <a:pt x="137998" y="177800"/>
                        <a:pt x="177800" y="137998"/>
                        <a:pt x="177800" y="88900"/>
                      </a:cubicBezTo>
                      <a:cubicBezTo>
                        <a:pt x="177800" y="39802"/>
                        <a:pt x="137998" y="0"/>
                        <a:pt x="88900" y="0"/>
                      </a:cubicBezTo>
                      <a:cubicBezTo>
                        <a:pt x="39802" y="0"/>
                        <a:pt x="0" y="39802"/>
                        <a:pt x="0" y="889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76350" y="34861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762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517142" y="32924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18666" y="3540125"/>
                <a:ext cx="12343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RetrievalArtifact</a:t>
                </a:r>
              </a:p>
            </p:txBody>
          </p:sp>
        </p:grpSp>
        <p:grpSp>
          <p:nvGrpSpPr>
            <p:cNvPr id="39" name="analysis-node"/>
            <p:cNvGrpSpPr/>
            <p:nvPr/>
          </p:nvGrpSpPr>
          <p:grpSpPr>
            <a:xfrm>
              <a:off x="3057525" y="3143250"/>
              <a:ext cx="1809750" cy="685800"/>
              <a:chOff x="3057525" y="3143250"/>
              <a:chExt cx="1809750" cy="6858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3057525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3292475" y="3333750"/>
                <a:ext cx="177800" cy="228599"/>
                <a:chOff x="3292475" y="3333750"/>
                <a:chExt cx="177800" cy="228599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3406775" y="33337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292475" y="333375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343275" y="340995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343275" y="34607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343275" y="35115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3660267" y="32924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661791" y="3540125"/>
                <a:ext cx="11565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AnalysisArtifact</a:t>
                </a:r>
              </a:p>
            </p:txBody>
          </p:sp>
        </p:grpSp>
        <p:grpSp>
          <p:nvGrpSpPr>
            <p:cNvPr id="53" name="comparison-node"/>
            <p:cNvGrpSpPr/>
            <p:nvPr/>
          </p:nvGrpSpPr>
          <p:grpSpPr>
            <a:xfrm>
              <a:off x="5200650" y="3143250"/>
              <a:ext cx="1980438" cy="685800"/>
              <a:chOff x="5200650" y="3143250"/>
              <a:chExt cx="1980438" cy="6858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200650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5397500" y="3321050"/>
                <a:ext cx="241299" cy="253999"/>
                <a:chOff x="5397500" y="3321050"/>
                <a:chExt cx="241299" cy="253999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5397500" y="3524249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524500" y="33210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524500" y="3524249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461000" y="34226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587999" y="34226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5436336" y="3469640"/>
                  <a:ext cx="36576" cy="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6" h="58496">
                      <a:moveTo>
                        <a:pt x="0" y="58496"/>
                      </a:moveTo>
                      <a:lnTo>
                        <a:pt x="36576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5499874" y="3368027"/>
                  <a:ext cx="36538" cy="58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38" h="58471">
                      <a:moveTo>
                        <a:pt x="0" y="58471"/>
                      </a:moveTo>
                      <a:lnTo>
                        <a:pt x="36538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5499925" y="3469703"/>
                  <a:ext cx="36525" cy="58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25" h="58420">
                      <a:moveTo>
                        <a:pt x="0" y="0"/>
                      </a:moveTo>
                      <a:lnTo>
                        <a:pt x="36525" y="5842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5563400" y="3368040"/>
                  <a:ext cx="36589" cy="58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89" h="58547">
                      <a:moveTo>
                        <a:pt x="0" y="0"/>
                      </a:moveTo>
                      <a:lnTo>
                        <a:pt x="36589" y="58547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5803392" y="32924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对比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804916" y="3540125"/>
                <a:ext cx="13761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ComparisonArtifact</a:t>
                </a:r>
              </a:p>
            </p:txBody>
          </p:sp>
        </p:grpSp>
        <p:grpSp>
          <p:nvGrpSpPr>
            <p:cNvPr id="63" name="writer-node"/>
            <p:cNvGrpSpPr/>
            <p:nvPr/>
          </p:nvGrpSpPr>
          <p:grpSpPr>
            <a:xfrm>
              <a:off x="7343775" y="3143250"/>
              <a:ext cx="1809750" cy="685800"/>
              <a:chOff x="7343775" y="3143250"/>
              <a:chExt cx="1809750" cy="6858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343775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578725" y="3333750"/>
                <a:ext cx="177800" cy="228599"/>
                <a:chOff x="7578725" y="3333750"/>
                <a:chExt cx="177800" cy="228599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3025" y="33337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578725" y="333375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629525" y="340995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629525" y="34607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629525" y="35115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7946517" y="32924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撰写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48041" y="3540125"/>
                <a:ext cx="9944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DraftArtifact</a:t>
                </a:r>
              </a:p>
            </p:txBody>
          </p:sp>
        </p:grpSp>
        <p:grpSp>
          <p:nvGrpSpPr>
            <p:cNvPr id="70" name="verifier-node"/>
            <p:cNvGrpSpPr/>
            <p:nvPr/>
          </p:nvGrpSpPr>
          <p:grpSpPr>
            <a:xfrm>
              <a:off x="9486900" y="3143250"/>
              <a:ext cx="2036445" cy="685800"/>
              <a:chOff x="9486900" y="3143250"/>
              <a:chExt cx="2036445" cy="6858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9486900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F3E3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9679311" y="3333750"/>
                <a:ext cx="248008" cy="228599"/>
                <a:chOff x="9679311" y="3333750"/>
                <a:chExt cx="248008" cy="228599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9679311" y="3333750"/>
                  <a:ext cx="248008" cy="226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08" h="226644">
                      <a:moveTo>
                        <a:pt x="124581" y="226644"/>
                      </a:moveTo>
                      <a:cubicBezTo>
                        <a:pt x="45021" y="201982"/>
                        <a:pt x="0" y="118013"/>
                        <a:pt x="23489" y="38100"/>
                      </a:cubicBezTo>
                      <a:cubicBezTo>
                        <a:pt x="63056" y="39910"/>
                        <a:pt x="101774" y="26245"/>
                        <a:pt x="131439" y="0"/>
                      </a:cubicBezTo>
                      <a:cubicBezTo>
                        <a:pt x="161104" y="26245"/>
                        <a:pt x="199822" y="39910"/>
                        <a:pt x="239389" y="38100"/>
                      </a:cubicBezTo>
                      <a:cubicBezTo>
                        <a:pt x="248008" y="67426"/>
                        <a:pt x="247610" y="98665"/>
                        <a:pt x="238246" y="127762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9848850" y="351154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10089642" y="329247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引用校验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091166" y="3540125"/>
                <a:ext cx="14321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VerificationArtifact</a:t>
                </a:r>
              </a:p>
            </p:txBody>
          </p:sp>
        </p:grpSp>
        <p:sp>
          <p:nvSpPr>
            <p:cNvPr id="71" name="Line 71"/>
            <p:cNvSpPr/>
            <p:nvPr/>
          </p:nvSpPr>
          <p:spPr>
            <a:xfrm>
              <a:off x="2724150" y="3486150"/>
              <a:ext cx="257175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2" name="Line 72"/>
            <p:cNvSpPr/>
            <p:nvPr/>
          </p:nvSpPr>
          <p:spPr>
            <a:xfrm>
              <a:off x="4867275" y="3486150"/>
              <a:ext cx="257175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3" name="Line 73"/>
            <p:cNvSpPr/>
            <p:nvPr/>
          </p:nvSpPr>
          <p:spPr>
            <a:xfrm>
              <a:off x="7010400" y="3486150"/>
              <a:ext cx="257175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4" name="Line 74"/>
            <p:cNvSpPr/>
            <p:nvPr/>
          </p:nvSpPr>
          <p:spPr>
            <a:xfrm>
              <a:off x="9153525" y="3486150"/>
              <a:ext cx="257175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5" name="Freeform 75"/>
            <p:cNvSpPr/>
            <p:nvPr/>
          </p:nvSpPr>
          <p:spPr>
            <a:xfrm>
              <a:off x="8248650" y="3829050"/>
              <a:ext cx="2143125" cy="342900"/>
            </a:xfrm>
            <a:custGeom>
              <a:avLst/>
              <a:gdLst/>
              <a:ahLst/>
              <a:cxnLst/>
              <a:rect l="l" t="t" r="r" b="b"/>
              <a:pathLst>
                <a:path w="2143125" h="342900">
                  <a:moveTo>
                    <a:pt x="2143125" y="0"/>
                  </a:moveTo>
                  <a:lnTo>
                    <a:pt x="2143125" y="342900"/>
                  </a:lnTo>
                  <a:lnTo>
                    <a:pt x="0" y="342900"/>
                  </a:lnTo>
                  <a:lnTo>
                    <a:pt x="0" y="0"/>
                  </a:lnTo>
                  <a:moveTo>
                    <a:pt x="2143125" y="342900"/>
                  </a:moveTo>
                  <a:lnTo>
                    <a:pt x="2143125" y="3429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266667"/>
              </a:custDash>
              <a:tailEnd type="triangle" w="lg" len="lg"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784954" y="4197350"/>
              <a:ext cx="3060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unsupported → 定向改写 / 补充检索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14400" y="4667250"/>
              <a:ext cx="10382250" cy="704850"/>
            </a:xfrm>
            <a:prstGeom prst="roundRect">
              <a:avLst>
                <a:gd name="adj" fmla="val 10811"/>
              </a:avLst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136142" y="4787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工程机制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183892" y="4787900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schema 校验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707892" y="47879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重试与检查点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612892" y="4787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共享黑板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232142" y="47879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预算与超时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946642" y="4787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人工复核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37666" y="509270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失败不是静默跳过，而是进入可观察的恢复路径。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604266" y="650240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多智能体任务图 · 角色、产物、恢复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7278675" cy="1297051"/>
            <a:chOff x="592074" y="387350"/>
            <a:chExt cx="7278675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60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可追溯 RAG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727867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每条关键声明都绑定 evidenceId，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7505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形成可追溯引用链</a:t>
              </a:r>
            </a:p>
          </p:txBody>
        </p:sp>
      </p:grpSp>
      <p:grpSp>
        <p:nvGrpSpPr>
          <p:cNvPr id="68" name="rag-pipeline"/>
          <p:cNvGrpSpPr/>
          <p:nvPr/>
        </p:nvGrpSpPr>
        <p:grpSpPr>
          <a:xfrm>
            <a:off x="609600" y="1676400"/>
            <a:ext cx="10972800" cy="4191000"/>
            <a:chOff x="609600" y="1676400"/>
            <a:chExt cx="109728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4115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EVIDENCE PIPELINE / SOURCE → CLAIM</a:t>
              </a:r>
            </a:p>
          </p:txBody>
        </p:sp>
        <p:grpSp>
          <p:nvGrpSpPr>
            <p:cNvPr id="16" name="pipeline-stage-1"/>
            <p:cNvGrpSpPr/>
            <p:nvPr/>
          </p:nvGrpSpPr>
          <p:grpSpPr>
            <a:xfrm>
              <a:off x="914400" y="2209800"/>
              <a:ext cx="2381250" cy="819150"/>
              <a:chOff x="914400" y="2209800"/>
              <a:chExt cx="2381250" cy="8191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209800"/>
                <a:ext cx="23812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58875" y="2421731"/>
                <a:ext cx="215901" cy="242888"/>
                <a:chOff x="1158875" y="2421731"/>
                <a:chExt cx="215901" cy="242888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58875" y="2421731"/>
                  <a:ext cx="215901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80963">
                      <a:moveTo>
                        <a:pt x="0" y="40481"/>
                      </a:moveTo>
                      <a:cubicBezTo>
                        <a:pt x="0" y="62839"/>
                        <a:pt x="48331" y="80963"/>
                        <a:pt x="107950" y="80963"/>
                      </a:cubicBezTo>
                      <a:cubicBezTo>
                        <a:pt x="167570" y="80963"/>
                        <a:pt x="215901" y="62839"/>
                        <a:pt x="215901" y="40481"/>
                      </a:cubicBezTo>
                      <a:cubicBezTo>
                        <a:pt x="215901" y="18124"/>
                        <a:pt x="167570" y="0"/>
                        <a:pt x="107950" y="0"/>
                      </a:cubicBezTo>
                      <a:cubicBezTo>
                        <a:pt x="48331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58875" y="246221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58875" y="2543175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555242" y="2406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论文接入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56766" y="2692400"/>
                <a:ext cx="13888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metadata + 开放全文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3295650" y="2619375"/>
              <a:ext cx="266700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1" name="pipeline-stage-2"/>
            <p:cNvGrpSpPr/>
            <p:nvPr/>
          </p:nvGrpSpPr>
          <p:grpSpPr>
            <a:xfrm>
              <a:off x="3600450" y="2209800"/>
              <a:ext cx="2384584" cy="819150"/>
              <a:chOff x="3600450" y="2209800"/>
              <a:chExt cx="2384584" cy="8191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600450" y="2209800"/>
                <a:ext cx="23812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3817938" y="2408238"/>
                <a:ext cx="256381" cy="269875"/>
                <a:chOff x="3817938" y="2408238"/>
                <a:chExt cx="256381" cy="26987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817938" y="26241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952875" y="24082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952875" y="26241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885406" y="25161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020344" y="25161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859202" y="2566115"/>
                  <a:ext cx="38862" cy="6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62" h="62152">
                      <a:moveTo>
                        <a:pt x="0" y="62152"/>
                      </a:moveTo>
                      <a:lnTo>
                        <a:pt x="38862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926711" y="2458151"/>
                  <a:ext cx="38822" cy="6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22" h="62125">
                      <a:moveTo>
                        <a:pt x="0" y="62125"/>
                      </a:moveTo>
                      <a:lnTo>
                        <a:pt x="38822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926765" y="2566182"/>
                  <a:ext cx="38808" cy="62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08" h="62071">
                      <a:moveTo>
                        <a:pt x="0" y="0"/>
                      </a:moveTo>
                      <a:lnTo>
                        <a:pt x="38808" y="62071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994207" y="2458165"/>
                  <a:ext cx="38876" cy="62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6" h="62206">
                      <a:moveTo>
                        <a:pt x="0" y="0"/>
                      </a:moveTo>
                      <a:lnTo>
                        <a:pt x="38876" y="62206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4241292" y="2406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章节切分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242816" y="2692400"/>
                <a:ext cx="17422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chunk + section + locator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5981700" y="2619375"/>
              <a:ext cx="266700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9" name="pipeline-stage-3"/>
            <p:cNvGrpSpPr/>
            <p:nvPr/>
          </p:nvGrpSpPr>
          <p:grpSpPr>
            <a:xfrm>
              <a:off x="6286500" y="2209800"/>
              <a:ext cx="2381250" cy="819150"/>
              <a:chOff x="6286500" y="2209800"/>
              <a:chExt cx="2381250" cy="8191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286500" y="2209800"/>
                <a:ext cx="23812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6517481" y="2421731"/>
                <a:ext cx="242889" cy="242889"/>
                <a:chOff x="6517481" y="2421731"/>
                <a:chExt cx="242889" cy="242889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517481" y="2421731"/>
                  <a:ext cx="188913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13" h="188913">
                      <a:moveTo>
                        <a:pt x="0" y="94456"/>
                      </a:moveTo>
                      <a:cubicBezTo>
                        <a:pt x="0" y="146623"/>
                        <a:pt x="42290" y="188913"/>
                        <a:pt x="94456" y="188913"/>
                      </a:cubicBezTo>
                      <a:cubicBezTo>
                        <a:pt x="146623" y="188913"/>
                        <a:pt x="188913" y="146623"/>
                        <a:pt x="188913" y="94456"/>
                      </a:cubicBezTo>
                      <a:cubicBezTo>
                        <a:pt x="188913" y="42290"/>
                        <a:pt x="146623" y="0"/>
                        <a:pt x="94456" y="0"/>
                      </a:cubicBezTo>
                      <a:cubicBezTo>
                        <a:pt x="42290" y="0"/>
                        <a:pt x="0" y="42290"/>
                        <a:pt x="0" y="94456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679407" y="2583657"/>
                  <a:ext cx="8096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80963">
                      <a:moveTo>
                        <a:pt x="80963" y="809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6927342" y="2406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混合召回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928866" y="2692400"/>
                <a:ext cx="15434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BM25 + dense + rerank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8667750" y="2619375"/>
              <a:ext cx="266700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48" name="pipeline-stage-4"/>
            <p:cNvGrpSpPr/>
            <p:nvPr/>
          </p:nvGrpSpPr>
          <p:grpSpPr>
            <a:xfrm>
              <a:off x="8972550" y="2209800"/>
              <a:ext cx="2305050" cy="819150"/>
              <a:chOff x="8972550" y="2209800"/>
              <a:chExt cx="2305050" cy="8191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972550" y="2209800"/>
                <a:ext cx="2305050" cy="819150"/>
              </a:xfrm>
              <a:prstGeom prst="roundRect">
                <a:avLst>
                  <a:gd name="adj" fmla="val 9302"/>
                </a:avLst>
              </a:prstGeom>
              <a:solidFill>
                <a:srgbClr val="FFF3E3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9217023" y="2428632"/>
                <a:ext cx="222476" cy="229059"/>
                <a:chOff x="9217023" y="2428632"/>
                <a:chExt cx="222476" cy="229059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9284494" y="2502694"/>
                  <a:ext cx="8096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80963">
                      <a:moveTo>
                        <a:pt x="0" y="80963"/>
                      </a:move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311482" y="2428632"/>
                  <a:ext cx="128017" cy="128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17" h="128037">
                      <a:moveTo>
                        <a:pt x="0" y="33581"/>
                      </a:moveTo>
                      <a:lnTo>
                        <a:pt x="6248" y="26348"/>
                      </a:lnTo>
                      <a:cubicBezTo>
                        <a:pt x="32599" y="0"/>
                        <a:pt x="75321" y="3"/>
                        <a:pt x="101669" y="26355"/>
                      </a:cubicBezTo>
                      <a:cubicBezTo>
                        <a:pt x="128017" y="52706"/>
                        <a:pt x="128014" y="95428"/>
                        <a:pt x="101662" y="121776"/>
                      </a:cubicBezTo>
                      <a:lnTo>
                        <a:pt x="94456" y="128037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9217023" y="2529682"/>
                  <a:ext cx="121446" cy="128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46" h="128009">
                      <a:moveTo>
                        <a:pt x="121446" y="94456"/>
                      </a:moveTo>
                      <a:lnTo>
                        <a:pt x="116089" y="101662"/>
                      </a:lnTo>
                      <a:cubicBezTo>
                        <a:pt x="89446" y="128009"/>
                        <a:pt x="46562" y="128009"/>
                        <a:pt x="19919" y="101662"/>
                      </a:cubicBezTo>
                      <a:cubicBezTo>
                        <a:pt x="7173" y="89059"/>
                        <a:pt x="0" y="71880"/>
                        <a:pt x="0" y="53955"/>
                      </a:cubicBezTo>
                      <a:cubicBezTo>
                        <a:pt x="0" y="36030"/>
                        <a:pt x="7173" y="18851"/>
                        <a:pt x="19919" y="6248"/>
                      </a:cubicBezTo>
                      <a:lnTo>
                        <a:pt x="26989" y="0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9613392" y="2406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证据卡片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614916" y="2692400"/>
                <a:ext cx="14288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evidenceId + support</a:t>
                </a:r>
              </a:p>
            </p:txBody>
          </p:sp>
        </p:grpSp>
        <p:grpSp>
          <p:nvGrpSpPr>
            <p:cNvPr id="57" name="evidence-example"/>
            <p:cNvGrpSpPr/>
            <p:nvPr/>
          </p:nvGrpSpPr>
          <p:grpSpPr>
            <a:xfrm>
              <a:off x="914400" y="3333750"/>
              <a:ext cx="4857750" cy="1924050"/>
              <a:chOff x="914400" y="3333750"/>
              <a:chExt cx="4857750" cy="19240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914400" y="3333750"/>
                <a:ext cx="4857750" cy="1924050"/>
              </a:xfrm>
              <a:prstGeom prst="roundRect">
                <a:avLst>
                  <a:gd name="adj" fmla="val 3960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914400" y="3333750"/>
                <a:ext cx="95250" cy="19240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212342" y="3492500"/>
                <a:ext cx="17476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EVIDENCE / EV-017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212342" y="3835400"/>
                <a:ext cx="2190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“在数据集 D 上，方法 A 的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212342" y="4083050"/>
                <a:ext cx="14544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F1 优于方法 B。”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213866" y="4502150"/>
                <a:ext cx="22650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Paper: 2402.01788 · Section 4.2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213866" y="4730750"/>
                <a:ext cx="21092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Locator: p.6 / Table 2 / row A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213866" y="4997450"/>
                <a:ext cx="17231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Support: 0.82 · 自动通过</a:t>
                </a:r>
              </a:p>
            </p:txBody>
          </p:sp>
        </p:grpSp>
        <p:sp>
          <p:nvSpPr>
            <p:cNvPr id="58" name="Freeform 58"/>
            <p:cNvSpPr/>
            <p:nvPr/>
          </p:nvSpPr>
          <p:spPr>
            <a:xfrm>
              <a:off x="5772150" y="428625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7145">
              <a:solidFill>
                <a:schemeClr val="accent2"/>
              </a:solidFill>
              <a:custDash>
                <a:ds d="333333" sp="222222"/>
              </a:custDash>
              <a:tailEnd type="triangle" w="lg" len="lg"/>
            </a:ln>
          </p:spPr>
        </p:sp>
        <p:grpSp>
          <p:nvGrpSpPr>
            <p:cNvPr id="66" name="claim-example"/>
            <p:cNvGrpSpPr/>
            <p:nvPr/>
          </p:nvGrpSpPr>
          <p:grpSpPr>
            <a:xfrm>
              <a:off x="6286500" y="3333750"/>
              <a:ext cx="4991100" cy="1924050"/>
              <a:chOff x="6286500" y="3333750"/>
              <a:chExt cx="4991100" cy="19240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286500" y="3333750"/>
                <a:ext cx="4991100" cy="1924050"/>
              </a:xfrm>
              <a:prstGeom prst="roundRect">
                <a:avLst>
                  <a:gd name="adj" fmla="val 3960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565392" y="3492500"/>
                <a:ext cx="14553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CLAIM / CL-041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563106" y="3784600"/>
                <a:ext cx="23190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方法 A 在 D 上优于 B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565392" y="4140200"/>
                <a:ext cx="27356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 evidenceIds: EV-017, EV-021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565392" y="4425950"/>
                <a:ext cx="18856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 citation: [12] [14]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6572250" y="4838700"/>
                <a:ext cx="4324350" cy="2476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738366" y="4883150"/>
                <a:ext cx="23026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正文只允许引用证据卡片中存在的 ID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907542" y="5454650"/>
              <a:ext cx="5707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校验门槛：≥0.75 自动通过 · 0.50—0.75 人工复核 · &lt;0.50 拒绝写入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604266" y="6502400"/>
              <a:ext cx="2452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可追溯 RAG · 从原文到声明的证据路径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608320" cy="1297051"/>
            <a:chOff x="592074" y="387350"/>
            <a:chExt cx="560832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9362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结果融合与校验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结果融合保留条件与冲突，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282168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不做盲目投票</a:t>
              </a:r>
            </a:p>
          </p:txBody>
        </p:sp>
      </p:grpSp>
      <p:grpSp>
        <p:nvGrpSpPr>
          <p:cNvPr id="40" name="fusion-flow"/>
          <p:cNvGrpSpPr/>
          <p:nvPr/>
        </p:nvGrpSpPr>
        <p:grpSpPr>
          <a:xfrm>
            <a:off x="609600" y="1676400"/>
            <a:ext cx="6667500" cy="4191000"/>
            <a:chOff x="609600" y="1676400"/>
            <a:chExt cx="66675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66675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2984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FUSION / FIVE OPERATIONS</a:t>
              </a:r>
            </a:p>
          </p:txBody>
        </p:sp>
        <p:grpSp>
          <p:nvGrpSpPr>
            <p:cNvPr id="12" name="fusion-step-1"/>
            <p:cNvGrpSpPr/>
            <p:nvPr/>
          </p:nvGrpSpPr>
          <p:grpSpPr>
            <a:xfrm>
              <a:off x="914400" y="2266950"/>
              <a:ext cx="1181100" cy="857250"/>
              <a:chOff x="914400" y="2266950"/>
              <a:chExt cx="1181100" cy="85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266950"/>
                <a:ext cx="1181100" cy="8572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25486" y="24447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归一化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1931" y="2730500"/>
                <a:ext cx="9460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DOI / arXiv ID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2095500" y="2695575"/>
              <a:ext cx="152400" cy="1"/>
            </a:xfrm>
            <a:prstGeom prst="line">
              <a:avLst/>
            </a:prstGeom>
            <a:noFill/>
            <a:ln w="1524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7" name="fusion-step-2"/>
            <p:cNvGrpSpPr/>
            <p:nvPr/>
          </p:nvGrpSpPr>
          <p:grpSpPr>
            <a:xfrm>
              <a:off x="2286000" y="2266950"/>
              <a:ext cx="1181100" cy="857250"/>
              <a:chOff x="2286000" y="2266950"/>
              <a:chExt cx="1181100" cy="8572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286000" y="2266950"/>
                <a:ext cx="1181100" cy="8572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687955" y="24447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去重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397690" y="2730500"/>
                <a:ext cx="9577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title + author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3467100" y="2695575"/>
              <a:ext cx="152400" cy="1"/>
            </a:xfrm>
            <a:prstGeom prst="line">
              <a:avLst/>
            </a:prstGeom>
            <a:noFill/>
            <a:ln w="1524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2" name="fusion-step-3"/>
            <p:cNvGrpSpPr/>
            <p:nvPr/>
          </p:nvGrpSpPr>
          <p:grpSpPr>
            <a:xfrm>
              <a:off x="3657600" y="2266950"/>
              <a:ext cx="1181100" cy="857250"/>
              <a:chOff x="3657600" y="2266950"/>
              <a:chExt cx="1181100" cy="857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657600" y="2266950"/>
                <a:ext cx="1181100" cy="8572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059555" y="24447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聚类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58689" y="2730500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method / task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4838700" y="2695575"/>
              <a:ext cx="152400" cy="1"/>
            </a:xfrm>
            <a:prstGeom prst="line">
              <a:avLst/>
            </a:prstGeom>
            <a:noFill/>
            <a:ln w="1524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7" name="fusion-step-4"/>
            <p:cNvGrpSpPr/>
            <p:nvPr/>
          </p:nvGrpSpPr>
          <p:grpSpPr>
            <a:xfrm>
              <a:off x="5029200" y="2266950"/>
              <a:ext cx="1181100" cy="857250"/>
              <a:chOff x="5029200" y="2266950"/>
              <a:chExt cx="1181100" cy="857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029200" y="2266950"/>
                <a:ext cx="11811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3E3"/>
              </a:solidFill>
              <a:ln w="11430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431155" y="24447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冲突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084350" y="2730500"/>
                <a:ext cx="107080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keep conditions</a:t>
                </a: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6210300" y="2695575"/>
              <a:ext cx="152400" cy="1"/>
            </a:xfrm>
            <a:prstGeom prst="line">
              <a:avLst/>
            </a:prstGeom>
            <a:noFill/>
            <a:ln w="1524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2" name="fusion-step-5"/>
            <p:cNvGrpSpPr/>
            <p:nvPr/>
          </p:nvGrpSpPr>
          <p:grpSpPr>
            <a:xfrm>
              <a:off x="6387913" y="2266950"/>
              <a:ext cx="597275" cy="857250"/>
              <a:chOff x="6387913" y="2266950"/>
              <a:chExt cx="597275" cy="857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400800" y="2266950"/>
                <a:ext cx="57150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497955" y="24828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7F9F6"/>
                    </a:solidFill>
                    <a:latin typeface="+mn-lt"/>
                    <a:ea typeface="+mn-ea"/>
                    <a:cs typeface="+mn-cs"/>
                  </a:rPr>
                  <a:t>写作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87913" y="2749550"/>
                <a:ext cx="5972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FE0D4"/>
                    </a:solidFill>
                    <a:latin typeface="+mn-lt"/>
                    <a:ea typeface="+mn-ea"/>
                    <a:cs typeface="+mn-cs"/>
                  </a:rPr>
                  <a:t>evidence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914400" y="352425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5256" y="3670300"/>
              <a:ext cx="193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证据质量分 Q(e)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7542" y="4044950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0.30 × 相关性 + 0.25 × 可信度 +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4292600"/>
              <a:ext cx="2712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0.25 × 可验证性 + 0.20 × 时效性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4400" y="4781550"/>
              <a:ext cx="6057900" cy="666750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6142" y="4883150"/>
              <a:ext cx="2037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声明支持度 Support(c)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6904" y="5143500"/>
              <a:ext cx="3613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Σ 权重 × entailment / Σ 权重；阈值在验证集校准</a:t>
              </a:r>
            </a:p>
          </p:txBody>
        </p:sp>
      </p:grpSp>
      <p:grpSp>
        <p:nvGrpSpPr>
          <p:cNvPr id="51" name="conflict-panel"/>
          <p:cNvGrpSpPr/>
          <p:nvPr/>
        </p:nvGrpSpPr>
        <p:grpSpPr>
          <a:xfrm>
            <a:off x="7581900" y="1676400"/>
            <a:ext cx="4000500" cy="2667000"/>
            <a:chOff x="7581900" y="1676400"/>
            <a:chExt cx="4000500" cy="2667000"/>
          </a:xfrm>
        </p:grpSpPr>
        <p:sp>
          <p:nvSpPr>
            <p:cNvPr id="41" name="Rectangle 41"/>
            <p:cNvSpPr/>
            <p:nvPr/>
          </p:nvSpPr>
          <p:spPr>
            <a:xfrm>
              <a:off x="7581900" y="1676400"/>
              <a:ext cx="4000500" cy="2667000"/>
            </a:xfrm>
            <a:prstGeom prst="roundRect">
              <a:avLst>
                <a:gd name="adj" fmla="val 4286"/>
              </a:avLst>
            </a:prstGeom>
            <a:solidFill>
              <a:srgbClr val="FFF3E3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79842" y="1835150"/>
              <a:ext cx="2374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CONFLICT IS A SIGNAL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75270" y="21209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冲突不是噪声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86700" y="2686050"/>
              <a:ext cx="3390900" cy="51435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51292" y="2749550"/>
              <a:ext cx="1623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Paper A · setup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52816" y="299720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↑ 结果更高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86700" y="3314700"/>
              <a:ext cx="3390900" cy="51435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51292" y="3378200"/>
              <a:ext cx="1623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Paper B · setup 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52816" y="362585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↓ 结果较低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79842" y="3968750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→ 保留条件、证据与分歧，交给人判断</a:t>
              </a:r>
            </a:p>
          </p:txBody>
        </p:sp>
      </p:grpSp>
      <p:grpSp>
        <p:nvGrpSpPr>
          <p:cNvPr id="61" name="threshold-panel"/>
          <p:cNvGrpSpPr/>
          <p:nvPr/>
        </p:nvGrpSpPr>
        <p:grpSpPr>
          <a:xfrm>
            <a:off x="7581900" y="4572000"/>
            <a:ext cx="4000500" cy="1295400"/>
            <a:chOff x="7581900" y="4572000"/>
            <a:chExt cx="4000500" cy="1295400"/>
          </a:xfrm>
        </p:grpSpPr>
        <p:sp>
          <p:nvSpPr>
            <p:cNvPr id="52" name="Rectangle 52"/>
            <p:cNvSpPr/>
            <p:nvPr/>
          </p:nvSpPr>
          <p:spPr>
            <a:xfrm>
              <a:off x="7581900" y="4572000"/>
              <a:ext cx="4000500" cy="1295400"/>
            </a:xfrm>
            <a:prstGeom prst="roundRect">
              <a:avLst>
                <a:gd name="adj" fmla="val 882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79842" y="4673600"/>
              <a:ext cx="2780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VERIFICATION THRESHOLD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86700" y="5010150"/>
              <a:ext cx="1009650" cy="266700"/>
            </a:xfrm>
            <a:prstGeom prst="roundRect">
              <a:avLst>
                <a:gd name="adj" fmla="val 14286"/>
              </a:avLst>
            </a:prstGeom>
            <a:solidFill>
              <a:srgbClr val="DCEFE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03489" y="50736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自动通过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991600" y="5010150"/>
              <a:ext cx="1009650" cy="266700"/>
            </a:xfrm>
            <a:prstGeom prst="roundRect">
              <a:avLst>
                <a:gd name="adj" fmla="val 14286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08389" y="50736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人工复核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096500" y="5010150"/>
              <a:ext cx="1009650" cy="266700"/>
            </a:xfrm>
            <a:prstGeom prst="roundRect">
              <a:avLst>
                <a:gd name="adj" fmla="val 14286"/>
              </a:avLst>
            </a:prstGeom>
            <a:solidFill>
              <a:srgbClr val="F1D5D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313289" y="50736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1E1E"/>
                  </a:solidFill>
                  <a:latin typeface="+mn-lt"/>
                  <a:ea typeface="+mn-ea"/>
                  <a:cs typeface="+mn-cs"/>
                </a:rPr>
                <a:t>拒绝写入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79842" y="5397500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≥0.75 · 0.50—0.75 · &lt;0.50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2" name="TextBox 62"/>
            <p:cNvSpPr txBox="1"/>
            <p:nvPr/>
          </p:nvSpPr>
          <p:spPr>
            <a:xfrm>
              <a:off x="604266" y="6502400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结果融合 · 证据质量、冲突保留与校验门槛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7290071" cy="1297051"/>
            <a:chOff x="592074" y="387350"/>
            <a:chExt cx="7290071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2512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系统设计与 Web 原型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分层架构把研究流程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729007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封装成可操作、可恢复的 Web 原型</a:t>
              </a:r>
            </a:p>
          </p:txBody>
        </p:sp>
      </p:grpSp>
      <p:grpSp>
        <p:nvGrpSpPr>
          <p:cNvPr id="59" name="system-layers"/>
          <p:cNvGrpSpPr/>
          <p:nvPr/>
        </p:nvGrpSpPr>
        <p:grpSpPr>
          <a:xfrm>
            <a:off x="609600" y="1676400"/>
            <a:ext cx="6879336" cy="4191000"/>
            <a:chOff x="609600" y="1676400"/>
            <a:chExt cx="6879336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68580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1701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SYSTEM LAYERS</a:t>
              </a:r>
            </a:p>
          </p:txBody>
        </p:sp>
        <p:grpSp>
          <p:nvGrpSpPr>
            <p:cNvPr id="18" name="layer-presentation"/>
            <p:cNvGrpSpPr/>
            <p:nvPr/>
          </p:nvGrpSpPr>
          <p:grpSpPr>
            <a:xfrm>
              <a:off x="914400" y="2190750"/>
              <a:ext cx="6248400" cy="666750"/>
              <a:chOff x="914400" y="2190750"/>
              <a:chExt cx="6248400" cy="666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190750"/>
                <a:ext cx="62484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158875" y="2397125"/>
                <a:ext cx="215901" cy="215901"/>
                <a:chOff x="1158875" y="2397125"/>
                <a:chExt cx="215901" cy="21590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58875" y="2397125"/>
                  <a:ext cx="80963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107950">
                      <a:moveTo>
                        <a:pt x="13494" y="0"/>
                      </a:move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94456"/>
                      </a:lnTo>
                      <a:cubicBezTo>
                        <a:pt x="80963" y="101909"/>
                        <a:pt x="74921" y="107950"/>
                        <a:pt x="67469" y="107950"/>
                      </a:cubicBezTo>
                      <a:lnTo>
                        <a:pt x="13494" y="107950"/>
                      </a:lnTo>
                      <a:cubicBezTo>
                        <a:pt x="6041" y="107950"/>
                        <a:pt x="0" y="101909"/>
                        <a:pt x="0" y="94456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58875" y="2559051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13494" y="0"/>
                      </a:move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40481"/>
                      </a:lnTo>
                      <a:cubicBezTo>
                        <a:pt x="80963" y="47934"/>
                        <a:pt x="74921" y="53975"/>
                        <a:pt x="67469" y="53975"/>
                      </a:cubicBezTo>
                      <a:lnTo>
                        <a:pt x="13494" y="53975"/>
                      </a:lnTo>
                      <a:cubicBezTo>
                        <a:pt x="6041" y="53975"/>
                        <a:pt x="0" y="47934"/>
                        <a:pt x="0" y="40481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93813" y="2505075"/>
                  <a:ext cx="80963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107950">
                      <a:moveTo>
                        <a:pt x="13494" y="0"/>
                      </a:move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94456"/>
                      </a:lnTo>
                      <a:cubicBezTo>
                        <a:pt x="80963" y="101909"/>
                        <a:pt x="74921" y="107950"/>
                        <a:pt x="67469" y="107950"/>
                      </a:cubicBezTo>
                      <a:lnTo>
                        <a:pt x="13494" y="107950"/>
                      </a:lnTo>
                      <a:cubicBezTo>
                        <a:pt x="6041" y="107950"/>
                        <a:pt x="0" y="101909"/>
                        <a:pt x="0" y="94456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93813" y="2397125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13494" y="0"/>
                      </a:move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40481"/>
                      </a:lnTo>
                      <a:cubicBezTo>
                        <a:pt x="80963" y="47934"/>
                        <a:pt x="74921" y="53975"/>
                        <a:pt x="67469" y="53975"/>
                      </a:cubicBezTo>
                      <a:lnTo>
                        <a:pt x="13494" y="53975"/>
                      </a:lnTo>
                      <a:cubicBezTo>
                        <a:pt x="6041" y="53975"/>
                        <a:pt x="0" y="47934"/>
                        <a:pt x="0" y="40481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591056" y="224155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表现层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583942" y="2292350"/>
                <a:ext cx="28215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主题配置 · 进度 · 报告 · 证据面板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94866" y="2559050"/>
                <a:ext cx="17628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React + TypeScript · Vite</a:t>
                </a:r>
              </a:p>
            </p:txBody>
          </p:sp>
        </p:grpSp>
        <p:grpSp>
          <p:nvGrpSpPr>
            <p:cNvPr id="32" name="layer-api"/>
            <p:cNvGrpSpPr/>
            <p:nvPr/>
          </p:nvGrpSpPr>
          <p:grpSpPr>
            <a:xfrm>
              <a:off x="914400" y="2990850"/>
              <a:ext cx="6248400" cy="666750"/>
              <a:chOff x="914400" y="2990850"/>
              <a:chExt cx="6248400" cy="666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14400" y="2990850"/>
                <a:ext cx="62484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1145381" y="3183731"/>
                <a:ext cx="242888" cy="256382"/>
                <a:chOff x="1145381" y="3183731"/>
                <a:chExt cx="242888" cy="256382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185863" y="318373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3"/>
                      </a:moveTo>
                      <a:cubicBezTo>
                        <a:pt x="0" y="125677"/>
                        <a:pt x="36248" y="161925"/>
                        <a:pt x="80963" y="161925"/>
                      </a:cubicBezTo>
                      <a:cubicBezTo>
                        <a:pt x="125677" y="161925"/>
                        <a:pt x="161925" y="125677"/>
                        <a:pt x="161925" y="80963"/>
                      </a:cubicBezTo>
                      <a:cubicBezTo>
                        <a:pt x="161925" y="36248"/>
                        <a:pt x="125677" y="0"/>
                        <a:pt x="80963" y="0"/>
                      </a:cubicBezTo>
                      <a:cubicBezTo>
                        <a:pt x="36248" y="0"/>
                        <a:pt x="0" y="36248"/>
                        <a:pt x="0" y="80963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66825" y="31837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0" y="0"/>
                      </a:moveTo>
                      <a:cubicBezTo>
                        <a:pt x="17987" y="4493"/>
                        <a:pt x="26988" y="31481"/>
                        <a:pt x="26988" y="80963"/>
                      </a:cubicBezTo>
                      <a:cubicBezTo>
                        <a:pt x="26988" y="130444"/>
                        <a:pt x="17987" y="157432"/>
                        <a:pt x="0" y="161925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239838" y="31837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26988" y="0"/>
                      </a:moveTo>
                      <a:cubicBezTo>
                        <a:pt x="9000" y="4493"/>
                        <a:pt x="0" y="31481"/>
                        <a:pt x="0" y="80963"/>
                      </a:cubicBezTo>
                      <a:cubicBezTo>
                        <a:pt x="0" y="130444"/>
                        <a:pt x="9000" y="157432"/>
                        <a:pt x="26988" y="161925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185863" y="3264694"/>
                  <a:ext cx="161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9525">
                      <a:moveTo>
                        <a:pt x="0" y="0"/>
                      </a:moveTo>
                      <a:lnTo>
                        <a:pt x="161925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45381" y="341312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93813" y="341312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239838" y="33861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266825" y="3345657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591056" y="30416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应用与编排层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117342" y="3092450"/>
                <a:ext cx="26662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FastAPI · SSE · Celery / Redis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594866" y="3359150"/>
                <a:ext cx="23816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REST / SSE · 任务状态机 · DAG 调度</a:t>
                </a:r>
              </a:p>
            </p:txBody>
          </p:sp>
        </p:grpSp>
        <p:grpSp>
          <p:nvGrpSpPr>
            <p:cNvPr id="47" name="layer-agents"/>
            <p:cNvGrpSpPr/>
            <p:nvPr/>
          </p:nvGrpSpPr>
          <p:grpSpPr>
            <a:xfrm>
              <a:off x="914400" y="3790950"/>
              <a:ext cx="6248400" cy="666750"/>
              <a:chOff x="914400" y="3790950"/>
              <a:chExt cx="6248400" cy="6667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914400" y="3790950"/>
                <a:ext cx="62484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172369" y="3970338"/>
                <a:ext cx="188913" cy="256381"/>
                <a:chOff x="1172369" y="3970338"/>
                <a:chExt cx="188913" cy="256381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1185863" y="3997325"/>
                  <a:ext cx="161925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07950">
                      <a:moveTo>
                        <a:pt x="0" y="26988"/>
                      </a:move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134938" y="0"/>
                      </a:lnTo>
                      <a:cubicBezTo>
                        <a:pt x="149843" y="0"/>
                        <a:pt x="161925" y="12083"/>
                        <a:pt x="161925" y="26988"/>
                      </a:cubicBezTo>
                      <a:lnTo>
                        <a:pt x="161925" y="80963"/>
                      </a:lnTo>
                      <a:cubicBezTo>
                        <a:pt x="161925" y="95868"/>
                        <a:pt x="149843" y="107950"/>
                        <a:pt x="134938" y="107950"/>
                      </a:cubicBezTo>
                      <a:lnTo>
                        <a:pt x="26988" y="107950"/>
                      </a:lnTo>
                      <a:cubicBezTo>
                        <a:pt x="12083" y="107950"/>
                        <a:pt x="0" y="95868"/>
                        <a:pt x="0" y="80963"/>
                      </a:cubicBezTo>
                      <a:lnTo>
                        <a:pt x="0" y="26988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266825" y="3970338"/>
                  <a:ext cx="9525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988">
                      <a:moveTo>
                        <a:pt x="0" y="0"/>
                      </a:moveTo>
                      <a:lnTo>
                        <a:pt x="0" y="26988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226344" y="4105275"/>
                  <a:ext cx="9525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1444">
                      <a:moveTo>
                        <a:pt x="0" y="0"/>
                      </a:moveTo>
                      <a:lnTo>
                        <a:pt x="0" y="121444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307307" y="4105275"/>
                  <a:ext cx="9525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1444">
                      <a:moveTo>
                        <a:pt x="0" y="0"/>
                      </a:moveTo>
                      <a:lnTo>
                        <a:pt x="0" y="121444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72369" y="4132263"/>
                  <a:ext cx="53975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26988">
                      <a:moveTo>
                        <a:pt x="0" y="26988"/>
                      </a:moveTo>
                      <a:lnTo>
                        <a:pt x="53975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307307" y="4132263"/>
                  <a:ext cx="53975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26988">
                      <a:moveTo>
                        <a:pt x="0" y="0"/>
                      </a:moveTo>
                      <a:lnTo>
                        <a:pt x="53975" y="26988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226344" y="4186238"/>
                  <a:ext cx="809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9525">
                      <a:moveTo>
                        <a:pt x="0" y="0"/>
                      </a:move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239838" y="4051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35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93813" y="4051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35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591056" y="384175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智能体与证据层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117342" y="3892550"/>
                <a:ext cx="32851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CrewAI · Hybrid RAG · evidence store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594866" y="4159250"/>
                <a:ext cx="42954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Plan / Retrieval / Analysis / Comparison / Draft / Verification</a:t>
                </a:r>
              </a:p>
            </p:txBody>
          </p:sp>
        </p:grpSp>
        <p:grpSp>
          <p:nvGrpSpPr>
            <p:cNvPr id="56" name="layer-data"/>
            <p:cNvGrpSpPr/>
            <p:nvPr/>
          </p:nvGrpSpPr>
          <p:grpSpPr>
            <a:xfrm>
              <a:off x="914400" y="4591050"/>
              <a:ext cx="6248400" cy="666750"/>
              <a:chOff x="914400" y="4591050"/>
              <a:chExt cx="6248400" cy="6667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914400" y="4591050"/>
                <a:ext cx="62484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1158875" y="4783931"/>
                <a:ext cx="215901" cy="242888"/>
                <a:chOff x="1158875" y="4783931"/>
                <a:chExt cx="215901" cy="242888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1158875" y="4783931"/>
                  <a:ext cx="215901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80963">
                      <a:moveTo>
                        <a:pt x="0" y="40481"/>
                      </a:moveTo>
                      <a:cubicBezTo>
                        <a:pt x="0" y="62839"/>
                        <a:pt x="48331" y="80963"/>
                        <a:pt x="107950" y="80963"/>
                      </a:cubicBezTo>
                      <a:cubicBezTo>
                        <a:pt x="167570" y="80963"/>
                        <a:pt x="215901" y="62839"/>
                        <a:pt x="215901" y="40481"/>
                      </a:cubicBezTo>
                      <a:cubicBezTo>
                        <a:pt x="215901" y="18124"/>
                        <a:pt x="167570" y="0"/>
                        <a:pt x="107950" y="0"/>
                      </a:cubicBezTo>
                      <a:cubicBezTo>
                        <a:pt x="48331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158875" y="482441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158875" y="4905375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591056" y="46418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数据与存储层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117342" y="4692650"/>
                <a:ext cx="27959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PostgreSQL + pgvector · MinIO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594866" y="4959350"/>
                <a:ext cx="40603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papers / chunks / evidence / claims / citations / artifacts</a:t>
                </a:r>
              </a:p>
            </p:txBody>
          </p:sp>
        </p:grpSp>
        <p:sp>
          <p:nvSpPr>
            <p:cNvPr id="57" name="Freeform 57"/>
            <p:cNvSpPr/>
            <p:nvPr/>
          </p:nvSpPr>
          <p:spPr>
            <a:xfrm>
              <a:off x="7086600" y="2524125"/>
              <a:ext cx="9525" cy="2695575"/>
            </a:xfrm>
            <a:custGeom>
              <a:avLst/>
              <a:gdLst/>
              <a:ahLst/>
              <a:cxnLst/>
              <a:rect l="l" t="t" r="r" b="b"/>
              <a:pathLst>
                <a:path w="9525" h="2695575">
                  <a:moveTo>
                    <a:pt x="0" y="0"/>
                  </a:moveTo>
                  <a:lnTo>
                    <a:pt x="0" y="2695575"/>
                  </a:lnTo>
                </a:path>
              </a:pathLst>
            </a:custGeom>
            <a:solidFill>
              <a:schemeClr val="dk1"/>
            </a:solidFill>
            <a:ln w="13335">
              <a:solidFill>
                <a:schemeClr val="accent3"/>
              </a:solidFill>
              <a:custDash>
                <a:ds d="285714" sp="428571"/>
              </a:custDash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95566" y="37401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</p:grpSp>
      <p:grpSp>
        <p:nvGrpSpPr>
          <p:cNvPr id="88" name="web-views"/>
          <p:cNvGrpSpPr/>
          <p:nvPr/>
        </p:nvGrpSpPr>
        <p:grpSpPr>
          <a:xfrm>
            <a:off x="7772400" y="1676400"/>
            <a:ext cx="3810000" cy="4191000"/>
            <a:chOff x="7772400" y="1676400"/>
            <a:chExt cx="3810000" cy="4191000"/>
          </a:xfrm>
        </p:grpSpPr>
        <p:sp>
          <p:nvSpPr>
            <p:cNvPr id="60" name="Rectangle 60"/>
            <p:cNvSpPr/>
            <p:nvPr/>
          </p:nvSpPr>
          <p:spPr>
            <a:xfrm>
              <a:off x="7772400" y="1676400"/>
              <a:ext cx="3810000" cy="4191000"/>
            </a:xfrm>
            <a:prstGeom prst="roundRect">
              <a:avLst>
                <a:gd name="adj" fmla="val 3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70342" y="1835150"/>
              <a:ext cx="1781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WEB PROTOTYPE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68056" y="21844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四个视图串起一条工作流</a:t>
              </a:r>
            </a:p>
          </p:txBody>
        </p:sp>
        <p:grpSp>
          <p:nvGrpSpPr>
            <p:cNvPr id="68" name="view-topic"/>
            <p:cNvGrpSpPr/>
            <p:nvPr/>
          </p:nvGrpSpPr>
          <p:grpSpPr>
            <a:xfrm>
              <a:off x="8077200" y="2667000"/>
              <a:ext cx="1472298" cy="1181100"/>
              <a:chOff x="8077200" y="2667000"/>
              <a:chExt cx="1472298" cy="11811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8077200" y="2667000"/>
                <a:ext cx="1447800" cy="1181100"/>
              </a:xfrm>
              <a:prstGeom prst="roundRect">
                <a:avLst>
                  <a:gd name="adj" fmla="val 645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224266" y="2806700"/>
                <a:ext cx="7555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01 / INPUT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220456" y="30226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主题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224266" y="3359150"/>
                <a:ext cx="13252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数据源 · 年份 · 篇幅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224266" y="3568700"/>
                <a:ext cx="10213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引用格式 · 语言</a:t>
                </a:r>
              </a:p>
            </p:txBody>
          </p:sp>
        </p:grpSp>
        <p:grpSp>
          <p:nvGrpSpPr>
            <p:cNvPr id="75" name="view-progress"/>
            <p:cNvGrpSpPr/>
            <p:nvPr/>
          </p:nvGrpSpPr>
          <p:grpSpPr>
            <a:xfrm>
              <a:off x="9677400" y="2667000"/>
              <a:ext cx="1600200" cy="1181100"/>
              <a:chOff x="9677400" y="2667000"/>
              <a:chExt cx="1600200" cy="11811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9677400" y="2667000"/>
                <a:ext cx="1600200" cy="1181100"/>
              </a:xfrm>
              <a:prstGeom prst="roundRect">
                <a:avLst>
                  <a:gd name="adj" fmla="val 645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824466" y="2806700"/>
                <a:ext cx="6222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02 / RUN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820656" y="30226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进度</a:t>
                </a:r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9829800" y="3486150"/>
                <a:ext cx="121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9525">
                    <a:moveTo>
                      <a:pt x="0" y="0"/>
                    </a:moveTo>
                    <a:lnTo>
                      <a:pt x="1219200" y="0"/>
                    </a:lnTo>
                  </a:path>
                </a:pathLst>
              </a:custGeom>
              <a:solidFill>
                <a:schemeClr val="dk1"/>
              </a:solidFill>
              <a:ln w="57150" cap="rnd">
                <a:solidFill>
                  <a:schemeClr val="accent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829800" y="3486150"/>
                <a:ext cx="781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9525">
                    <a:moveTo>
                      <a:pt x="0" y="0"/>
                    </a:moveTo>
                    <a:lnTo>
                      <a:pt x="781050" y="0"/>
                    </a:lnTo>
                  </a:path>
                </a:pathLst>
              </a:custGeom>
              <a:solidFill>
                <a:schemeClr val="dk1"/>
              </a:solidFill>
              <a:ln w="57150" cap="rnd">
                <a:solidFill>
                  <a:schemeClr val="accent2"/>
                </a:solidFill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824466" y="3587750"/>
                <a:ext cx="11838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阶段 · 日志 · 成本</a:t>
                </a:r>
              </a:p>
            </p:txBody>
          </p:sp>
        </p:grpSp>
        <p:grpSp>
          <p:nvGrpSpPr>
            <p:cNvPr id="81" name="view-report"/>
            <p:cNvGrpSpPr/>
            <p:nvPr/>
          </p:nvGrpSpPr>
          <p:grpSpPr>
            <a:xfrm>
              <a:off x="8077200" y="4000500"/>
              <a:ext cx="1447800" cy="1181100"/>
              <a:chOff x="8077200" y="4000500"/>
              <a:chExt cx="1447800" cy="11811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077200" y="4000500"/>
                <a:ext cx="1447800" cy="1181100"/>
              </a:xfrm>
              <a:prstGeom prst="roundRect">
                <a:avLst>
                  <a:gd name="adj" fmla="val 645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224266" y="4140200"/>
                <a:ext cx="7869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 / WRITE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220456" y="43561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报告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224266" y="4692650"/>
                <a:ext cx="879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章节树 · 正文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224266" y="49022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版本 · 导出</a:t>
                </a:r>
              </a:p>
            </p:txBody>
          </p:sp>
        </p:grpSp>
        <p:grpSp>
          <p:nvGrpSpPr>
            <p:cNvPr id="87" name="view-evidence"/>
            <p:cNvGrpSpPr/>
            <p:nvPr/>
          </p:nvGrpSpPr>
          <p:grpSpPr>
            <a:xfrm>
              <a:off x="9677400" y="4000500"/>
              <a:ext cx="1600200" cy="1181100"/>
              <a:chOff x="9677400" y="4000500"/>
              <a:chExt cx="1600200" cy="118110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9677400" y="4000500"/>
                <a:ext cx="1600200" cy="1181100"/>
              </a:xfrm>
              <a:prstGeom prst="roundRect">
                <a:avLst>
                  <a:gd name="adj" fmla="val 6452"/>
                </a:avLst>
              </a:prstGeom>
              <a:solidFill>
                <a:srgbClr val="FFF3E3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9824466" y="4140200"/>
                <a:ext cx="841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04 / VERIFY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9820656" y="43561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9824466" y="4692650"/>
                <a:ext cx="13252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原文 · 定位 · 支持度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824466" y="4902200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点击引用即可回看</a:t>
                </a:r>
              </a:p>
            </p:txBody>
          </p:sp>
        </p:grpSp>
      </p:grpSp>
      <p:grpSp>
        <p:nvGrpSpPr>
          <p:cNvPr id="91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89" name="TextBox 89"/>
            <p:cNvSpPr txBox="1"/>
            <p:nvPr/>
          </p:nvSpPr>
          <p:spPr>
            <a:xfrm>
              <a:off x="604266" y="650240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系统设计 · 四层架构与四个核心视图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044027" cy="1297051"/>
            <a:chOff x="592074" y="387350"/>
            <a:chExt cx="5044027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53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需求与验收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504402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需求收敛为 12 项功能、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23619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项非功能指标</a:t>
              </a:r>
            </a:p>
          </p:txBody>
        </p:sp>
      </p:grpSp>
      <p:grpSp>
        <p:nvGrpSpPr>
          <p:cNvPr id="40" name="functional-requirements"/>
          <p:cNvGrpSpPr/>
          <p:nvPr/>
        </p:nvGrpSpPr>
        <p:grpSpPr>
          <a:xfrm>
            <a:off x="609600" y="1676400"/>
            <a:ext cx="6667500" cy="4191000"/>
            <a:chOff x="609600" y="1676400"/>
            <a:chExt cx="66675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66675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2597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FUNCTIONAL / 12 ITEMS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5256" y="2146300"/>
              <a:ext cx="2494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P0：主流程必须先成立</a:t>
              </a:r>
            </a:p>
          </p:txBody>
        </p:sp>
        <p:grpSp>
          <p:nvGrpSpPr>
            <p:cNvPr id="12" name="fr-1"/>
            <p:cNvGrpSpPr/>
            <p:nvPr/>
          </p:nvGrpSpPr>
          <p:grpSpPr>
            <a:xfrm>
              <a:off x="914400" y="2552700"/>
              <a:ext cx="1714500" cy="552450"/>
              <a:chOff x="914400" y="2552700"/>
              <a:chExt cx="1714500" cy="5524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25527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401318" y="27114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主题输入</a:t>
                </a:r>
              </a:p>
            </p:txBody>
          </p:sp>
        </p:grpSp>
        <p:grpSp>
          <p:nvGrpSpPr>
            <p:cNvPr id="15" name="fr-2"/>
            <p:cNvGrpSpPr/>
            <p:nvPr/>
          </p:nvGrpSpPr>
          <p:grpSpPr>
            <a:xfrm>
              <a:off x="2914650" y="2552700"/>
              <a:ext cx="1714500" cy="552450"/>
              <a:chOff x="2914650" y="2552700"/>
              <a:chExt cx="1714500" cy="5524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2914650" y="25527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401568" y="27114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检索接入</a:t>
                </a:r>
              </a:p>
            </p:txBody>
          </p:sp>
        </p:grpSp>
        <p:grpSp>
          <p:nvGrpSpPr>
            <p:cNvPr id="18" name="fr-3"/>
            <p:cNvGrpSpPr/>
            <p:nvPr/>
          </p:nvGrpSpPr>
          <p:grpSpPr>
            <a:xfrm>
              <a:off x="4914900" y="2552700"/>
              <a:ext cx="1714500" cy="552450"/>
              <a:chOff x="4914900" y="2552700"/>
              <a:chExt cx="1714500" cy="5524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914900" y="25527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401818" y="27114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去重筛选</a:t>
                </a:r>
              </a:p>
            </p:txBody>
          </p:sp>
        </p:grpSp>
        <p:grpSp>
          <p:nvGrpSpPr>
            <p:cNvPr id="21" name="fr-4"/>
            <p:cNvGrpSpPr/>
            <p:nvPr/>
          </p:nvGrpSpPr>
          <p:grpSpPr>
            <a:xfrm>
              <a:off x="914400" y="3276600"/>
              <a:ext cx="1714500" cy="552450"/>
              <a:chOff x="914400" y="3276600"/>
              <a:chExt cx="1714500" cy="5524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14400" y="32766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401318" y="34353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章节切分</a:t>
                </a:r>
              </a:p>
            </p:txBody>
          </p:sp>
        </p:grpSp>
        <p:grpSp>
          <p:nvGrpSpPr>
            <p:cNvPr id="24" name="fr-5"/>
            <p:cNvGrpSpPr/>
            <p:nvPr/>
          </p:nvGrpSpPr>
          <p:grpSpPr>
            <a:xfrm>
              <a:off x="2914650" y="3276600"/>
              <a:ext cx="1714500" cy="552450"/>
              <a:chOff x="2914650" y="3276600"/>
              <a:chExt cx="1714500" cy="5524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2914650" y="32766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401568" y="34353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混合检索</a:t>
                </a:r>
              </a:p>
            </p:txBody>
          </p:sp>
        </p:grpSp>
        <p:grpSp>
          <p:nvGrpSpPr>
            <p:cNvPr id="27" name="fr-6"/>
            <p:cNvGrpSpPr/>
            <p:nvPr/>
          </p:nvGrpSpPr>
          <p:grpSpPr>
            <a:xfrm>
              <a:off x="4914900" y="3276600"/>
              <a:ext cx="1714500" cy="552450"/>
              <a:chOff x="4914900" y="3276600"/>
              <a:chExt cx="1714500" cy="5524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914900" y="32766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401818" y="34353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内容分析</a:t>
                </a:r>
              </a:p>
            </p:txBody>
          </p:sp>
        </p:grpSp>
        <p:grpSp>
          <p:nvGrpSpPr>
            <p:cNvPr id="30" name="fr-7"/>
            <p:cNvGrpSpPr/>
            <p:nvPr/>
          </p:nvGrpSpPr>
          <p:grpSpPr>
            <a:xfrm>
              <a:off x="914400" y="4000500"/>
              <a:ext cx="1714500" cy="552450"/>
              <a:chOff x="914400" y="4000500"/>
              <a:chExt cx="1714500" cy="5524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14400" y="40005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401318" y="41592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对比融合</a:t>
                </a:r>
              </a:p>
            </p:txBody>
          </p:sp>
        </p:grpSp>
        <p:grpSp>
          <p:nvGrpSpPr>
            <p:cNvPr id="33" name="fr-8"/>
            <p:cNvGrpSpPr/>
            <p:nvPr/>
          </p:nvGrpSpPr>
          <p:grpSpPr>
            <a:xfrm>
              <a:off x="2914650" y="4000500"/>
              <a:ext cx="1714500" cy="552450"/>
              <a:chOff x="2914650" y="4000500"/>
              <a:chExt cx="1714500" cy="5524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2914650" y="40005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310700" y="4159250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结构化写作</a:t>
                </a:r>
              </a:p>
            </p:txBody>
          </p:sp>
        </p:grpSp>
        <p:grpSp>
          <p:nvGrpSpPr>
            <p:cNvPr id="36" name="fr-9"/>
            <p:cNvGrpSpPr/>
            <p:nvPr/>
          </p:nvGrpSpPr>
          <p:grpSpPr>
            <a:xfrm>
              <a:off x="4914900" y="4000500"/>
              <a:ext cx="1714500" cy="552450"/>
              <a:chOff x="4914900" y="4000500"/>
              <a:chExt cx="1714500" cy="5524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914900" y="40005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3E3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401818" y="41592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引用校验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07542" y="4711700"/>
              <a:ext cx="1144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P1：增强体验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14400" y="5029200"/>
              <a:ext cx="5715000" cy="533400"/>
            </a:xfrm>
            <a:prstGeom prst="roundRect">
              <a:avLst>
                <a:gd name="adj" fmla="val 10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17092" y="5187950"/>
              <a:ext cx="3730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证据查看 · 报告编辑 · 多格式导出 · 任务监控</a:t>
              </a:r>
            </a:p>
          </p:txBody>
        </p:sp>
      </p:grpSp>
      <p:grpSp>
        <p:nvGrpSpPr>
          <p:cNvPr id="62" name="nonfunctional-requirements"/>
          <p:cNvGrpSpPr/>
          <p:nvPr/>
        </p:nvGrpSpPr>
        <p:grpSpPr>
          <a:xfrm>
            <a:off x="7581900" y="1676400"/>
            <a:ext cx="4000500" cy="4191000"/>
            <a:chOff x="7581900" y="1676400"/>
            <a:chExt cx="4000500" cy="4191000"/>
          </a:xfrm>
        </p:grpSpPr>
        <p:sp>
          <p:nvSpPr>
            <p:cNvPr id="41" name="Rectangle 41"/>
            <p:cNvSpPr/>
            <p:nvPr/>
          </p:nvSpPr>
          <p:spPr>
            <a:xfrm>
              <a:off x="7581900" y="1676400"/>
              <a:ext cx="4000500" cy="4191000"/>
            </a:xfrm>
            <a:prstGeom prst="roundRect">
              <a:avLst>
                <a:gd name="adj" fmla="val 285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79842" y="1835150"/>
              <a:ext cx="3034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NON-FUNCTIONAL / 8 ITEMS</a:t>
              </a:r>
            </a:p>
          </p:txBody>
        </p:sp>
        <p:grpSp>
          <p:nvGrpSpPr>
            <p:cNvPr id="45" name="nfr-list"/>
            <p:cNvGrpSpPr/>
            <p:nvPr/>
          </p:nvGrpSpPr>
          <p:grpSpPr>
            <a:xfrm>
              <a:off x="7879842" y="2235200"/>
              <a:ext cx="2639816" cy="568833"/>
              <a:chOff x="7879842" y="2235200"/>
              <a:chExt cx="2639816" cy="568833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7879842" y="2235200"/>
                <a:ext cx="26398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性能 · 可靠性 · 可追溯 · 可复现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879842" y="2540000"/>
                <a:ext cx="22763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安全 · 可维护 · 易用 · 成本</a:t>
                </a:r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7886700" y="29718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79842" y="3149600"/>
              <a:ext cx="20814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ACCEPTANCE / 关键目标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86700" y="3486150"/>
              <a:ext cx="1047750" cy="66675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17497" y="3530600"/>
              <a:ext cx="7861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22539" y="3911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证据绑定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067800" y="3486150"/>
              <a:ext cx="1047750" cy="666750"/>
            </a:xfrm>
            <a:prstGeom prst="roundRect">
              <a:avLst>
                <a:gd name="adj" fmla="val 11429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98597" y="3530600"/>
              <a:ext cx="7861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≥85%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03639" y="3911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引用精度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248900" y="3486150"/>
              <a:ext cx="1028700" cy="66675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401976" y="3530600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≥4.0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75214" y="3911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专家评分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79842" y="4387850"/>
              <a:ext cx="1859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验收不是“看起来不错”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79842" y="46736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关键声明有证据、引用能定位、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79842" y="49212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失败可恢复、结果可复现。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886700" y="5372100"/>
              <a:ext cx="3390900" cy="2286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28710" y="54165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7F9F6"/>
                  </a:solidFill>
                  <a:latin typeface="+mn-lt"/>
                  <a:ea typeface="+mn-ea"/>
                  <a:cs typeface="+mn-cs"/>
                </a:rPr>
                <a:t>先保证证据链，再优化界面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604266" y="6502400"/>
              <a:ext cx="2653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需求与验收 · 12 项功能与 8 项非功能指标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6072759" cy="1297051"/>
            <a:chOff x="592074" y="387350"/>
            <a:chExt cx="6072759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53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三领域评测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607275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三领域、四基线、两层评测：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28612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质量必须可核验</a:t>
              </a:r>
            </a:p>
          </p:txBody>
        </p:sp>
      </p:grpSp>
      <p:grpSp>
        <p:nvGrpSpPr>
          <p:cNvPr id="40" name="domains"/>
          <p:cNvGrpSpPr/>
          <p:nvPr/>
        </p:nvGrpSpPr>
        <p:grpSpPr>
          <a:xfrm>
            <a:off x="609600" y="1676400"/>
            <a:ext cx="5905500" cy="4191000"/>
            <a:chOff x="609600" y="1676400"/>
            <a:chExt cx="59055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59055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3280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TEST DOMAINS / 3 × 3 TOPICS</a:t>
              </a:r>
            </a:p>
          </p:txBody>
        </p:sp>
        <p:grpSp>
          <p:nvGrpSpPr>
            <p:cNvPr id="17" name="domain-rag"/>
            <p:cNvGrpSpPr/>
            <p:nvPr/>
          </p:nvGrpSpPr>
          <p:grpSpPr>
            <a:xfrm>
              <a:off x="914400" y="2209800"/>
              <a:ext cx="5295900" cy="914400"/>
              <a:chOff x="914400" y="2209800"/>
              <a:chExt cx="5295900" cy="9144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209800"/>
                <a:ext cx="5295900" cy="914400"/>
              </a:xfrm>
              <a:prstGeom prst="roundRect">
                <a:avLst>
                  <a:gd name="adj" fmla="val 8333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58875" y="2440781"/>
                <a:ext cx="215901" cy="242888"/>
                <a:chOff x="1158875" y="2440781"/>
                <a:chExt cx="215901" cy="242888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58875" y="2440781"/>
                  <a:ext cx="215901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80963">
                      <a:moveTo>
                        <a:pt x="0" y="40481"/>
                      </a:moveTo>
                      <a:cubicBezTo>
                        <a:pt x="0" y="62839"/>
                        <a:pt x="48331" y="80963"/>
                        <a:pt x="107950" y="80963"/>
                      </a:cubicBezTo>
                      <a:cubicBezTo>
                        <a:pt x="167570" y="80963"/>
                        <a:pt x="215901" y="62839"/>
                        <a:pt x="215901" y="40481"/>
                      </a:cubicBezTo>
                      <a:cubicBezTo>
                        <a:pt x="215901" y="18124"/>
                        <a:pt x="167570" y="0"/>
                        <a:pt x="107950" y="0"/>
                      </a:cubicBezTo>
                      <a:cubicBezTo>
                        <a:pt x="48331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58875" y="248126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58875" y="2562225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591056" y="23177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检索增强生成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93342" y="2635250"/>
                <a:ext cx="27942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忠实性评估 · 混合检索 · 证据绑定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94866" y="2901950"/>
                <a:ext cx="25635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主题示例：RAG 的引用可靠性与检索策略</a:t>
                </a:r>
              </a:p>
            </p:txBody>
          </p:sp>
        </p:grpSp>
        <p:grpSp>
          <p:nvGrpSpPr>
            <p:cNvPr id="31" name="domain-agent"/>
            <p:cNvGrpSpPr/>
            <p:nvPr/>
          </p:nvGrpSpPr>
          <p:grpSpPr>
            <a:xfrm>
              <a:off x="914400" y="3295650"/>
              <a:ext cx="5295900" cy="914400"/>
              <a:chOff x="914400" y="3295650"/>
              <a:chExt cx="5295900" cy="914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14400" y="3295650"/>
                <a:ext cx="5295900" cy="914400"/>
              </a:xfrm>
              <a:prstGeom prst="roundRect">
                <a:avLst>
                  <a:gd name="adj" fmla="val 8333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145381" y="3526631"/>
                <a:ext cx="242888" cy="256382"/>
                <a:chOff x="1145381" y="3526631"/>
                <a:chExt cx="242888" cy="25638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185863" y="352663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3"/>
                      </a:moveTo>
                      <a:cubicBezTo>
                        <a:pt x="0" y="125677"/>
                        <a:pt x="36248" y="161925"/>
                        <a:pt x="80963" y="161925"/>
                      </a:cubicBezTo>
                      <a:cubicBezTo>
                        <a:pt x="125677" y="161925"/>
                        <a:pt x="161925" y="125677"/>
                        <a:pt x="161925" y="80963"/>
                      </a:cubicBezTo>
                      <a:cubicBezTo>
                        <a:pt x="161925" y="36248"/>
                        <a:pt x="125677" y="0"/>
                        <a:pt x="80963" y="0"/>
                      </a:cubicBezTo>
                      <a:cubicBezTo>
                        <a:pt x="36248" y="0"/>
                        <a:pt x="0" y="36248"/>
                        <a:pt x="0" y="80963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266825" y="35266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0" y="0"/>
                      </a:moveTo>
                      <a:cubicBezTo>
                        <a:pt x="17987" y="4493"/>
                        <a:pt x="26988" y="31481"/>
                        <a:pt x="26988" y="80963"/>
                      </a:cubicBezTo>
                      <a:cubicBezTo>
                        <a:pt x="26988" y="130444"/>
                        <a:pt x="17987" y="157432"/>
                        <a:pt x="0" y="161925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39838" y="35266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26988" y="0"/>
                      </a:moveTo>
                      <a:cubicBezTo>
                        <a:pt x="9000" y="4493"/>
                        <a:pt x="0" y="31481"/>
                        <a:pt x="0" y="80963"/>
                      </a:cubicBezTo>
                      <a:cubicBezTo>
                        <a:pt x="0" y="130444"/>
                        <a:pt x="9000" y="157432"/>
                        <a:pt x="26988" y="161925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85863" y="3607594"/>
                  <a:ext cx="161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9525">
                      <a:moveTo>
                        <a:pt x="0" y="0"/>
                      </a:moveTo>
                      <a:lnTo>
                        <a:pt x="161925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145381" y="375602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293813" y="375602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39838" y="37290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266825" y="3688557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591056" y="3403600"/>
                <a:ext cx="20501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LLM 多智能体系统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593342" y="3721100"/>
                <a:ext cx="261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任务分解 · 角色协作 · 错误恢复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594866" y="3987800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主题示例：多智能体任务图与协作机制</a:t>
                </a:r>
              </a:p>
            </p:txBody>
          </p:sp>
        </p:grpSp>
        <p:grpSp>
          <p:nvGrpSpPr>
            <p:cNvPr id="39" name="domain-security"/>
            <p:cNvGrpSpPr/>
            <p:nvPr/>
          </p:nvGrpSpPr>
          <p:grpSpPr>
            <a:xfrm>
              <a:off x="914400" y="4381500"/>
              <a:ext cx="5295900" cy="914400"/>
              <a:chOff x="914400" y="4381500"/>
              <a:chExt cx="5295900" cy="9144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914400" y="4381500"/>
                <a:ext cx="52959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3E3"/>
              </a:solidFill>
              <a:ln w="11430">
                <a:solidFill>
                  <a:schemeClr val="accent2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1127171" y="4612481"/>
                <a:ext cx="263510" cy="242888"/>
                <a:chOff x="1127171" y="4612481"/>
                <a:chExt cx="263510" cy="242888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1127171" y="461248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307307" y="480139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591056" y="44894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软件漏洞检测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593342" y="4806950"/>
                <a:ext cx="27942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实验条件 · 数据集偏差 · 局限识别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594866" y="5073650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主题示例：深度学习的漏洞检测与泛化</a:t>
                </a:r>
              </a:p>
            </p:txBody>
          </p:sp>
        </p:grpSp>
      </p:grpSp>
      <p:grpSp>
        <p:nvGrpSpPr>
          <p:cNvPr id="69" name="baselines-metrics"/>
          <p:cNvGrpSpPr/>
          <p:nvPr/>
        </p:nvGrpSpPr>
        <p:grpSpPr>
          <a:xfrm>
            <a:off x="6515100" y="1676400"/>
            <a:ext cx="5067300" cy="4191000"/>
            <a:chOff x="6515100" y="1676400"/>
            <a:chExt cx="5067300" cy="4191000"/>
          </a:xfrm>
        </p:grpSpPr>
        <p:sp>
          <p:nvSpPr>
            <p:cNvPr id="41" name="Rectangle 41"/>
            <p:cNvSpPr/>
            <p:nvPr/>
          </p:nvSpPr>
          <p:spPr>
            <a:xfrm>
              <a:off x="6515100" y="1676400"/>
              <a:ext cx="5067300" cy="4191000"/>
            </a:xfrm>
            <a:prstGeom prst="roundRect">
              <a:avLst>
                <a:gd name="adj" fmla="val 272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13042" y="1835150"/>
              <a:ext cx="2170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BASELINES / 4 RUNS</a:t>
              </a:r>
            </a:p>
          </p:txBody>
        </p:sp>
        <p:grpSp>
          <p:nvGrpSpPr>
            <p:cNvPr id="46" name="baseline-direct"/>
            <p:cNvGrpSpPr/>
            <p:nvPr/>
          </p:nvGrpSpPr>
          <p:grpSpPr>
            <a:xfrm>
              <a:off x="6858000" y="2235200"/>
              <a:ext cx="3572637" cy="264033"/>
              <a:chOff x="6858000" y="2235200"/>
              <a:chExt cx="3572637" cy="264033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6858000" y="2266950"/>
                <a:ext cx="152400" cy="152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155942" y="2235200"/>
                <a:ext cx="9825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Direct LLM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995916" y="2273300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无检索</a:t>
                </a:r>
              </a:p>
            </p:txBody>
          </p:sp>
        </p:grpSp>
        <p:grpSp>
          <p:nvGrpSpPr>
            <p:cNvPr id="50" name="baseline-single"/>
            <p:cNvGrpSpPr/>
            <p:nvPr/>
          </p:nvGrpSpPr>
          <p:grpSpPr>
            <a:xfrm>
              <a:off x="6858000" y="2597150"/>
              <a:ext cx="3713988" cy="264033"/>
              <a:chOff x="6858000" y="2597150"/>
              <a:chExt cx="3713988" cy="264033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6858000" y="2628900"/>
                <a:ext cx="152400" cy="15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155942" y="2597150"/>
                <a:ext cx="16573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Single-agent + RAG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995916" y="26352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单智能体</a:t>
                </a:r>
              </a:p>
            </p:txBody>
          </p:sp>
        </p:grpSp>
        <p:grpSp>
          <p:nvGrpSpPr>
            <p:cNvPr id="54" name="baseline-multi"/>
            <p:cNvGrpSpPr/>
            <p:nvPr/>
          </p:nvGrpSpPr>
          <p:grpSpPr>
            <a:xfrm>
              <a:off x="6858000" y="2959100"/>
              <a:ext cx="3572637" cy="264033"/>
              <a:chOff x="6858000" y="2959100"/>
              <a:chExt cx="3572637" cy="264033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6858000" y="2990850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155942" y="2959100"/>
                <a:ext cx="21824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Multi-agent without RAG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995916" y="2997200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无证据</a:t>
                </a:r>
              </a:p>
            </p:txBody>
          </p:sp>
        </p:grpSp>
        <p:grpSp>
          <p:nvGrpSpPr>
            <p:cNvPr id="58" name="baseline-ours"/>
            <p:cNvGrpSpPr/>
            <p:nvPr/>
          </p:nvGrpSpPr>
          <p:grpSpPr>
            <a:xfrm>
              <a:off x="6858000" y="3321050"/>
              <a:ext cx="4445279" cy="264033"/>
              <a:chOff x="6858000" y="3321050"/>
              <a:chExt cx="4445279" cy="264033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6858000" y="3352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155942" y="3321050"/>
                <a:ext cx="4781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Ours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995916" y="3359150"/>
                <a:ext cx="13073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任务图 + RAG + 校验</a:t>
                </a:r>
              </a:p>
            </p:txBody>
          </p:sp>
        </p:grpSp>
        <p:sp>
          <p:nvSpPr>
            <p:cNvPr id="59" name="Freeform 59"/>
            <p:cNvSpPr/>
            <p:nvPr/>
          </p:nvSpPr>
          <p:spPr>
            <a:xfrm>
              <a:off x="6819900" y="37147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13042" y="3892550"/>
              <a:ext cx="2283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 + HUMAN / 两层评测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19900" y="4229100"/>
              <a:ext cx="4457700" cy="819150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03542" y="43497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自动指标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05066" y="4635500"/>
              <a:ext cx="2477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引用精度 / 召回 · 覆盖率 · 定位准确率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05066" y="4845050"/>
              <a:ext cx="1663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nDCG · 时延 · token 成本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819900" y="5181600"/>
              <a:ext cx="4457700" cy="476250"/>
            </a:xfrm>
            <a:prstGeom prst="roundRect">
              <a:avLst>
                <a:gd name="adj" fmla="val 16000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03542" y="5245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人工盲评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52816" y="5283200"/>
              <a:ext cx="3078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3 名评分者 · 5 分制 · Krippendorff's α ≥ 0.70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05066" y="5530850"/>
              <a:ext cx="2583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不只问“像不像”，还要问“有没有证据”。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604266" y="6502400"/>
              <a:ext cx="3152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三领域评测 · RAG、LLM 多智能体、软件漏洞检测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896754" cy="1297051"/>
            <a:chOff x="592074" y="387350"/>
            <a:chExt cx="5896754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4562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24 周进度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358029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24 周完成从 RAG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589675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到 Web 原型再到三领域评测</a:t>
              </a:r>
            </a:p>
          </p:txBody>
        </p:sp>
      </p:grpSp>
      <p:grpSp>
        <p:nvGrpSpPr>
          <p:cNvPr id="42" name="roadmap"/>
          <p:cNvGrpSpPr/>
          <p:nvPr/>
        </p:nvGrpSpPr>
        <p:grpSpPr>
          <a:xfrm>
            <a:off x="609600" y="1676400"/>
            <a:ext cx="10972800" cy="4231259"/>
            <a:chOff x="609600" y="1676400"/>
            <a:chExt cx="10972800" cy="4231259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4653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DELIVERY PATH / CONTINUOUS INCREMENTS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14400" y="238125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  <a:custDash>
                <a:ds d="428571" sp="357143"/>
              </a:custDash>
            </a:ln>
          </p:spPr>
        </p:sp>
        <p:grpSp>
          <p:nvGrpSpPr>
            <p:cNvPr id="16" name="phase-1"/>
            <p:cNvGrpSpPr/>
            <p:nvPr/>
          </p:nvGrpSpPr>
          <p:grpSpPr>
            <a:xfrm>
              <a:off x="609600" y="2628900"/>
              <a:ext cx="2476500" cy="2476500"/>
              <a:chOff x="609600" y="2628900"/>
              <a:chExt cx="2476500" cy="2476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2628900"/>
                <a:ext cx="2476500" cy="2476500"/>
              </a:xfrm>
              <a:prstGeom prst="roundRect">
                <a:avLst>
                  <a:gd name="adj" fmla="val 3077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2866" y="2844800"/>
                <a:ext cx="1523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PHASE 01 / WEEK 1—2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29056" y="313690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调研与需求冻结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31342" y="3549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文献矩阵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1342" y="381635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用户与验收标准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1342" y="4311650"/>
                <a:ext cx="15530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成果：需求规格 v1</a:t>
                </a:r>
              </a:p>
            </p:txBody>
          </p:sp>
        </p:grpSp>
        <p:grpSp>
          <p:nvGrpSpPr>
            <p:cNvPr id="23" name="phase-2"/>
            <p:cNvGrpSpPr/>
            <p:nvPr/>
          </p:nvGrpSpPr>
          <p:grpSpPr>
            <a:xfrm>
              <a:off x="3429000" y="2628900"/>
              <a:ext cx="2476500" cy="2476500"/>
              <a:chOff x="3429000" y="2628900"/>
              <a:chExt cx="2476500" cy="2476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429000" y="2628900"/>
                <a:ext cx="2476500" cy="2476500"/>
              </a:xfrm>
              <a:prstGeom prst="roundRect">
                <a:avLst>
                  <a:gd name="adj" fmla="val 3077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652266" y="2844800"/>
                <a:ext cx="1523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PHASE 02 / WEEK 3—8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48456" y="3136900"/>
                <a:ext cx="12694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架构与 RAG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50742" y="3549650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数据接入 · 切分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50742" y="3816350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混合检索 · 重排序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50742" y="4311650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成果：索引流水线</a:t>
                </a:r>
              </a:p>
            </p:txBody>
          </p:sp>
        </p:grpSp>
        <p:grpSp>
          <p:nvGrpSpPr>
            <p:cNvPr id="30" name="phase-3"/>
            <p:cNvGrpSpPr/>
            <p:nvPr/>
          </p:nvGrpSpPr>
          <p:grpSpPr>
            <a:xfrm>
              <a:off x="6248400" y="2628900"/>
              <a:ext cx="2476500" cy="2476500"/>
              <a:chOff x="6248400" y="2628900"/>
              <a:chExt cx="2476500" cy="2476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248400" y="2628900"/>
                <a:ext cx="2476500" cy="2476500"/>
              </a:xfrm>
              <a:prstGeom prst="roundRect">
                <a:avLst>
                  <a:gd name="adj" fmla="val 3077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71666" y="2844800"/>
                <a:ext cx="1610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PHASE 03 / WEEK 9—15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7856" y="3136900"/>
                <a:ext cx="154490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智能体与 Web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70142" y="3549650"/>
                <a:ext cx="20265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DAG · 产物 schema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70142" y="3816350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引用校验 · 四视图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70142" y="4311650"/>
                <a:ext cx="12810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成果：Alpha 版</a:t>
                </a:r>
              </a:p>
            </p:txBody>
          </p:sp>
        </p:grpSp>
        <p:grpSp>
          <p:nvGrpSpPr>
            <p:cNvPr id="37" name="phase-4"/>
            <p:cNvGrpSpPr/>
            <p:nvPr/>
          </p:nvGrpSpPr>
          <p:grpSpPr>
            <a:xfrm>
              <a:off x="9067800" y="2628900"/>
              <a:ext cx="2476500" cy="2476500"/>
              <a:chOff x="9067800" y="2628900"/>
              <a:chExt cx="2476500" cy="2476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067800" y="2628900"/>
                <a:ext cx="2476500" cy="2476500"/>
              </a:xfrm>
              <a:prstGeom prst="roundRect">
                <a:avLst>
                  <a:gd name="adj" fmla="val 3077"/>
                </a:avLst>
              </a:prstGeom>
              <a:solidFill>
                <a:srgbClr val="FFF3E3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291066" y="2844800"/>
                <a:ext cx="16964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PHASE 04 / WEEK 16—24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287256" y="313690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评测与结项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289542" y="3549650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三领域盲评 · 消融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289542" y="3816350"/>
                <a:ext cx="11313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稳定性 · 成本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289542" y="4311650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成果：报告与答辩</a:t>
                </a:r>
              </a:p>
            </p:txBody>
          </p:sp>
        </p:grpSp>
        <p:grpSp>
          <p:nvGrpSpPr>
            <p:cNvPr id="41" name="milestones"/>
            <p:cNvGrpSpPr/>
            <p:nvPr/>
          </p:nvGrpSpPr>
          <p:grpSpPr>
            <a:xfrm>
              <a:off x="907542" y="5264150"/>
              <a:ext cx="10370058" cy="643509"/>
              <a:chOff x="907542" y="5264150"/>
              <a:chExt cx="10370058" cy="643509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907542" y="5264150"/>
                <a:ext cx="61382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里程碑：第 8 周可检索 → 第 15 周可演示 → 第 20 周可评测 → 第 24 周可结项</a:t>
                </a: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914400" y="5600700"/>
                <a:ext cx="1036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63200" h="9525">
                    <a:moveTo>
                      <a:pt x="0" y="0"/>
                    </a:moveTo>
                    <a:lnTo>
                      <a:pt x="10363200" y="0"/>
                    </a:lnTo>
                  </a:path>
                </a:pathLst>
              </a:custGeom>
              <a:solidFill>
                <a:schemeClr val="dk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09066" y="5702300"/>
                <a:ext cx="495795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原则：每个阶段都产生可运行增量；优先保证证据链、任务恢复和可复现实验。</a:t>
                </a:r>
              </a:p>
            </p:txBody>
          </p:sp>
        </p:grpSp>
      </p:grpSp>
      <p:grpSp>
        <p:nvGrpSpPr>
          <p:cNvPr id="45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604266" y="6502400"/>
              <a:ext cx="2491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 周进度 · 分阶段交付、尽早暴露风险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608320" cy="1297051"/>
            <a:chOff x="592074" y="387350"/>
            <a:chExt cx="560832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预期成果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交付一套可运行、可评测、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7505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可复现的综述系统</a:t>
              </a:r>
            </a:p>
          </p:txBody>
        </p:sp>
      </p:grpSp>
      <p:grpSp>
        <p:nvGrpSpPr>
          <p:cNvPr id="17" name="outcome-system"/>
          <p:cNvGrpSpPr/>
          <p:nvPr/>
        </p:nvGrpSpPr>
        <p:grpSpPr>
          <a:xfrm>
            <a:off x="609600" y="1905000"/>
            <a:ext cx="4953000" cy="1714500"/>
            <a:chOff x="609600" y="1905000"/>
            <a:chExt cx="4953000" cy="17145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49530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04875" y="2200275"/>
              <a:ext cx="266699" cy="266700"/>
              <a:chOff x="904875" y="2200275"/>
              <a:chExt cx="266699" cy="2667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04875" y="2200275"/>
                <a:ext cx="10001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33350">
                    <a:moveTo>
                      <a:pt x="16669" y="0"/>
                    </a:moveTo>
                    <a:lnTo>
                      <a:pt x="83344" y="0"/>
                    </a:lnTo>
                    <a:cubicBezTo>
                      <a:pt x="92550" y="0"/>
                      <a:pt x="100012" y="7463"/>
                      <a:pt x="100012" y="16669"/>
                    </a:cubicBezTo>
                    <a:lnTo>
                      <a:pt x="100012" y="116681"/>
                    </a:lnTo>
                    <a:cubicBezTo>
                      <a:pt x="100012" y="125887"/>
                      <a:pt x="92550" y="133350"/>
                      <a:pt x="83344" y="133350"/>
                    </a:cubicBezTo>
                    <a:lnTo>
                      <a:pt x="16669" y="133350"/>
                    </a:lnTo>
                    <a:cubicBezTo>
                      <a:pt x="7463" y="133350"/>
                      <a:pt x="0" y="125887"/>
                      <a:pt x="0" y="116681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04875" y="2400300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16669" y="0"/>
                    </a:moveTo>
                    <a:lnTo>
                      <a:pt x="83344" y="0"/>
                    </a:lnTo>
                    <a:cubicBezTo>
                      <a:pt x="92550" y="0"/>
                      <a:pt x="100012" y="7463"/>
                      <a:pt x="100012" y="16669"/>
                    </a:cubicBezTo>
                    <a:lnTo>
                      <a:pt x="100012" y="50006"/>
                    </a:lnTo>
                    <a:cubicBezTo>
                      <a:pt x="100012" y="59212"/>
                      <a:pt x="92550" y="66675"/>
                      <a:pt x="83344" y="66675"/>
                    </a:cubicBezTo>
                    <a:lnTo>
                      <a:pt x="16669" y="66675"/>
                    </a:lnTo>
                    <a:cubicBezTo>
                      <a:pt x="7463" y="66675"/>
                      <a:pt x="0" y="59212"/>
                      <a:pt x="0" y="50006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1562" y="2333625"/>
                <a:ext cx="10001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33350">
                    <a:moveTo>
                      <a:pt x="16669" y="0"/>
                    </a:moveTo>
                    <a:lnTo>
                      <a:pt x="83344" y="0"/>
                    </a:lnTo>
                    <a:cubicBezTo>
                      <a:pt x="92550" y="0"/>
                      <a:pt x="100012" y="7463"/>
                      <a:pt x="100012" y="16669"/>
                    </a:cubicBezTo>
                    <a:lnTo>
                      <a:pt x="100012" y="116681"/>
                    </a:lnTo>
                    <a:cubicBezTo>
                      <a:pt x="100012" y="125887"/>
                      <a:pt x="92550" y="133350"/>
                      <a:pt x="83344" y="133350"/>
                    </a:cubicBezTo>
                    <a:lnTo>
                      <a:pt x="16669" y="133350"/>
                    </a:lnTo>
                    <a:cubicBezTo>
                      <a:pt x="7463" y="133350"/>
                      <a:pt x="0" y="125887"/>
                      <a:pt x="0" y="116681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1562" y="2200275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16669" y="0"/>
                    </a:moveTo>
                    <a:lnTo>
                      <a:pt x="83344" y="0"/>
                    </a:lnTo>
                    <a:cubicBezTo>
                      <a:pt x="92550" y="0"/>
                      <a:pt x="100012" y="7463"/>
                      <a:pt x="100012" y="16669"/>
                    </a:cubicBezTo>
                    <a:lnTo>
                      <a:pt x="100012" y="50006"/>
                    </a:lnTo>
                    <a:cubicBezTo>
                      <a:pt x="100012" y="59212"/>
                      <a:pt x="92550" y="66675"/>
                      <a:pt x="83344" y="66675"/>
                    </a:cubicBezTo>
                    <a:lnTo>
                      <a:pt x="16669" y="66675"/>
                    </a:lnTo>
                    <a:cubicBezTo>
                      <a:pt x="7463" y="66675"/>
                      <a:pt x="0" y="59212"/>
                      <a:pt x="0" y="50006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81506" y="22034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可运行的系统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2711450"/>
              <a:ext cx="2262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Web 原型 · REST/SSE 接口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2997200"/>
              <a:ext cx="2168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RAG 流水线 · Docker 部署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866" y="332105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从主题输入到报告导出完整闭环</a:t>
              </a:r>
            </a:p>
          </p:txBody>
        </p:sp>
      </p:grpSp>
      <p:grpSp>
        <p:nvGrpSpPr>
          <p:cNvPr id="29" name="outcome-eval"/>
          <p:cNvGrpSpPr/>
          <p:nvPr/>
        </p:nvGrpSpPr>
        <p:grpSpPr>
          <a:xfrm>
            <a:off x="5943600" y="1905000"/>
            <a:ext cx="5638800" cy="1714500"/>
            <a:chOff x="5943600" y="1905000"/>
            <a:chExt cx="56388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5943600" y="1905000"/>
              <a:ext cx="56388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255544" y="2183606"/>
              <a:ext cx="233362" cy="300038"/>
              <a:chOff x="6255544" y="2183606"/>
              <a:chExt cx="233362" cy="30003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255544" y="2216944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66675" y="0"/>
                    </a:move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233362"/>
                    </a:lnTo>
                    <a:cubicBezTo>
                      <a:pt x="0" y="251774"/>
                      <a:pt x="14926" y="266700"/>
                      <a:pt x="33338" y="266700"/>
                    </a:cubicBezTo>
                    <a:lnTo>
                      <a:pt x="200025" y="266700"/>
                    </a:lnTo>
                    <a:cubicBezTo>
                      <a:pt x="218437" y="266700"/>
                      <a:pt x="233362" y="251774"/>
                      <a:pt x="233362" y="233362"/>
                    </a:cubicBezTo>
                    <a:lnTo>
                      <a:pt x="233362" y="33338"/>
                    </a:lnTo>
                    <a:cubicBezTo>
                      <a:pt x="233362" y="14926"/>
                      <a:pt x="218437" y="0"/>
                      <a:pt x="200025" y="0"/>
                    </a:cubicBezTo>
                    <a:lnTo>
                      <a:pt x="166688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322219" y="2183606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66675" y="0"/>
                    </a:lnTo>
                    <a:cubicBezTo>
                      <a:pt x="85087" y="0"/>
                      <a:pt x="100012" y="14926"/>
                      <a:pt x="100012" y="33338"/>
                    </a:cubicBezTo>
                    <a:cubicBezTo>
                      <a:pt x="100012" y="51749"/>
                      <a:pt x="85087" y="66675"/>
                      <a:pt x="66675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322219" y="2333625"/>
                <a:ext cx="95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344">
                    <a:moveTo>
                      <a:pt x="0" y="83344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372225" y="2400300"/>
                <a:ext cx="9525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669">
                    <a:moveTo>
                      <a:pt x="0" y="16669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22231" y="2366962"/>
                <a:ext cx="9525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006">
                    <a:moveTo>
                      <a:pt x="0" y="50006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715506" y="22034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可评测的证据包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5342" y="27114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个领域 · 9 个主题 · 关键点清单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65342" y="2997200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引用核验样本 · 自动指标 · 人工评分脚本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66866" y="33210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四类基线与消融实验可复现</a:t>
              </a:r>
            </a:p>
          </p:txBody>
        </p:sp>
      </p:grpSp>
      <p:grpSp>
        <p:nvGrpSpPr>
          <p:cNvPr id="41" name="outcome-docs"/>
          <p:cNvGrpSpPr/>
          <p:nvPr/>
        </p:nvGrpSpPr>
        <p:grpSpPr>
          <a:xfrm>
            <a:off x="609600" y="3905250"/>
            <a:ext cx="4953000" cy="1714500"/>
            <a:chOff x="609600" y="3905250"/>
            <a:chExt cx="4953000" cy="1714500"/>
          </a:xfrm>
        </p:grpSpPr>
        <p:sp>
          <p:nvSpPr>
            <p:cNvPr id="30" name="Rectangle 30"/>
            <p:cNvSpPr/>
            <p:nvPr/>
          </p:nvSpPr>
          <p:spPr>
            <a:xfrm>
              <a:off x="609600" y="3905250"/>
              <a:ext cx="4953000" cy="17145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1544" y="4183856"/>
              <a:ext cx="233362" cy="300038"/>
              <a:chOff x="921544" y="4183856"/>
              <a:chExt cx="233362" cy="30003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71562" y="4183856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75881"/>
                      <a:pt x="7463" y="83344"/>
                      <a:pt x="16669" y="83344"/>
                    </a:cubicBezTo>
                    <a:lnTo>
                      <a:pt x="83344" y="83344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21544" y="4183856"/>
                <a:ext cx="233362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300038">
                    <a:moveTo>
                      <a:pt x="200025" y="300038"/>
                    </a:moveTo>
                    <a:lnTo>
                      <a:pt x="33338" y="300038"/>
                    </a:lnTo>
                    <a:cubicBezTo>
                      <a:pt x="14926" y="300038"/>
                      <a:pt x="0" y="285112"/>
                      <a:pt x="0" y="266700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50019" y="0"/>
                    </a:lnTo>
                    <a:lnTo>
                      <a:pt x="233362" y="83344"/>
                    </a:lnTo>
                    <a:lnTo>
                      <a:pt x="233362" y="266700"/>
                    </a:lnTo>
                    <a:cubicBezTo>
                      <a:pt x="233362" y="285112"/>
                      <a:pt x="218437" y="300038"/>
                      <a:pt x="200025" y="300038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88219" y="4283869"/>
                <a:ext cx="166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9" h="9525">
                    <a:moveTo>
                      <a:pt x="0" y="0"/>
                    </a:moveTo>
                    <a:lnTo>
                      <a:pt x="16669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88219" y="4350544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88219" y="4417219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381506" y="42037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可交接的文档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342" y="471170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技术报告 · 接口文档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342" y="4997450"/>
              <a:ext cx="2271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UML 源文件 · 复现实验说明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866" y="532130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报告中保留目标值、局限和失败案例</a:t>
              </a:r>
            </a:p>
          </p:txBody>
        </p:sp>
      </p:grpSp>
      <p:grpSp>
        <p:nvGrpSpPr>
          <p:cNvPr id="53" name="outcome-demo"/>
          <p:cNvGrpSpPr/>
          <p:nvPr/>
        </p:nvGrpSpPr>
        <p:grpSpPr>
          <a:xfrm>
            <a:off x="5943600" y="3905250"/>
            <a:ext cx="5638800" cy="1714500"/>
            <a:chOff x="5943600" y="3905250"/>
            <a:chExt cx="5638800" cy="1714500"/>
          </a:xfrm>
        </p:grpSpPr>
        <p:sp>
          <p:nvSpPr>
            <p:cNvPr id="42" name="Rectangle 42"/>
            <p:cNvSpPr/>
            <p:nvPr/>
          </p:nvSpPr>
          <p:spPr>
            <a:xfrm>
              <a:off x="5943600" y="3905250"/>
              <a:ext cx="5638800" cy="1714500"/>
            </a:xfrm>
            <a:prstGeom prst="roundRect">
              <a:avLst>
                <a:gd name="adj" fmla="val 6667"/>
              </a:avLst>
            </a:prstGeom>
            <a:solidFill>
              <a:srgbClr val="FFF3E3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209352" y="4177667"/>
              <a:ext cx="318982" cy="319009"/>
              <a:chOff x="6209352" y="4177667"/>
              <a:chExt cx="318982" cy="31900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355556" y="431720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288881" y="425053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83344" y="0"/>
                    </a:moveTo>
                    <a:cubicBezTo>
                      <a:pt x="37314" y="0"/>
                      <a:pt x="0" y="37314"/>
                      <a:pt x="0" y="83344"/>
                    </a:cubicBez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209352" y="4177667"/>
                <a:ext cx="318982" cy="319009"/>
              </a:xfrm>
              <a:custGeom>
                <a:avLst/>
                <a:gdLst/>
                <a:ahLst/>
                <a:cxnLst/>
                <a:rect l="l" t="t" r="r" b="b"/>
                <a:pathLst>
                  <a:path w="318982" h="319009">
                    <a:moveTo>
                      <a:pt x="179541" y="7106"/>
                    </a:moveTo>
                    <a:cubicBezTo>
                      <a:pt x="116205" y="0"/>
                      <a:pt x="55293" y="33689"/>
                      <a:pt x="27646" y="91114"/>
                    </a:cubicBezTo>
                    <a:cubicBezTo>
                      <a:pt x="0" y="148539"/>
                      <a:pt x="11655" y="217164"/>
                      <a:pt x="56710" y="262242"/>
                    </a:cubicBezTo>
                    <a:cubicBezTo>
                      <a:pt x="101765" y="307319"/>
                      <a:pt x="170384" y="319009"/>
                      <a:pt x="227823" y="291391"/>
                    </a:cubicBezTo>
                    <a:cubicBezTo>
                      <a:pt x="285262" y="263774"/>
                      <a:pt x="318982" y="202879"/>
                      <a:pt x="311908" y="139539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22231" y="4183856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50006"/>
                    </a:moveTo>
                    <a:lnTo>
                      <a:pt x="0" y="100012"/>
                    </a:lnTo>
                    <a:lnTo>
                      <a:pt x="50006" y="100012"/>
                    </a:lnTo>
                    <a:lnTo>
                      <a:pt x="100012" y="50006"/>
                    </a:lnTo>
                    <a:lnTo>
                      <a:pt x="50006" y="50006"/>
                    </a:lnTo>
                    <a:lnTo>
                      <a:pt x="50006" y="0"/>
                    </a:ln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72225" y="4283869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0"/>
                    </a:move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15506" y="42037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可判断的结果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65342" y="4711700"/>
              <a:ext cx="2232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端到端演示视频 · 答辩 PPT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65342" y="49974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成功案例与失败案例并列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66866" y="5321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不选择性展示；报告实测偏差</a:t>
              </a:r>
            </a:p>
          </p:txBody>
        </p:sp>
      </p:grpSp>
      <p:grpSp>
        <p:nvGrpSpPr>
          <p:cNvPr id="55" name="targets"/>
          <p:cNvGrpSpPr/>
          <p:nvPr/>
        </p:nvGrpSpPr>
        <p:grpSpPr>
          <a:xfrm>
            <a:off x="600456" y="5822950"/>
            <a:ext cx="9688514" cy="352044"/>
            <a:chOff x="600456" y="5822950"/>
            <a:chExt cx="9688514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600456" y="5822950"/>
              <a:ext cx="968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目标：证据绑定 100% · 引用精度 ≥85% · 覆盖 ≥80% · 专家评分 ≥4.0/5（以实测为准）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04266" y="6502400"/>
              <a:ext cx="3000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预期成果 · 系统、证据包、文档与可判断的结果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4215003" cy="1297051"/>
            <a:chOff x="592074" y="387350"/>
            <a:chExt cx="4215003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926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结论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让每一次综述结论，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7505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都能回到原文证据</a:t>
              </a:r>
            </a:p>
          </p:txBody>
        </p:sp>
      </p:grpSp>
      <p:grpSp>
        <p:nvGrpSpPr>
          <p:cNvPr id="16" name="conclusion-statement"/>
          <p:cNvGrpSpPr/>
          <p:nvPr/>
        </p:nvGrpSpPr>
        <p:grpSpPr>
          <a:xfrm>
            <a:off x="609600" y="2089150"/>
            <a:ext cx="6667500" cy="2863850"/>
            <a:chOff x="609600" y="2089150"/>
            <a:chExt cx="6667500" cy="2863850"/>
          </a:xfrm>
        </p:grpSpPr>
        <p:sp>
          <p:nvSpPr>
            <p:cNvPr id="7" name="Rectangle 7"/>
            <p:cNvSpPr/>
            <p:nvPr/>
          </p:nvSpPr>
          <p:spPr>
            <a:xfrm>
              <a:off x="609600" y="2095500"/>
              <a:ext cx="66675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5350" y="2089150"/>
              <a:ext cx="4112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36370" y="2578100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可信科研辅助，不是替代研究者，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36370" y="2978150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而是把证据链变成可检查的工作流。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447800" y="3619500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40942" y="38354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从任务分解、混合检索、结构化融合，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0942" y="4083050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到 claim–evidence–locator 的引用校验。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47800" y="4495800"/>
              <a:ext cx="4762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25083" y="4530725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7F9F6"/>
                  </a:solidFill>
                  <a:latin typeface="+mn-lt"/>
                  <a:ea typeface="+mn-ea"/>
                  <a:cs typeface="+mn-cs"/>
                </a:rPr>
                <a:t>可交互 · 可追溯 · 可复现</a:t>
              </a:r>
            </a:p>
          </p:txBody>
        </p:sp>
      </p:grpSp>
      <p:grpSp>
        <p:nvGrpSpPr>
          <p:cNvPr id="31" name="pillars"/>
          <p:cNvGrpSpPr/>
          <p:nvPr/>
        </p:nvGrpSpPr>
        <p:grpSpPr>
          <a:xfrm>
            <a:off x="7620000" y="2095500"/>
            <a:ext cx="3962400" cy="2857500"/>
            <a:chOff x="7620000" y="2095500"/>
            <a:chExt cx="39624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7620000" y="2095500"/>
              <a:ext cx="3962400" cy="28575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17942" y="2273300"/>
              <a:ext cx="1965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THREE TAKEAWAYS</a:t>
              </a:r>
            </a:p>
          </p:txBody>
        </p:sp>
        <p:grpSp>
          <p:nvGrpSpPr>
            <p:cNvPr id="22" name="pillar-1"/>
            <p:cNvGrpSpPr/>
            <p:nvPr/>
          </p:nvGrpSpPr>
          <p:grpSpPr>
            <a:xfrm>
              <a:off x="7915656" y="2647950"/>
              <a:ext cx="2854833" cy="575183"/>
              <a:chOff x="7915656" y="2647950"/>
              <a:chExt cx="2854833" cy="575183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915656" y="264795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391906" y="26606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任务图管理复杂度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94192" y="2959100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用契约与检查点控制多智能体</a:t>
                </a:r>
              </a:p>
            </p:txBody>
          </p:sp>
        </p:grpSp>
        <p:grpSp>
          <p:nvGrpSpPr>
            <p:cNvPr id="26" name="pillar-2"/>
            <p:cNvGrpSpPr/>
            <p:nvPr/>
          </p:nvGrpSpPr>
          <p:grpSpPr>
            <a:xfrm>
              <a:off x="7915656" y="3390900"/>
              <a:ext cx="2969636" cy="575183"/>
              <a:chOff x="7915656" y="3390900"/>
              <a:chExt cx="2969636" cy="57518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915656" y="339090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91906" y="3403600"/>
                <a:ext cx="20770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混合 RAG 管理证据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94192" y="3702050"/>
                <a:ext cx="24911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每条结论有 evidenceId 与定位</a:t>
                </a:r>
              </a:p>
            </p:txBody>
          </p:sp>
        </p:grpSp>
        <p:grpSp>
          <p:nvGrpSpPr>
            <p:cNvPr id="30" name="pillar-3"/>
            <p:cNvGrpSpPr/>
            <p:nvPr/>
          </p:nvGrpSpPr>
          <p:grpSpPr>
            <a:xfrm>
              <a:off x="7915656" y="4133850"/>
              <a:ext cx="3036570" cy="575183"/>
              <a:chOff x="7915656" y="4133850"/>
              <a:chExt cx="3036570" cy="575183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915656" y="413385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91906" y="41465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三领域验证可行性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94192" y="4445000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引用、覆盖、时延和成本一起测</a:t>
                </a:r>
              </a:p>
            </p:txBody>
          </p:sp>
        </p:grpSp>
      </p:grpSp>
      <p:grpSp>
        <p:nvGrpSpPr>
          <p:cNvPr id="35" name="ask"/>
          <p:cNvGrpSpPr/>
          <p:nvPr/>
        </p:nvGrpSpPr>
        <p:grpSpPr>
          <a:xfrm>
            <a:off x="609600" y="5334000"/>
            <a:ext cx="10972800" cy="666750"/>
            <a:chOff x="609600" y="5334000"/>
            <a:chExt cx="10972800" cy="666750"/>
          </a:xfrm>
        </p:grpSpPr>
        <p:sp>
          <p:nvSpPr>
            <p:cNvPr id="32" name="Rectangle 32"/>
            <p:cNvSpPr/>
            <p:nvPr/>
          </p:nvSpPr>
          <p:spPr>
            <a:xfrm>
              <a:off x="609600" y="5334000"/>
              <a:ext cx="10972800" cy="666750"/>
            </a:xfrm>
            <a:prstGeom prst="roundRect">
              <a:avLst>
                <a:gd name="adj" fmla="val 11429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9056" y="540385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请评审指正研究边界、评测设计与实施风险。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866" y="5740400"/>
              <a:ext cx="40642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下一步：完成需求冻结 → 搭建 RAG 基线 → 迭代多智能体任务图。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6502400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 · 让结论回到证据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per_agent_opening">
  <a:themeElements>
    <a:clrScheme name="paper_agent_opening">
      <a:dk1>
        <a:srgbClr val="1F2933"/>
      </a:dk1>
      <a:lt1>
        <a:srgbClr val="F7F9F6"/>
      </a:lt1>
      <a:dk2>
        <a:srgbClr val="1F497D"/>
      </a:dk2>
      <a:lt2>
        <a:srgbClr val="E8EFEA"/>
      </a:lt2>
      <a:accent1>
        <a:srgbClr val="0E3B43"/>
      </a:accent1>
      <a:accent2>
        <a:srgbClr val="D97706"/>
      </a:accent2>
      <a:accent3>
        <a:srgbClr val="2F6F7E"/>
      </a:accent3>
      <a:accent4>
        <a:srgbClr val="0E3B43"/>
      </a:accent4>
      <a:accent5>
        <a:srgbClr val="5B6770"/>
      </a:accent5>
      <a:accent6>
        <a:srgbClr val="BED0C5"/>
      </a:accent6>
      <a:hlink>
        <a:srgbClr val="D97706"/>
      </a:hlink>
      <a:folHlink>
        <a:srgbClr val="2F6F7E"/>
      </a:folHlink>
    </a:clrScheme>
    <a:fontScheme name="paper_agent_open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per_agent_open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per_agent_opening">
  <a:themeElements>
    <a:clrScheme name="paper_agent_opening">
      <a:dk1>
        <a:srgbClr val="1F2933"/>
      </a:dk1>
      <a:lt1>
        <a:srgbClr val="F7F9F6"/>
      </a:lt1>
      <a:dk2>
        <a:srgbClr val="1F497D"/>
      </a:dk2>
      <a:lt2>
        <a:srgbClr val="E8EFEA"/>
      </a:lt2>
      <a:accent1>
        <a:srgbClr val="0E3B43"/>
      </a:accent1>
      <a:accent2>
        <a:srgbClr val="D97706"/>
      </a:accent2>
      <a:accent3>
        <a:srgbClr val="2F6F7E"/>
      </a:accent3>
      <a:accent4>
        <a:srgbClr val="0E3B43"/>
      </a:accent4>
      <a:accent5>
        <a:srgbClr val="5B6770"/>
      </a:accent5>
      <a:accent6>
        <a:srgbClr val="BED0C5"/>
      </a:accent6>
      <a:hlink>
        <a:srgbClr val="D97706"/>
      </a:hlink>
      <a:folHlink>
        <a:srgbClr val="2F6F7E"/>
      </a:folHlink>
    </a:clrScheme>
    <a:fontScheme name="paper_agent_open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per_agent_open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2026-10-27T08:13:20Z</dcterms:created>
  <dcterms:modified xsi:type="dcterms:W3CDTF">2026-10-27T08:13:20Z</dcterms:modified>
  <cp:category/>
  <cp:contentStatus/>
</cp:coreProperties>
</file>