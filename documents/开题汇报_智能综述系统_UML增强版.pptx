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  <Relationship Id="rId24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老师好，我的开题题目是《基于多智能体协同的科研文献智能综述生成系统》。这个项目想解决的不是“让模型更快写出一篇文章”，而是让综述里的每一个关键结论都能回到原文证据。接下来我会用大约十分钟，说明问题、方案、系统设计和评测计划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科研文献数量快速增长，单靠个人持续跟踪已经越来越困难。真正的压力来自三处：检索分散、全文与元数据质量不一、以及引用难以核验。研究者需要的是一张可核查的领域地图，包括方法分类、代表工作、实验条件和演进脉络。因此，本项目的核心判断是：问题的核心是证据链，不是生成速度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传统的单次提示词生成，往往只给出“主题、模型、草稿”这样一条不透明的链路，结论从哪来、引用了哪一段都很难回查。项目把它改造成六段式工作流：规划、检索、分析、对比、写作和校验。每一步都有输入、产物、证据和失败处理，所以我把目标概括为：综述等于任务图乘以证据链再乘以验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有研究可以分成三条线。检索增强生成能引入外部证据，但引用常常停留在段落或文献级；多智能体能分工协作，但自由对话容易造成上下文膨胀和错误级联；自动综述已经有端到端探索，但跨领域评测、冲突处理和工程闭环仍然不足。三条线共同指向同一个切口：细粒度证据定位、结构化任务融合，以及可复现的系统评测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针对这个缺口，总体方案分为三层。底层用混合 RAG 负责证据，中层用 CrewAI 负责智能体协作，上层用 Web 应用把整个流程封装成可操作界面，并由 LLM 网关、数据库、任务队列和对象存储提供支撑。右侧三条设计原则分别是结构化产物、证据优先和失败可恢复。最终目标是从主题输入到报告导出，每一个阶段都有状态、产物和证据可查。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系统设置六类角色：协调、检索、分析、对比、撰写和引用校验。协调器把主题拆成有依赖的任务图，各节点之间传递 Plan、Retrieval、Analysis、Comparison、Draft 和 Verification 等类型化产物。任务失败时会进入 schema 校验、重试、检查点和人工复核的恢复路径，而不是静默跳过。这样，多智能体协作就从自由对话变成了可检查的工程执行。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RAG 流水线从论文接入开始，经过章节切分、混合召回和重排序，最终形成带 evidenceId 的证据卡片。写作时，关键声明只能引用证据卡片中存在的 ID；例如“方法 A 在数据集 D 上优于 B”，必须绑定原文片段、章节和页码或表格位置。引用校验会检查支持度，达到阈值才自动通过，否则进入人工复核或定向改写。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结果融合包括归一化、去重、按方法和任务聚类、冲突检测和证据约束写作。遇到不同论文结论冲突时，系统不会强行投票，而是保留双方的实验设置、证据和分歧，交给读者或评审判断。证据质量分由相关性、可信度、可验证性和时效性组成；支持度高于零点七五自动通过，零点五到零点七五进入人工复核，低于零点五拒绝进入正文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工程上，系统分为表现层、应用与编排层、智能体与证据层、数据与存储层。前端有主题输入、任务进度、报告工作区和证据面板四个视图，后端通过 FastAPI、SSE、Celery 和 Redis 管理任务与事件，PostgreSQL、pgvector 和对象存储负责持久化。这样的分层让项目不只是一个演示脚本，而是一个可操作、可恢复、可扩展的软件原型。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需求已经收敛为十二项功能需求和八项非功能指标。主流程必须支持主题输入、检索、去重、切分、混合检索、分析、对比、结构化写作和引用校验；增强项包括证据查看、报告编辑、多格式导出和任务监控。验收上先保证证据绑定百分之一百、引用精度目标不低于百分之八十五、专家评分目标不低于四分，所有目标值都以最终实验为准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评测选择三个计算机子方向：检索增强生成、LLM 多智能体系统和软件漏洞检测。每个方向准备三个主题，与 Direct LLM、单智能体 RAG、无 RAG 多智能体和本系统四类基线比较。自动指标看引用精度、覆盖率、定位准确率、检索质量、时延和成本；人工评测由三名评分者盲评，并报告 Krippendorff's alpha，目标不低于零点七。我们关心的不是文本像不像，而是有没有证据。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项目按二十四星期推进，分成四个阶段。前两星期完成调研和需求冻结；第三到第八星期完成架构、数据接入和 RAG；第九到第十五星期完成智能体编排与 Web 原型；第十六到第二十四星期完成三领域评测、稳定性优化、技术报告和答辩。每个阶段都要有可运行增量，优先保证证据链、任务恢复和可复现实验。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预期交付四类成果：可运行的系统、可评测的证据包、可交接的文档，以及可判断的演示材料。系统包括 Web 原型、接口、RAG 流水线和部署说明；评测包包括三领域主题、引用核验样本、自动指标和人工评分脚本。目标值包括证据绑定百分之一百、引用精度不低于百分之八十五、覆盖率不低于百分之八十、专家评分不低于四分，但最终以实测结果为准，不选择性展示样例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最后用三句话总结：任务图管理复杂度，混合 RAG 管理证据，三领域评测验证可行性。这个项目的价值不是替代研究者，而是把证据链变成可检查的工作流，降低综述整理成本并提高引用可追溯性。请各位老师指正研究边界、评测设计和实施风险，下一步我将完成需求冻结，搭建 RAG 基线，并迭代多智能体任务图。谢谢。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附录的用例图补充系统的边界和参与者。研究者发起提交主题、生成综述、查看证据和编辑导出；管理员负责配置数据源与模型，并监控任务。生成综述必须包含检索并规范化文献，以及校验声明与引用，这两个行为在图中用 include 关系表示。学术数据库作为外部参与者，与检索用例相连。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张类图把证据链落到领域对象。论文由多个证据片段组成，证据可以支撑声明，声明绑定引用，引用再指回证据；报告草稿包含声明，综述项目包含报告版本。连线上标出的多重性说明了一个项目可以有多份草稿、一篇论文可以有多条证据，而一条声明通常需要至少一条引用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顺序图展示从主题输入到引用校验的时间顺序。研究者通过 Web UI 创建任务，编排器调用检索和 RAG，随后撰写初稿，并把声明交给校验器。校验不通过时进入 alt 分支，系统补充检索或定向改写，再返回校验；通过后保存报告并通过 SSE 返回完成事件。这样，主流程、返回消息和失败回退都能在同一张图上读出来。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aper_agent_opening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aper_agent_opening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45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609600" y="342900"/>
            <a:ext cx="10972800" cy="6210300"/>
          </a:xfrm>
          <a:custGeom>
            <a:avLst/>
            <a:gdLst/>
            <a:ahLst/>
            <a:cxnLst/>
            <a:rect l="l" t="t" r="r" b="b"/>
            <a:pathLst>
              <a:path w="10972800" h="6210300">
                <a:moveTo>
                  <a:pt x="0" y="0"/>
                </a:moveTo>
                <a:lnTo>
                  <a:pt x="10972800" y="0"/>
                </a:lnTo>
                <a:moveTo>
                  <a:pt x="0" y="6210300"/>
                </a:moveTo>
                <a:lnTo>
                  <a:pt x="10972800" y="6210300"/>
                </a:lnTo>
                <a:moveTo>
                  <a:pt x="190500" y="0"/>
                </a:moveTo>
                <a:lnTo>
                  <a:pt x="190500" y="6210300"/>
                </a:lnTo>
                <a:moveTo>
                  <a:pt x="10782300" y="0"/>
                </a:moveTo>
                <a:lnTo>
                  <a:pt x="10782300" y="6210300"/>
                </a:lnTo>
                <a:moveTo>
                  <a:pt x="0" y="1028700"/>
                </a:moveTo>
                <a:lnTo>
                  <a:pt x="10972800" y="1028700"/>
                </a:lnTo>
                <a:moveTo>
                  <a:pt x="0" y="6057900"/>
                </a:moveTo>
                <a:lnTo>
                  <a:pt x="10972800" y="6057900"/>
                </a:lnTo>
              </a:path>
            </a:pathLst>
          </a:custGeom>
          <a:noFill/>
          <a:ln w="9525">
            <a:solidFill>
              <a:schemeClr val="accent6">
                <a:alpha val="32000"/>
              </a:schemeClr>
            </a:solidFill>
          </a:ln>
        </p:spPr>
      </p:sp>
      <p:grpSp>
        <p:nvGrpSpPr>
          <p:cNvPr id="7" name="cover-title"/>
          <p:cNvGrpSpPr/>
          <p:nvPr/>
        </p:nvGrpSpPr>
        <p:grpSpPr>
          <a:xfrm>
            <a:off x="592074" y="806450"/>
            <a:ext cx="5608320" cy="1508125"/>
            <a:chOff x="592074" y="806450"/>
            <a:chExt cx="5608320" cy="1508125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806450"/>
              <a:ext cx="28320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 / RESEARCH BLUEPRINT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074" y="1104900"/>
              <a:ext cx="421500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基于多智能体协同的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2074" y="1600200"/>
              <a:ext cx="560832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科研文献智能综述生成系统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609600" y="2266950"/>
              <a:ext cx="80010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25" name="cover-diagram"/>
          <p:cNvGrpSpPr/>
          <p:nvPr/>
        </p:nvGrpSpPr>
        <p:grpSpPr>
          <a:xfrm>
            <a:off x="8305800" y="723900"/>
            <a:ext cx="3276600" cy="3107309"/>
            <a:chOff x="8305800" y="723900"/>
            <a:chExt cx="3276600" cy="3107309"/>
          </a:xfrm>
        </p:grpSpPr>
        <p:sp>
          <p:nvSpPr>
            <p:cNvPr id="8" name="Rectangle 8"/>
            <p:cNvSpPr/>
            <p:nvPr/>
          </p:nvSpPr>
          <p:spPr>
            <a:xfrm>
              <a:off x="8305800" y="723900"/>
              <a:ext cx="3276600" cy="3105150"/>
            </a:xfrm>
            <a:prstGeom prst="roundRect">
              <a:avLst>
                <a:gd name="adj" fmla="val 368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8724900" y="1257300"/>
              <a:ext cx="2438400" cy="1714500"/>
            </a:xfrm>
            <a:custGeom>
              <a:avLst/>
              <a:gdLst/>
              <a:ahLst/>
              <a:cxnLst/>
              <a:rect l="l" t="t" r="r" b="b"/>
              <a:pathLst>
                <a:path w="2438400" h="1714500">
                  <a:moveTo>
                    <a:pt x="0" y="0"/>
                  </a:moveTo>
                  <a:lnTo>
                    <a:pt x="2438400" y="0"/>
                  </a:lnTo>
                  <a:moveTo>
                    <a:pt x="0" y="571500"/>
                  </a:moveTo>
                  <a:lnTo>
                    <a:pt x="2438400" y="571500"/>
                  </a:lnTo>
                  <a:moveTo>
                    <a:pt x="0" y="1143000"/>
                  </a:moveTo>
                  <a:lnTo>
                    <a:pt x="2438400" y="1143000"/>
                  </a:lnTo>
                  <a:moveTo>
                    <a:pt x="0" y="1714500"/>
                  </a:moveTo>
                  <a:lnTo>
                    <a:pt x="2438400" y="1714500"/>
                  </a:lnTo>
                </a:path>
              </a:pathLst>
            </a:custGeom>
            <a:solidFill>
              <a:schemeClr val="dk1"/>
            </a:solidFill>
            <a:ln w="9525">
              <a:solidFill>
                <a:schemeClr val="accent6">
                  <a:alpha val="80000"/>
                </a:schemeClr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9182100" y="1066800"/>
              <a:ext cx="1524000" cy="2152650"/>
            </a:xfrm>
            <a:custGeom>
              <a:avLst/>
              <a:gdLst/>
              <a:ahLst/>
              <a:cxnLst/>
              <a:rect l="l" t="t" r="r" b="b"/>
              <a:pathLst>
                <a:path w="1524000" h="2152650">
                  <a:moveTo>
                    <a:pt x="0" y="0"/>
                  </a:moveTo>
                  <a:lnTo>
                    <a:pt x="0" y="2152650"/>
                  </a:lnTo>
                  <a:moveTo>
                    <a:pt x="762000" y="0"/>
                  </a:moveTo>
                  <a:lnTo>
                    <a:pt x="762000" y="2152650"/>
                  </a:lnTo>
                  <a:moveTo>
                    <a:pt x="1524000" y="0"/>
                  </a:moveTo>
                  <a:lnTo>
                    <a:pt x="1524000" y="2152650"/>
                  </a:lnTo>
                </a:path>
              </a:pathLst>
            </a:custGeom>
            <a:solidFill>
              <a:schemeClr val="dk1"/>
            </a:solidFill>
            <a:ln w="9525">
              <a:solidFill>
                <a:schemeClr val="accent6">
                  <a:alpha val="55000"/>
                </a:schemeClr>
              </a:solidFill>
              <a:custDash>
                <a:ds d="400000" sp="600000"/>
              </a:custDash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9629775" y="1704975"/>
              <a:ext cx="628650" cy="663576"/>
              <a:chOff x="9629775" y="1704975"/>
              <a:chExt cx="628650" cy="663576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9734550" y="1704975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>
                    <a:moveTo>
                      <a:pt x="0" y="209550"/>
                    </a:moveTo>
                    <a:cubicBezTo>
                      <a:pt x="0" y="325282"/>
                      <a:pt x="93819" y="419100"/>
                      <a:pt x="209550" y="419100"/>
                    </a:cubicBezTo>
                    <a:cubicBezTo>
                      <a:pt x="325282" y="419100"/>
                      <a:pt x="419100" y="325282"/>
                      <a:pt x="419100" y="209550"/>
                    </a:cubicBezTo>
                    <a:cubicBezTo>
                      <a:pt x="419100" y="93819"/>
                      <a:pt x="325282" y="0"/>
                      <a:pt x="209550" y="0"/>
                    </a:cubicBezTo>
                    <a:cubicBezTo>
                      <a:pt x="93819" y="0"/>
                      <a:pt x="0" y="93819"/>
                      <a:pt x="0" y="209550"/>
                    </a:cubicBezTo>
                  </a:path>
                </a:pathLst>
              </a:custGeom>
              <a:noFill/>
              <a:ln w="69850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944100" y="1704975"/>
                <a:ext cx="6985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419100">
                    <a:moveTo>
                      <a:pt x="0" y="0"/>
                    </a:moveTo>
                    <a:cubicBezTo>
                      <a:pt x="46555" y="11630"/>
                      <a:pt x="69850" y="81480"/>
                      <a:pt x="69850" y="209550"/>
                    </a:cubicBezTo>
                    <a:cubicBezTo>
                      <a:pt x="69850" y="337620"/>
                      <a:pt x="46555" y="407470"/>
                      <a:pt x="0" y="419100"/>
                    </a:cubicBezTo>
                  </a:path>
                </a:pathLst>
              </a:custGeom>
              <a:noFill/>
              <a:ln w="69850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874250" y="1704975"/>
                <a:ext cx="6985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419100">
                    <a:moveTo>
                      <a:pt x="69850" y="0"/>
                    </a:moveTo>
                    <a:cubicBezTo>
                      <a:pt x="23295" y="11630"/>
                      <a:pt x="0" y="81480"/>
                      <a:pt x="0" y="209550"/>
                    </a:cubicBezTo>
                    <a:cubicBezTo>
                      <a:pt x="0" y="337620"/>
                      <a:pt x="23295" y="407470"/>
                      <a:pt x="69850" y="419100"/>
                    </a:cubicBezTo>
                  </a:path>
                </a:pathLst>
              </a:custGeom>
              <a:noFill/>
              <a:ln w="69850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734550" y="1914525"/>
                <a:ext cx="419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9525">
                    <a:moveTo>
                      <a:pt x="0" y="0"/>
                    </a:moveTo>
                    <a:lnTo>
                      <a:pt x="419100" y="0"/>
                    </a:lnTo>
                  </a:path>
                </a:pathLst>
              </a:custGeom>
              <a:noFill/>
              <a:ln w="69850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629775" y="2298701"/>
                <a:ext cx="2444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4475" h="9525">
                    <a:moveTo>
                      <a:pt x="0" y="0"/>
                    </a:moveTo>
                    <a:lnTo>
                      <a:pt x="244475" y="0"/>
                    </a:lnTo>
                  </a:path>
                </a:pathLst>
              </a:custGeom>
              <a:noFill/>
              <a:ln w="69850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013950" y="2298701"/>
                <a:ext cx="2444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4475" h="9525">
                    <a:moveTo>
                      <a:pt x="0" y="0"/>
                    </a:moveTo>
                    <a:lnTo>
                      <a:pt x="244475" y="0"/>
                    </a:lnTo>
                  </a:path>
                </a:pathLst>
              </a:custGeom>
              <a:noFill/>
              <a:ln w="69850">
                <a:solidFill>
                  <a:schemeClr val="accent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874250" y="2228851"/>
                <a:ext cx="13970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139700">
                    <a:moveTo>
                      <a:pt x="0" y="69850"/>
                    </a:moveTo>
                    <a:cubicBezTo>
                      <a:pt x="0" y="108427"/>
                      <a:pt x="31273" y="139700"/>
                      <a:pt x="69850" y="139700"/>
                    </a:cubicBezTo>
                    <a:cubicBezTo>
                      <a:pt x="108427" y="139700"/>
                      <a:pt x="139700" y="108427"/>
                      <a:pt x="139700" y="69850"/>
                    </a:cubicBezTo>
                    <a:cubicBezTo>
                      <a:pt x="139700" y="31273"/>
                      <a:pt x="108427" y="0"/>
                      <a:pt x="69850" y="0"/>
                    </a:cubicBezTo>
                    <a:cubicBezTo>
                      <a:pt x="31273" y="0"/>
                      <a:pt x="0" y="31273"/>
                      <a:pt x="0" y="69850"/>
                    </a:cubicBezTo>
                  </a:path>
                </a:pathLst>
              </a:custGeom>
              <a:noFill/>
              <a:ln w="69850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944100" y="2124075"/>
                <a:ext cx="952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4775">
                    <a:moveTo>
                      <a:pt x="0" y="0"/>
                    </a:moveTo>
                    <a:lnTo>
                      <a:pt x="0" y="104775"/>
                    </a:lnTo>
                  </a:path>
                </a:pathLst>
              </a:custGeom>
              <a:noFill/>
              <a:ln w="69850">
                <a:solidFill>
                  <a:schemeClr val="accent1"/>
                </a:solidFill>
              </a:ln>
            </p:spPr>
          </p:sp>
        </p:grpSp>
        <p:sp>
          <p:nvSpPr>
            <p:cNvPr id="20" name="Ellipse 20"/>
            <p:cNvSpPr/>
            <p:nvPr/>
          </p:nvSpPr>
          <p:spPr>
            <a:xfrm>
              <a:off x="9105900" y="1181100"/>
              <a:ext cx="1676400" cy="1676400"/>
            </a:xfrm>
            <a:prstGeom prst="ellipse">
              <a:avLst/>
            </a:prstGeom>
            <a:noFill/>
            <a:ln w="14288">
              <a:solidFill>
                <a:schemeClr val="accent1"/>
              </a:solidFill>
              <a:custDash>
                <a:ds d="266667" sp="533333"/>
              </a:custDash>
            </a:ln>
          </p:spPr>
        </p:sp>
        <p:sp>
          <p:nvSpPr>
            <p:cNvPr id="21" name="Rectangle 21"/>
            <p:cNvSpPr/>
            <p:nvPr/>
          </p:nvSpPr>
          <p:spPr>
            <a:xfrm>
              <a:off x="9525000" y="3038475"/>
              <a:ext cx="838200" cy="247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352529" y="3054350"/>
              <a:ext cx="11831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7F9F6"/>
                  </a:solidFill>
                  <a:latin typeface="+mn-lt"/>
                  <a:ea typeface="+mn-ea"/>
                  <a:cs typeface="+mn-cs"/>
                </a:rPr>
                <a:t>AGENT GRAPH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43366" y="749300"/>
              <a:ext cx="9291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X 872 / Y 076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43366" y="3625850"/>
              <a:ext cx="16220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evidence / task / trace</a:t>
              </a:r>
            </a:p>
          </p:txBody>
        </p:sp>
      </p:grpSp>
      <p:grpSp>
        <p:nvGrpSpPr>
          <p:cNvPr id="29" name="cover-meta"/>
          <p:cNvGrpSpPr/>
          <p:nvPr/>
        </p:nvGrpSpPr>
        <p:grpSpPr>
          <a:xfrm>
            <a:off x="598170" y="5073650"/>
            <a:ext cx="5474970" cy="1083183"/>
            <a:chOff x="598170" y="5073650"/>
            <a:chExt cx="5474970" cy="1083183"/>
          </a:xfrm>
        </p:grpSpPr>
        <p:sp>
          <p:nvSpPr>
            <p:cNvPr id="26" name="TextBox 26"/>
            <p:cNvSpPr txBox="1"/>
            <p:nvPr/>
          </p:nvSpPr>
          <p:spPr>
            <a:xfrm>
              <a:off x="598170" y="5073650"/>
              <a:ext cx="547497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不是写得更快，而是引得更准、查得到。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0456" y="5556250"/>
              <a:ext cx="46949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软件工程 · 智能软件工程 / 大语言模型应用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2742" y="5892800"/>
              <a:ext cx="33758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开题报告 · 2026 年 10 月 · 项目组待填写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604266" y="6502400"/>
            <a:ext cx="10164318" cy="205359"/>
            <a:chOff x="604266" y="6502400"/>
            <a:chExt cx="10164318" cy="205359"/>
          </a:xfrm>
        </p:grpSpPr>
        <p:sp>
          <p:nvSpPr>
            <p:cNvPr id="30" name="TextBox 30"/>
            <p:cNvSpPr txBox="1"/>
            <p:nvPr/>
          </p:nvSpPr>
          <p:spPr>
            <a:xfrm>
              <a:off x="604266" y="6502400"/>
              <a:ext cx="32829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中国科学技术大学软件学院 · 软件工程实验项目环节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175443" y="6502400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P01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609600" y="1371600"/>
            <a:ext cx="10972800" cy="5029200"/>
          </a:xfrm>
          <a:custGeom>
            <a:avLst/>
            <a:gdLst/>
            <a:ahLst/>
            <a:cxnLst/>
            <a:rect l="l" t="t" r="r" b="b"/>
            <a:pathLst>
              <a:path w="10972800" h="5029200">
                <a:moveTo>
                  <a:pt x="0" y="0"/>
                </a:moveTo>
                <a:lnTo>
                  <a:pt x="10972800" y="0"/>
                </a:lnTo>
                <a:moveTo>
                  <a:pt x="0" y="5029200"/>
                </a:moveTo>
                <a:lnTo>
                  <a:pt x="10972800" y="5029200"/>
                </a:lnTo>
                <a:moveTo>
                  <a:pt x="190500" y="0"/>
                </a:moveTo>
                <a:lnTo>
                  <a:pt x="190500" y="5029200"/>
                </a:lnTo>
                <a:moveTo>
                  <a:pt x="10782300" y="0"/>
                </a:moveTo>
                <a:lnTo>
                  <a:pt x="10782300" y="5029200"/>
                </a:lnTo>
              </a:path>
            </a:pathLst>
          </a:custGeom>
          <a:noFill/>
          <a:ln w="9525">
            <a:solidFill>
              <a:schemeClr val="accent6">
                <a:alpha val="32000"/>
              </a:schemeClr>
            </a:solidFill>
          </a:ln>
        </p:spPr>
      </p:sp>
      <p:grpSp>
        <p:nvGrpSpPr>
          <p:cNvPr id="6" name="page-title"/>
          <p:cNvGrpSpPr/>
          <p:nvPr/>
        </p:nvGrpSpPr>
        <p:grpSpPr>
          <a:xfrm>
            <a:off x="592074" y="387350"/>
            <a:ext cx="6144747" cy="1297051"/>
            <a:chOff x="592074" y="387350"/>
            <a:chExt cx="6144747" cy="1297051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87350"/>
              <a:ext cx="1330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/ 研究背景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074" y="571500"/>
              <a:ext cx="328612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文献越来越多，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2074" y="1009650"/>
              <a:ext cx="614474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综述却仍难“说得准、查得到”</a:t>
              </a:r>
            </a:p>
          </p:txBody>
        </p:sp>
      </p:grpSp>
      <p:grpSp>
        <p:nvGrpSpPr>
          <p:cNvPr id="30" name="pressure-field"/>
          <p:cNvGrpSpPr/>
          <p:nvPr/>
        </p:nvGrpSpPr>
        <p:grpSpPr>
          <a:xfrm>
            <a:off x="609600" y="1676400"/>
            <a:ext cx="4572000" cy="3638550"/>
            <a:chOff x="609600" y="1676400"/>
            <a:chExt cx="4572000" cy="3638550"/>
          </a:xfrm>
        </p:grpSpPr>
        <p:sp>
          <p:nvSpPr>
            <p:cNvPr id="7" name="Rectangle 7"/>
            <p:cNvSpPr/>
            <p:nvPr/>
          </p:nvSpPr>
          <p:spPr>
            <a:xfrm>
              <a:off x="609600" y="1676400"/>
              <a:ext cx="4572000" cy="3638550"/>
            </a:xfrm>
            <a:prstGeom prst="roundRect">
              <a:avLst>
                <a:gd name="adj" fmla="val 314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7542" y="1873250"/>
              <a:ext cx="19507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供给侧 / PRESSURE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2970" y="2216150"/>
              <a:ext cx="36576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论文增长快于个人跟踪能力</a:t>
              </a:r>
            </a:p>
          </p:txBody>
        </p:sp>
        <p:grpSp>
          <p:nvGrpSpPr>
            <p:cNvPr id="15" name="pressure-row-1"/>
            <p:cNvGrpSpPr/>
            <p:nvPr/>
          </p:nvGrpSpPr>
          <p:grpSpPr>
            <a:xfrm>
              <a:off x="957262" y="2889250"/>
              <a:ext cx="3386138" cy="600583"/>
              <a:chOff x="957262" y="2889250"/>
              <a:chExt cx="3386138" cy="600583"/>
            </a:xfrm>
          </p:grpSpPr>
          <p:grpSp>
            <p:nvGrpSpPr>
              <p:cNvPr id="12" name="Group 12"/>
              <p:cNvGrpSpPr/>
              <p:nvPr/>
            </p:nvGrpSpPr>
            <p:grpSpPr>
              <a:xfrm>
                <a:off x="957262" y="2900362"/>
                <a:ext cx="257175" cy="257175"/>
                <a:chOff x="957262" y="2900362"/>
                <a:chExt cx="257175" cy="257175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957262" y="2900362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0" y="100012"/>
                      </a:moveTo>
                      <a:cubicBezTo>
                        <a:pt x="0" y="155248"/>
                        <a:pt x="44777" y="200025"/>
                        <a:pt x="100012" y="200025"/>
                      </a:cubicBezTo>
                      <a:cubicBezTo>
                        <a:pt x="155248" y="200025"/>
                        <a:pt x="200025" y="155248"/>
                        <a:pt x="200025" y="100012"/>
                      </a:cubicBezTo>
                      <a:cubicBezTo>
                        <a:pt x="200025" y="44777"/>
                        <a:pt x="155248" y="0"/>
                        <a:pt x="100012" y="0"/>
                      </a:cubicBezTo>
                      <a:cubicBezTo>
                        <a:pt x="44777" y="0"/>
                        <a:pt x="0" y="44777"/>
                        <a:pt x="0" y="100012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128712" y="3071812"/>
                  <a:ext cx="857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85725">
                      <a:moveTo>
                        <a:pt x="85725" y="857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13" name="TextBox 13"/>
              <p:cNvSpPr txBox="1"/>
              <p:nvPr/>
            </p:nvSpPr>
            <p:spPr>
              <a:xfrm>
                <a:off x="1419606" y="288925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检索分散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421892" y="3225800"/>
                <a:ext cx="292150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跨库、跨年份、跨版本，需反复筛选</a:t>
                </a:r>
              </a:p>
            </p:txBody>
          </p:sp>
        </p:grpSp>
        <p:grpSp>
          <p:nvGrpSpPr>
            <p:cNvPr id="22" name="pressure-row-2"/>
            <p:cNvGrpSpPr/>
            <p:nvPr/>
          </p:nvGrpSpPr>
          <p:grpSpPr>
            <a:xfrm>
              <a:off x="971550" y="3689350"/>
              <a:ext cx="3371850" cy="600583"/>
              <a:chOff x="971550" y="3689350"/>
              <a:chExt cx="3371850" cy="600583"/>
            </a:xfrm>
          </p:grpSpPr>
          <p:grpSp>
            <p:nvGrpSpPr>
              <p:cNvPr id="19" name="Group 19"/>
              <p:cNvGrpSpPr/>
              <p:nvPr/>
            </p:nvGrpSpPr>
            <p:grpSpPr>
              <a:xfrm>
                <a:off x="971550" y="3700462"/>
                <a:ext cx="228600" cy="257176"/>
                <a:chOff x="971550" y="3700462"/>
                <a:chExt cx="228600" cy="257176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971550" y="3700462"/>
                  <a:ext cx="2286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85725">
                      <a:moveTo>
                        <a:pt x="0" y="42862"/>
                      </a:moveTo>
                      <a:cubicBezTo>
                        <a:pt x="0" y="66535"/>
                        <a:pt x="51174" y="85725"/>
                        <a:pt x="114300" y="85725"/>
                      </a:cubicBezTo>
                      <a:cubicBezTo>
                        <a:pt x="177426" y="85725"/>
                        <a:pt x="228600" y="66535"/>
                        <a:pt x="228600" y="42862"/>
                      </a:cubicBezTo>
                      <a:cubicBezTo>
                        <a:pt x="228600" y="19190"/>
                        <a:pt x="177426" y="0"/>
                        <a:pt x="114300" y="0"/>
                      </a:cubicBezTo>
                      <a:cubicBezTo>
                        <a:pt x="51174" y="0"/>
                        <a:pt x="0" y="19190"/>
                        <a:pt x="0" y="42862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971550" y="3743325"/>
                  <a:ext cx="228600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128588">
                      <a:moveTo>
                        <a:pt x="0" y="0"/>
                      </a:moveTo>
                      <a:lnTo>
                        <a:pt x="0" y="85725"/>
                      </a:lnTo>
                      <a:cubicBezTo>
                        <a:pt x="0" y="109397"/>
                        <a:pt x="51174" y="128588"/>
                        <a:pt x="114300" y="128588"/>
                      </a:cubicBezTo>
                      <a:cubicBezTo>
                        <a:pt x="177426" y="128588"/>
                        <a:pt x="228600" y="109397"/>
                        <a:pt x="228600" y="85725"/>
                      </a:cubicBezTo>
                      <a:lnTo>
                        <a:pt x="228600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971550" y="3829050"/>
                  <a:ext cx="228600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128588">
                      <a:moveTo>
                        <a:pt x="0" y="0"/>
                      </a:moveTo>
                      <a:lnTo>
                        <a:pt x="0" y="85725"/>
                      </a:lnTo>
                      <a:cubicBezTo>
                        <a:pt x="0" y="109397"/>
                        <a:pt x="51174" y="128588"/>
                        <a:pt x="114300" y="128588"/>
                      </a:cubicBezTo>
                      <a:cubicBezTo>
                        <a:pt x="177426" y="128588"/>
                        <a:pt x="228600" y="109397"/>
                        <a:pt x="228600" y="85725"/>
                      </a:cubicBezTo>
                      <a:lnTo>
                        <a:pt x="228600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20" name="TextBox 20"/>
              <p:cNvSpPr txBox="1"/>
              <p:nvPr/>
            </p:nvSpPr>
            <p:spPr>
              <a:xfrm>
                <a:off x="1419606" y="368935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全文与元数据不齐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421892" y="4025900"/>
                <a:ext cx="292150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摘要、全文、表格与版本质量不一致</a:t>
                </a:r>
              </a:p>
            </p:txBody>
          </p:sp>
        </p:grpSp>
        <p:grpSp>
          <p:nvGrpSpPr>
            <p:cNvPr id="29" name="pressure-row-3"/>
            <p:cNvGrpSpPr/>
            <p:nvPr/>
          </p:nvGrpSpPr>
          <p:grpSpPr>
            <a:xfrm>
              <a:off x="971548" y="4489450"/>
              <a:ext cx="2826641" cy="600583"/>
              <a:chOff x="971548" y="4489450"/>
              <a:chExt cx="2826641" cy="600583"/>
            </a:xfrm>
          </p:grpSpPr>
          <p:grpSp>
            <p:nvGrpSpPr>
              <p:cNvPr id="26" name="Group 26"/>
              <p:cNvGrpSpPr/>
              <p:nvPr/>
            </p:nvGrpSpPr>
            <p:grpSpPr>
              <a:xfrm>
                <a:off x="971548" y="4507869"/>
                <a:ext cx="235561" cy="242531"/>
                <a:chOff x="971548" y="4507869"/>
                <a:chExt cx="235561" cy="242531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1042988" y="4586288"/>
                  <a:ext cx="857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85725">
                      <a:moveTo>
                        <a:pt x="0" y="85725"/>
                      </a:move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1071562" y="4507869"/>
                  <a:ext cx="135547" cy="1355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547" h="135568">
                      <a:moveTo>
                        <a:pt x="0" y="35556"/>
                      </a:moveTo>
                      <a:lnTo>
                        <a:pt x="6615" y="27898"/>
                      </a:lnTo>
                      <a:cubicBezTo>
                        <a:pt x="34517" y="0"/>
                        <a:pt x="79751" y="3"/>
                        <a:pt x="107649" y="27905"/>
                      </a:cubicBezTo>
                      <a:cubicBezTo>
                        <a:pt x="135547" y="55807"/>
                        <a:pt x="135544" y="101041"/>
                        <a:pt x="107642" y="128939"/>
                      </a:cubicBezTo>
                      <a:lnTo>
                        <a:pt x="100012" y="135568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971548" y="4614862"/>
                  <a:ext cx="128590" cy="135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90" h="135538">
                      <a:moveTo>
                        <a:pt x="128590" y="100012"/>
                      </a:moveTo>
                      <a:lnTo>
                        <a:pt x="122917" y="107642"/>
                      </a:lnTo>
                      <a:cubicBezTo>
                        <a:pt x="94707" y="135538"/>
                        <a:pt x="49301" y="135538"/>
                        <a:pt x="21090" y="107642"/>
                      </a:cubicBezTo>
                      <a:cubicBezTo>
                        <a:pt x="7595" y="94298"/>
                        <a:pt x="0" y="76108"/>
                        <a:pt x="0" y="57129"/>
                      </a:cubicBezTo>
                      <a:cubicBezTo>
                        <a:pt x="0" y="38149"/>
                        <a:pt x="7595" y="19960"/>
                        <a:pt x="21090" y="6615"/>
                      </a:cubicBezTo>
                      <a:lnTo>
                        <a:pt x="28577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1419606" y="448945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引用难核验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421892" y="4826000"/>
                <a:ext cx="23762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结论与原文之间缺少稳定定位</a:t>
                </a:r>
              </a:p>
            </p:txBody>
          </p:sp>
        </p:grpSp>
      </p:grpSp>
      <p:grpSp>
        <p:nvGrpSpPr>
          <p:cNvPr id="41" name="need-field"/>
          <p:cNvGrpSpPr/>
          <p:nvPr/>
        </p:nvGrpSpPr>
        <p:grpSpPr>
          <a:xfrm>
            <a:off x="5486400" y="1676400"/>
            <a:ext cx="6096000" cy="3638550"/>
            <a:chOff x="5486400" y="1676400"/>
            <a:chExt cx="6096000" cy="3638550"/>
          </a:xfrm>
        </p:grpSpPr>
        <p:sp>
          <p:nvSpPr>
            <p:cNvPr id="31" name="Rectangle 31"/>
            <p:cNvSpPr/>
            <p:nvPr/>
          </p:nvSpPr>
          <p:spPr>
            <a:xfrm>
              <a:off x="5486400" y="1676400"/>
              <a:ext cx="6096000" cy="3638550"/>
            </a:xfrm>
            <a:prstGeom prst="roundRect">
              <a:avLst>
                <a:gd name="adj" fmla="val 3141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784342" y="1873250"/>
              <a:ext cx="28259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需求侧 / RESEARCHER NEED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79770" y="2216150"/>
              <a:ext cx="486918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研究者要的是一张可核查的领域地图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5791200" y="280035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solidFill>
              <a:schemeClr val="dk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782056" y="296545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主流程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782056" y="3346450"/>
              <a:ext cx="35561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检索 → 筛选 → 抽取 → 对比 → 写作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784342" y="3816350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人工完成时，真正耗时的不是写，而是整理与核对。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791200" y="4286250"/>
              <a:ext cx="5486400" cy="685800"/>
            </a:xfrm>
            <a:prstGeom prst="roundRect">
              <a:avLst>
                <a:gd name="adj" fmla="val 11111"/>
              </a:avLst>
            </a:prstGeom>
            <a:solidFill>
              <a:srgbClr val="FFF3E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012942" y="44069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关键缺口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10656" y="4641850"/>
              <a:ext cx="42382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引用可追溯 · 观点可比较 · 过程可复现</a:t>
              </a:r>
            </a:p>
          </p:txBody>
        </p:sp>
      </p:grpSp>
      <p:grpSp>
        <p:nvGrpSpPr>
          <p:cNvPr id="43" name="takeaway"/>
          <p:cNvGrpSpPr/>
          <p:nvPr/>
        </p:nvGrpSpPr>
        <p:grpSpPr>
          <a:xfrm>
            <a:off x="598170" y="5607050"/>
            <a:ext cx="5172075" cy="440055"/>
            <a:chOff x="598170" y="5607050"/>
            <a:chExt cx="5172075" cy="440055"/>
          </a:xfrm>
        </p:grpSpPr>
        <p:sp>
          <p:nvSpPr>
            <p:cNvPr id="42" name="TextBox 42"/>
            <p:cNvSpPr txBox="1"/>
            <p:nvPr/>
          </p:nvSpPr>
          <p:spPr>
            <a:xfrm>
              <a:off x="598170" y="5607050"/>
              <a:ext cx="517207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问题的核心是证据链，不是生成速度。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604266" y="6502400"/>
            <a:ext cx="10164318" cy="205359"/>
            <a:chOff x="604266" y="6502400"/>
            <a:chExt cx="10164318" cy="205359"/>
          </a:xfrm>
        </p:grpSpPr>
        <p:sp>
          <p:nvSpPr>
            <p:cNvPr id="44" name="TextBox 44"/>
            <p:cNvSpPr txBox="1"/>
            <p:nvPr/>
          </p:nvSpPr>
          <p:spPr>
            <a:xfrm>
              <a:off x="604266" y="6502400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研究背景 · 从文献压力到证据链问题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175443" y="6502400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P02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609600" y="1371600"/>
            <a:ext cx="10972800" cy="5029200"/>
          </a:xfrm>
          <a:custGeom>
            <a:avLst/>
            <a:gdLst/>
            <a:ahLst/>
            <a:cxnLst/>
            <a:rect l="l" t="t" r="r" b="b"/>
            <a:pathLst>
              <a:path w="10972800" h="5029200">
                <a:moveTo>
                  <a:pt x="0" y="0"/>
                </a:moveTo>
                <a:lnTo>
                  <a:pt x="10972800" y="0"/>
                </a:lnTo>
                <a:moveTo>
                  <a:pt x="0" y="5029200"/>
                </a:moveTo>
                <a:lnTo>
                  <a:pt x="10972800" y="5029200"/>
                </a:lnTo>
                <a:moveTo>
                  <a:pt x="190500" y="0"/>
                </a:moveTo>
                <a:lnTo>
                  <a:pt x="190500" y="5029200"/>
                </a:lnTo>
                <a:moveTo>
                  <a:pt x="10782300" y="0"/>
                </a:moveTo>
                <a:lnTo>
                  <a:pt x="10782300" y="5029200"/>
                </a:lnTo>
              </a:path>
            </a:pathLst>
          </a:custGeom>
          <a:noFill/>
          <a:ln w="9525">
            <a:solidFill>
              <a:schemeClr val="accent6">
                <a:alpha val="32000"/>
              </a:schemeClr>
            </a:solidFill>
          </a:ln>
        </p:spPr>
      </p:sp>
      <p:grpSp>
        <p:nvGrpSpPr>
          <p:cNvPr id="6" name="page-title"/>
          <p:cNvGrpSpPr/>
          <p:nvPr/>
        </p:nvGrpSpPr>
        <p:grpSpPr>
          <a:xfrm>
            <a:off x="592074" y="387350"/>
            <a:ext cx="4751430" cy="1297051"/>
            <a:chOff x="592074" y="387350"/>
            <a:chExt cx="4751430" cy="1297051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87350"/>
              <a:ext cx="1330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/ 核心判断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074" y="571500"/>
              <a:ext cx="475143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把综述从“一次性生成”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2074" y="1009650"/>
              <a:ext cx="475143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改造成“可追溯工作流”</a:t>
              </a:r>
            </a:p>
          </p:txBody>
        </p:sp>
      </p:grpSp>
      <p:grpSp>
        <p:nvGrpSpPr>
          <p:cNvPr id="24" name="before-field"/>
          <p:cNvGrpSpPr/>
          <p:nvPr/>
        </p:nvGrpSpPr>
        <p:grpSpPr>
          <a:xfrm>
            <a:off x="609600" y="1676400"/>
            <a:ext cx="4762500" cy="3619500"/>
            <a:chOff x="609600" y="1676400"/>
            <a:chExt cx="4762500" cy="3619500"/>
          </a:xfrm>
        </p:grpSpPr>
        <p:sp>
          <p:nvSpPr>
            <p:cNvPr id="7" name="Rectangle 7"/>
            <p:cNvSpPr/>
            <p:nvPr/>
          </p:nvSpPr>
          <p:spPr>
            <a:xfrm>
              <a:off x="609600" y="1676400"/>
              <a:ext cx="4762500" cy="3619500"/>
            </a:xfrm>
            <a:prstGeom prst="roundRect">
              <a:avLst>
                <a:gd name="adj" fmla="val 3158"/>
              </a:avLst>
            </a:prstGeom>
            <a:solidFill>
              <a:srgbClr val="F1F3F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7542" y="1873250"/>
              <a:ext cx="22604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BEFORE / ONE-SHOT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2970" y="2178050"/>
              <a:ext cx="21431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一次提示词生成</a:t>
              </a:r>
            </a:p>
          </p:txBody>
        </p:sp>
        <p:grpSp>
          <p:nvGrpSpPr>
            <p:cNvPr id="18" name="before-chain"/>
            <p:cNvGrpSpPr/>
            <p:nvPr/>
          </p:nvGrpSpPr>
          <p:grpSpPr>
            <a:xfrm>
              <a:off x="914400" y="2895600"/>
              <a:ext cx="4152900" cy="533400"/>
              <a:chOff x="914400" y="2895600"/>
              <a:chExt cx="4152900" cy="5334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914400" y="2895600"/>
                <a:ext cx="1143000" cy="533400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297305" y="3054350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主题</a:t>
                </a:r>
              </a:p>
            </p:txBody>
          </p:sp>
          <p:sp>
            <p:nvSpPr>
              <p:cNvPr id="12" name="Line 12"/>
              <p:cNvSpPr/>
              <p:nvPr/>
            </p:nvSpPr>
            <p:spPr>
              <a:xfrm>
                <a:off x="2057400" y="3162300"/>
                <a:ext cx="419100" cy="1"/>
              </a:xfrm>
              <a:prstGeom prst="line">
                <a:avLst/>
              </a:prstGeom>
              <a:noFill/>
              <a:ln w="14288">
                <a:solidFill>
                  <a:srgbClr val="5B6770"/>
                </a:solidFill>
                <a:tailEnd type="triangle" w="lg" len="lg"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2476500" y="2895600"/>
                <a:ext cx="1143000" cy="533400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2863520" y="3054350"/>
                <a:ext cx="3689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LLM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3619500" y="3162300"/>
                <a:ext cx="419100" cy="1"/>
              </a:xfrm>
              <a:prstGeom prst="line">
                <a:avLst/>
              </a:prstGeom>
              <a:noFill/>
              <a:ln w="14288">
                <a:solidFill>
                  <a:srgbClr val="5B6770"/>
                </a:solidFill>
                <a:tailEnd type="triangle" w="lg" len="lg"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4038600" y="2895600"/>
                <a:ext cx="1028700" cy="533400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364355" y="3054350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草稿</a:t>
                </a:r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914400" y="3714750"/>
              <a:ext cx="4152900" cy="9525"/>
            </a:xfrm>
            <a:custGeom>
              <a:avLst/>
              <a:gdLst/>
              <a:ahLst/>
              <a:cxnLst/>
              <a:rect l="l" t="t" r="r" b="b"/>
              <a:pathLst>
                <a:path w="4152900" h="9525">
                  <a:moveTo>
                    <a:pt x="0" y="0"/>
                  </a:moveTo>
                  <a:lnTo>
                    <a:pt x="4152900" y="0"/>
                  </a:lnTo>
                </a:path>
              </a:pathLst>
            </a:custGeom>
            <a:solidFill>
              <a:schemeClr val="dk1"/>
            </a:solidFill>
            <a:ln w="9525">
              <a:solidFill>
                <a:schemeClr val="accent6"/>
              </a:solidFill>
              <a:prstDash val="dash"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5256" y="387985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过程不透明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7542" y="423545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结论从哪来、引用了哪一段，难以回查。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5256" y="464185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引用难核验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7542" y="499745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段落级参考文献不能证明具体声明。</a:t>
              </a:r>
            </a:p>
          </p:txBody>
        </p:sp>
      </p:grpSp>
      <p:grpSp>
        <p:nvGrpSpPr>
          <p:cNvPr id="49" name="after-field"/>
          <p:cNvGrpSpPr/>
          <p:nvPr/>
        </p:nvGrpSpPr>
        <p:grpSpPr>
          <a:xfrm>
            <a:off x="5562600" y="1676400"/>
            <a:ext cx="6019800" cy="3619500"/>
            <a:chOff x="5562600" y="1676400"/>
            <a:chExt cx="6019800" cy="3619500"/>
          </a:xfrm>
        </p:grpSpPr>
        <p:sp>
          <p:nvSpPr>
            <p:cNvPr id="25" name="Rectangle 25"/>
            <p:cNvSpPr/>
            <p:nvPr/>
          </p:nvSpPr>
          <p:spPr>
            <a:xfrm>
              <a:off x="5562600" y="1676400"/>
              <a:ext cx="6019800" cy="3619500"/>
            </a:xfrm>
            <a:prstGeom prst="roundRect">
              <a:avLst>
                <a:gd name="adj" fmla="val 3158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860542" y="1873250"/>
              <a:ext cx="2830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AFTER / TRACEABLE FLOW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855970" y="2178050"/>
              <a:ext cx="335470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六段可检查的证据工作流</a:t>
              </a:r>
            </a:p>
          </p:txBody>
        </p:sp>
        <p:grpSp>
          <p:nvGrpSpPr>
            <p:cNvPr id="36" name="after-chain-1"/>
            <p:cNvGrpSpPr/>
            <p:nvPr/>
          </p:nvGrpSpPr>
          <p:grpSpPr>
            <a:xfrm>
              <a:off x="5867400" y="2857500"/>
              <a:ext cx="5162550" cy="514350"/>
              <a:chOff x="5867400" y="2857500"/>
              <a:chExt cx="5162550" cy="5143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867400" y="2857500"/>
                <a:ext cx="1466850" cy="514350"/>
              </a:xfrm>
              <a:prstGeom prst="roundRect">
                <a:avLst>
                  <a:gd name="adj" fmla="val 14815"/>
                </a:avLst>
              </a:prstGeom>
              <a:solidFill>
                <a:schemeClr val="lt1"/>
              </a:solidFill>
              <a:ln w="9525">
                <a:solidFill>
                  <a:schemeClr val="accent1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412230" y="3006725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规划</a:t>
                </a:r>
              </a:p>
            </p:txBody>
          </p:sp>
          <p:sp>
            <p:nvSpPr>
              <p:cNvPr id="30" name="Line 30"/>
              <p:cNvSpPr/>
              <p:nvPr/>
            </p:nvSpPr>
            <p:spPr>
              <a:xfrm>
                <a:off x="7334250" y="3114675"/>
                <a:ext cx="381000" cy="1"/>
              </a:xfrm>
              <a:prstGeom prst="line">
                <a:avLst/>
              </a:prstGeom>
              <a:noFill/>
              <a:ln w="14288">
                <a:solidFill>
                  <a:schemeClr val="accent1"/>
                </a:solidFill>
                <a:tailEnd type="triangle" w="lg" len="lg"/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7715250" y="2857500"/>
                <a:ext cx="1466850" cy="514350"/>
              </a:xfrm>
              <a:prstGeom prst="roundRect">
                <a:avLst>
                  <a:gd name="adj" fmla="val 14815"/>
                </a:avLst>
              </a:prstGeom>
              <a:solidFill>
                <a:schemeClr val="lt1"/>
              </a:solidFill>
              <a:ln w="9525">
                <a:solidFill>
                  <a:schemeClr val="accent1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260080" y="3006725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检索</a:t>
                </a:r>
              </a:p>
            </p:txBody>
          </p:sp>
          <p:sp>
            <p:nvSpPr>
              <p:cNvPr id="33" name="Line 33"/>
              <p:cNvSpPr/>
              <p:nvPr/>
            </p:nvSpPr>
            <p:spPr>
              <a:xfrm>
                <a:off x="9182100" y="3114675"/>
                <a:ext cx="381000" cy="1"/>
              </a:xfrm>
              <a:prstGeom prst="line">
                <a:avLst/>
              </a:prstGeom>
              <a:noFill/>
              <a:ln w="14288">
                <a:solidFill>
                  <a:schemeClr val="accent1"/>
                </a:solidFill>
                <a:tailEnd type="triangle" w="lg" len="lg"/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9563100" y="2857500"/>
                <a:ext cx="1466850" cy="514350"/>
              </a:xfrm>
              <a:prstGeom prst="roundRect">
                <a:avLst>
                  <a:gd name="adj" fmla="val 14815"/>
                </a:avLst>
              </a:prstGeom>
              <a:solidFill>
                <a:schemeClr val="lt1"/>
              </a:solidFill>
              <a:ln w="9525">
                <a:solidFill>
                  <a:schemeClr val="accent1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0107930" y="3006725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分析</a:t>
                </a:r>
              </a:p>
            </p:txBody>
          </p:sp>
        </p:grpSp>
        <p:grpSp>
          <p:nvGrpSpPr>
            <p:cNvPr id="45" name="after-chain-2"/>
            <p:cNvGrpSpPr/>
            <p:nvPr/>
          </p:nvGrpSpPr>
          <p:grpSpPr>
            <a:xfrm>
              <a:off x="5867400" y="3676650"/>
              <a:ext cx="5162550" cy="514350"/>
              <a:chOff x="5867400" y="3676650"/>
              <a:chExt cx="5162550" cy="51435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5867400" y="3676650"/>
                <a:ext cx="1466850" cy="514350"/>
              </a:xfrm>
              <a:prstGeom prst="roundRect">
                <a:avLst>
                  <a:gd name="adj" fmla="val 14815"/>
                </a:avLst>
              </a:prstGeom>
              <a:solidFill>
                <a:schemeClr val="lt1"/>
              </a:solidFill>
              <a:ln w="9525">
                <a:solidFill>
                  <a:schemeClr val="accent1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6412230" y="3825875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对比</a:t>
                </a:r>
              </a:p>
            </p:txBody>
          </p:sp>
          <p:sp>
            <p:nvSpPr>
              <p:cNvPr id="39" name="Line 39"/>
              <p:cNvSpPr/>
              <p:nvPr/>
            </p:nvSpPr>
            <p:spPr>
              <a:xfrm>
                <a:off x="7334250" y="3933825"/>
                <a:ext cx="381000" cy="1"/>
              </a:xfrm>
              <a:prstGeom prst="line">
                <a:avLst/>
              </a:prstGeom>
              <a:noFill/>
              <a:ln w="14288">
                <a:solidFill>
                  <a:schemeClr val="accent1"/>
                </a:solidFill>
                <a:tailEnd type="triangle" w="lg" len="lg"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7715250" y="3676650"/>
                <a:ext cx="1466850" cy="514350"/>
              </a:xfrm>
              <a:prstGeom prst="roundRect">
                <a:avLst>
                  <a:gd name="adj" fmla="val 14815"/>
                </a:avLst>
              </a:prstGeom>
              <a:solidFill>
                <a:schemeClr val="lt1"/>
              </a:solidFill>
              <a:ln w="9525">
                <a:solidFill>
                  <a:schemeClr val="accent1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8260080" y="3825875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写作</a:t>
                </a:r>
              </a:p>
            </p:txBody>
          </p:sp>
          <p:sp>
            <p:nvSpPr>
              <p:cNvPr id="42" name="Line 42"/>
              <p:cNvSpPr/>
              <p:nvPr/>
            </p:nvSpPr>
            <p:spPr>
              <a:xfrm>
                <a:off x="9182100" y="3933825"/>
                <a:ext cx="381000" cy="1"/>
              </a:xfrm>
              <a:prstGeom prst="line">
                <a:avLst/>
              </a:prstGeom>
              <a:noFill/>
              <a:ln w="14288">
                <a:solidFill>
                  <a:schemeClr val="accent1"/>
                </a:solidFill>
                <a:tailEnd type="triangle" w="lg" len="lg"/>
              </a:ln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9563100" y="3676650"/>
                <a:ext cx="1466850" cy="514350"/>
              </a:xfrm>
              <a:prstGeom prst="roundRect">
                <a:avLst>
                  <a:gd name="adj" fmla="val 14815"/>
                </a:avLst>
              </a:prstGeom>
              <a:solidFill>
                <a:srgbClr val="FFF3E3"/>
              </a:solidFill>
              <a:ln w="9525">
                <a:solidFill>
                  <a:schemeClr val="accent2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0107930" y="3825875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校验</a:t>
                </a:r>
              </a:p>
            </p:txBody>
          </p:sp>
        </p:grpSp>
        <p:sp>
          <p:nvSpPr>
            <p:cNvPr id="46" name="TextBox 46"/>
            <p:cNvSpPr txBox="1"/>
            <p:nvPr/>
          </p:nvSpPr>
          <p:spPr>
            <a:xfrm>
              <a:off x="5860542" y="4502150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每一步都有输入、产物、证据与失败处理。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867400" y="4876800"/>
              <a:ext cx="51625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31948" y="4940300"/>
              <a:ext cx="26334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7F9F6"/>
                  </a:solidFill>
                  <a:latin typeface="+mn-lt"/>
                  <a:ea typeface="+mn-ea"/>
                  <a:cs typeface="+mn-cs"/>
                </a:rPr>
                <a:t>目标：可交互 · 可追溯 · 可复现</a:t>
              </a:r>
            </a:p>
          </p:txBody>
        </p:sp>
      </p:grpSp>
      <p:grpSp>
        <p:nvGrpSpPr>
          <p:cNvPr id="51" name="equation"/>
          <p:cNvGrpSpPr/>
          <p:nvPr/>
        </p:nvGrpSpPr>
        <p:grpSpPr>
          <a:xfrm>
            <a:off x="598170" y="5626100"/>
            <a:ext cx="4149047" cy="440055"/>
            <a:chOff x="598170" y="5626100"/>
            <a:chExt cx="4149047" cy="440055"/>
          </a:xfrm>
        </p:grpSpPr>
        <p:sp>
          <p:nvSpPr>
            <p:cNvPr id="50" name="TextBox 50"/>
            <p:cNvSpPr txBox="1"/>
            <p:nvPr/>
          </p:nvSpPr>
          <p:spPr>
            <a:xfrm>
              <a:off x="598170" y="5626100"/>
              <a:ext cx="414904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综述 = 任务图 × 证据链 × 验证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604266" y="6502400"/>
            <a:ext cx="10164318" cy="205359"/>
            <a:chOff x="604266" y="6502400"/>
            <a:chExt cx="10164318" cy="205359"/>
          </a:xfrm>
        </p:grpSpPr>
        <p:sp>
          <p:nvSpPr>
            <p:cNvPr id="52" name="TextBox 52"/>
            <p:cNvSpPr txBox="1"/>
            <p:nvPr/>
          </p:nvSpPr>
          <p:spPr>
            <a:xfrm>
              <a:off x="604266" y="6502400"/>
              <a:ext cx="20107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核心判断 · 工作流而非单次生成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175443" y="6502400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P03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609600" y="1371600"/>
            <a:ext cx="10972800" cy="5029200"/>
          </a:xfrm>
          <a:custGeom>
            <a:avLst/>
            <a:gdLst/>
            <a:ahLst/>
            <a:cxnLst/>
            <a:rect l="l" t="t" r="r" b="b"/>
            <a:pathLst>
              <a:path w="10972800" h="5029200">
                <a:moveTo>
                  <a:pt x="0" y="0"/>
                </a:moveTo>
                <a:lnTo>
                  <a:pt x="10972800" y="0"/>
                </a:lnTo>
                <a:moveTo>
                  <a:pt x="0" y="5029200"/>
                </a:moveTo>
                <a:lnTo>
                  <a:pt x="10972800" y="5029200"/>
                </a:lnTo>
                <a:moveTo>
                  <a:pt x="190500" y="0"/>
                </a:moveTo>
                <a:lnTo>
                  <a:pt x="190500" y="5029200"/>
                </a:lnTo>
                <a:moveTo>
                  <a:pt x="10782300" y="0"/>
                </a:moveTo>
                <a:lnTo>
                  <a:pt x="10782300" y="5029200"/>
                </a:lnTo>
              </a:path>
            </a:pathLst>
          </a:custGeom>
          <a:noFill/>
          <a:ln w="9525">
            <a:solidFill>
              <a:schemeClr val="accent6">
                <a:alpha val="32000"/>
              </a:schemeClr>
            </a:solidFill>
          </a:ln>
        </p:spPr>
      </p:sp>
      <p:grpSp>
        <p:nvGrpSpPr>
          <p:cNvPr id="6" name="page-title"/>
          <p:cNvGrpSpPr/>
          <p:nvPr/>
        </p:nvGrpSpPr>
        <p:grpSpPr>
          <a:xfrm>
            <a:off x="592074" y="387350"/>
            <a:ext cx="4679442" cy="1297051"/>
            <a:chOff x="592074" y="387350"/>
            <a:chExt cx="4679442" cy="1297051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87350"/>
              <a:ext cx="1532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 / 现状与缺口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074" y="571500"/>
              <a:ext cx="4679442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三条研究线各有进展，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2074" y="1009650"/>
              <a:ext cx="421500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但都留下同一个缺口</a:t>
              </a:r>
            </a:p>
          </p:txBody>
        </p:sp>
      </p:grpSp>
      <p:grpSp>
        <p:nvGrpSpPr>
          <p:cNvPr id="22" name="line-rag"/>
          <p:cNvGrpSpPr/>
          <p:nvPr/>
        </p:nvGrpSpPr>
        <p:grpSpPr>
          <a:xfrm>
            <a:off x="609600" y="1676400"/>
            <a:ext cx="3505200" cy="3714750"/>
            <a:chOff x="609600" y="1676400"/>
            <a:chExt cx="3505200" cy="3714750"/>
          </a:xfrm>
        </p:grpSpPr>
        <p:sp>
          <p:nvSpPr>
            <p:cNvPr id="7" name="Rectangle 7"/>
            <p:cNvSpPr/>
            <p:nvPr/>
          </p:nvSpPr>
          <p:spPr>
            <a:xfrm>
              <a:off x="609600" y="1676400"/>
              <a:ext cx="3505200" cy="3714750"/>
            </a:xfrm>
            <a:prstGeom prst="roundRect">
              <a:avLst>
                <a:gd name="adj" fmla="val 326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7542" y="1873250"/>
              <a:ext cx="8171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LINE 01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984250" y="2357437"/>
              <a:ext cx="279399" cy="314325"/>
              <a:chOff x="984250" y="2357437"/>
              <a:chExt cx="279399" cy="31432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84250" y="2357437"/>
                <a:ext cx="279399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279399" h="104775">
                    <a:moveTo>
                      <a:pt x="0" y="52387"/>
                    </a:moveTo>
                    <a:cubicBezTo>
                      <a:pt x="0" y="81320"/>
                      <a:pt x="62546" y="104775"/>
                      <a:pt x="139700" y="104775"/>
                    </a:cubicBezTo>
                    <a:cubicBezTo>
                      <a:pt x="216854" y="104775"/>
                      <a:pt x="279399" y="81320"/>
                      <a:pt x="279399" y="52387"/>
                    </a:cubicBezTo>
                    <a:cubicBezTo>
                      <a:pt x="279399" y="23455"/>
                      <a:pt x="216854" y="0"/>
                      <a:pt x="139700" y="0"/>
                    </a:cubicBezTo>
                    <a:cubicBezTo>
                      <a:pt x="62546" y="0"/>
                      <a:pt x="0" y="23455"/>
                      <a:pt x="0" y="52387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84250" y="2409825"/>
                <a:ext cx="279399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279399" h="157162">
                    <a:moveTo>
                      <a:pt x="0" y="0"/>
                    </a:moveTo>
                    <a:lnTo>
                      <a:pt x="0" y="104775"/>
                    </a:lnTo>
                    <a:cubicBezTo>
                      <a:pt x="0" y="133708"/>
                      <a:pt x="62546" y="157162"/>
                      <a:pt x="139700" y="157162"/>
                    </a:cubicBezTo>
                    <a:cubicBezTo>
                      <a:pt x="216854" y="157162"/>
                      <a:pt x="279399" y="133708"/>
                      <a:pt x="279399" y="104775"/>
                    </a:cubicBezTo>
                    <a:lnTo>
                      <a:pt x="279399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84250" y="2514600"/>
                <a:ext cx="279399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279399" h="157162">
                    <a:moveTo>
                      <a:pt x="0" y="0"/>
                    </a:moveTo>
                    <a:lnTo>
                      <a:pt x="0" y="104775"/>
                    </a:lnTo>
                    <a:cubicBezTo>
                      <a:pt x="0" y="133708"/>
                      <a:pt x="62546" y="157162"/>
                      <a:pt x="139700" y="157162"/>
                    </a:cubicBezTo>
                    <a:cubicBezTo>
                      <a:pt x="216854" y="157162"/>
                      <a:pt x="279399" y="133708"/>
                      <a:pt x="279399" y="104775"/>
                    </a:cubicBezTo>
                    <a:lnTo>
                      <a:pt x="279399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902970" y="2787650"/>
              <a:ext cx="57732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RAG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7542" y="32258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7542" y="349250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引入外部证据，降低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7542" y="374015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模型记忆依赖。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914400" y="409575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solidFill>
              <a:schemeClr val="dk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7542" y="419735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局限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7542" y="4445000"/>
              <a:ext cx="1567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引用常停留在段落/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7542" y="469265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文献级，难以证明具体声明。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7542" y="5016500"/>
              <a:ext cx="18038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 需要细粒度证据定位</a:t>
              </a:r>
            </a:p>
          </p:txBody>
        </p:sp>
      </p:grpSp>
      <p:grpSp>
        <p:nvGrpSpPr>
          <p:cNvPr id="44" name="line-agent"/>
          <p:cNvGrpSpPr/>
          <p:nvPr/>
        </p:nvGrpSpPr>
        <p:grpSpPr>
          <a:xfrm>
            <a:off x="4343400" y="1676400"/>
            <a:ext cx="3505200" cy="3714750"/>
            <a:chOff x="4343400" y="1676400"/>
            <a:chExt cx="3505200" cy="3714750"/>
          </a:xfrm>
        </p:grpSpPr>
        <p:sp>
          <p:nvSpPr>
            <p:cNvPr id="23" name="Rectangle 23"/>
            <p:cNvSpPr/>
            <p:nvPr/>
          </p:nvSpPr>
          <p:spPr>
            <a:xfrm>
              <a:off x="4343400" y="1676400"/>
              <a:ext cx="3505200" cy="3714750"/>
            </a:xfrm>
            <a:prstGeom prst="roundRect">
              <a:avLst>
                <a:gd name="adj" fmla="val 326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641342" y="1873250"/>
              <a:ext cx="8171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LINE 02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4735512" y="2339975"/>
              <a:ext cx="244475" cy="331787"/>
              <a:chOff x="4735512" y="2339975"/>
              <a:chExt cx="244475" cy="331787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4752975" y="2374900"/>
                <a:ext cx="20955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39700">
                    <a:moveTo>
                      <a:pt x="0" y="34925"/>
                    </a:moveTo>
                    <a:cubicBezTo>
                      <a:pt x="0" y="15636"/>
                      <a:pt x="15636" y="0"/>
                      <a:pt x="34925" y="0"/>
                    </a:cubicBezTo>
                    <a:lnTo>
                      <a:pt x="174625" y="0"/>
                    </a:lnTo>
                    <a:cubicBezTo>
                      <a:pt x="193913" y="0"/>
                      <a:pt x="209550" y="15636"/>
                      <a:pt x="209550" y="34925"/>
                    </a:cubicBezTo>
                    <a:lnTo>
                      <a:pt x="209550" y="104775"/>
                    </a:lnTo>
                    <a:cubicBezTo>
                      <a:pt x="209550" y="124063"/>
                      <a:pt x="193913" y="139700"/>
                      <a:pt x="174625" y="139700"/>
                    </a:cubicBezTo>
                    <a:lnTo>
                      <a:pt x="34925" y="139700"/>
                    </a:lnTo>
                    <a:cubicBezTo>
                      <a:pt x="15636" y="139700"/>
                      <a:pt x="0" y="124063"/>
                      <a:pt x="0" y="104775"/>
                    </a:cubicBezTo>
                    <a:lnTo>
                      <a:pt x="0" y="34925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857750" y="2339975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4805362" y="2514600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910137" y="2514600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735512" y="2549525"/>
                <a:ext cx="69850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34925">
                    <a:moveTo>
                      <a:pt x="0" y="34925"/>
                    </a:moveTo>
                    <a:lnTo>
                      <a:pt x="69850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910137" y="2549525"/>
                <a:ext cx="69850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34925">
                    <a:moveTo>
                      <a:pt x="0" y="0"/>
                    </a:moveTo>
                    <a:lnTo>
                      <a:pt x="69850" y="34925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805362" y="2619374"/>
                <a:ext cx="104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9525">
                    <a:moveTo>
                      <a:pt x="0" y="0"/>
                    </a:move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4822825" y="2444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4892675" y="2444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4636770" y="2787650"/>
              <a:ext cx="18722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Multi-Agent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41342" y="32258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能力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41342" y="349250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角色分工、工具调用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41342" y="37401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与流程协作。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4648200" y="409575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solidFill>
              <a:schemeClr val="dk1"/>
            </a:solidFill>
            <a:ln w="9525">
              <a:solidFill>
                <a:schemeClr val="accent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641342" y="419735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局限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641342" y="444500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自由对话易造成上下文膨胀、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641342" y="469265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职责漂移与错误级联。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641342" y="5016500"/>
              <a:ext cx="23490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 需要任务契约与结构化产物</a:t>
              </a:r>
            </a:p>
          </p:txBody>
        </p:sp>
      </p:grpSp>
      <p:grpSp>
        <p:nvGrpSpPr>
          <p:cNvPr id="62" name="line-survey"/>
          <p:cNvGrpSpPr/>
          <p:nvPr/>
        </p:nvGrpSpPr>
        <p:grpSpPr>
          <a:xfrm>
            <a:off x="8077200" y="1676400"/>
            <a:ext cx="3505200" cy="3714750"/>
            <a:chOff x="8077200" y="1676400"/>
            <a:chExt cx="3505200" cy="3714750"/>
          </a:xfrm>
        </p:grpSpPr>
        <p:sp>
          <p:nvSpPr>
            <p:cNvPr id="45" name="Rectangle 45"/>
            <p:cNvSpPr/>
            <p:nvPr/>
          </p:nvSpPr>
          <p:spPr>
            <a:xfrm>
              <a:off x="8077200" y="1676400"/>
              <a:ext cx="3505200" cy="3714750"/>
            </a:xfrm>
            <a:prstGeom prst="roundRect">
              <a:avLst>
                <a:gd name="adj" fmla="val 326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375142" y="1873250"/>
              <a:ext cx="8171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LINE 03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8469312" y="2357437"/>
              <a:ext cx="244475" cy="314324"/>
              <a:chOff x="8469312" y="2357437"/>
              <a:chExt cx="244475" cy="314324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8626475" y="2357437"/>
                <a:ext cx="87312" cy="87312"/>
              </a:xfrm>
              <a:custGeom>
                <a:avLst/>
                <a:gdLst/>
                <a:ahLst/>
                <a:cxnLst/>
                <a:rect l="l" t="t" r="r" b="b"/>
                <a:pathLst>
                  <a:path w="87312" h="87312">
                    <a:moveTo>
                      <a:pt x="0" y="0"/>
                    </a:moveTo>
                    <a:lnTo>
                      <a:pt x="0" y="69850"/>
                    </a:lnTo>
                    <a:cubicBezTo>
                      <a:pt x="0" y="79494"/>
                      <a:pt x="7818" y="87312"/>
                      <a:pt x="17462" y="87312"/>
                    </a:cubicBezTo>
                    <a:lnTo>
                      <a:pt x="87312" y="87312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469312" y="2357437"/>
                <a:ext cx="244475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244475" h="314324">
                    <a:moveTo>
                      <a:pt x="209550" y="314324"/>
                    </a:moveTo>
                    <a:lnTo>
                      <a:pt x="34925" y="314324"/>
                    </a:lnTo>
                    <a:cubicBezTo>
                      <a:pt x="15636" y="314324"/>
                      <a:pt x="0" y="298688"/>
                      <a:pt x="0" y="279399"/>
                    </a:cubicBezTo>
                    <a:lnTo>
                      <a:pt x="0" y="34925"/>
                    </a:lnTo>
                    <a:cubicBezTo>
                      <a:pt x="0" y="15636"/>
                      <a:pt x="15636" y="0"/>
                      <a:pt x="34925" y="0"/>
                    </a:cubicBezTo>
                    <a:lnTo>
                      <a:pt x="157162" y="0"/>
                    </a:lnTo>
                    <a:lnTo>
                      <a:pt x="244475" y="87312"/>
                    </a:lnTo>
                    <a:lnTo>
                      <a:pt x="244475" y="279399"/>
                    </a:lnTo>
                    <a:cubicBezTo>
                      <a:pt x="244475" y="298688"/>
                      <a:pt x="228838" y="314324"/>
                      <a:pt x="209550" y="314324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539162" y="2462212"/>
                <a:ext cx="174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462" h="9525">
                    <a:moveTo>
                      <a:pt x="0" y="0"/>
                    </a:moveTo>
                    <a:lnTo>
                      <a:pt x="17462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539162" y="2532062"/>
                <a:ext cx="104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9525">
                    <a:moveTo>
                      <a:pt x="0" y="0"/>
                    </a:move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539162" y="2601912"/>
                <a:ext cx="104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9525">
                    <a:moveTo>
                      <a:pt x="0" y="0"/>
                    </a:move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8370570" y="2787650"/>
              <a:ext cx="196878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Auto-Survey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75142" y="32258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能力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75142" y="349250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覆盖检索、组织、生成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75142" y="374015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与修订的端到端流程。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8382000" y="409575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solidFill>
              <a:schemeClr val="dk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375142" y="419735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局限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375142" y="444500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跨领域评测、冲突处理与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375142" y="469265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工程闭环仍不充分。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375142" y="5016500"/>
              <a:ext cx="21672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 需要可复现的系统与评测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609600" y="5581650"/>
            <a:ext cx="10972800" cy="552450"/>
            <a:chOff x="609600" y="5581650"/>
            <a:chExt cx="10972800" cy="552450"/>
          </a:xfrm>
        </p:grpSpPr>
        <p:sp>
          <p:nvSpPr>
            <p:cNvPr id="63" name="Rectangle 63"/>
            <p:cNvSpPr/>
            <p:nvPr/>
          </p:nvSpPr>
          <p:spPr>
            <a:xfrm>
              <a:off x="609600" y="5581650"/>
              <a:ext cx="10972800" cy="552450"/>
            </a:xfrm>
            <a:prstGeom prst="roundRect">
              <a:avLst>
                <a:gd name="adj" fmla="val 13793"/>
              </a:avLst>
            </a:prstGeom>
            <a:solidFill>
              <a:srgbClr val="FFF3E3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29056" y="5718175"/>
              <a:ext cx="78045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本项目切口：claim–evidence–locator + 任务 DAG + 可复现 Web 原型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604266" y="6502400"/>
            <a:ext cx="10164318" cy="205359"/>
            <a:chOff x="604266" y="6502400"/>
            <a:chExt cx="10164318" cy="205359"/>
          </a:xfrm>
        </p:grpSpPr>
        <p:sp>
          <p:nvSpPr>
            <p:cNvPr id="66" name="TextBox 66"/>
            <p:cNvSpPr txBox="1"/>
            <p:nvPr/>
          </p:nvSpPr>
          <p:spPr>
            <a:xfrm>
              <a:off x="604266" y="6502400"/>
              <a:ext cx="27175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现状与缺口 · 三条研究线指向同一工程空白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175443" y="6502400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P04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609600" y="1371600"/>
            <a:ext cx="10972800" cy="5029200"/>
          </a:xfrm>
          <a:custGeom>
            <a:avLst/>
            <a:gdLst/>
            <a:ahLst/>
            <a:cxnLst/>
            <a:rect l="l" t="t" r="r" b="b"/>
            <a:pathLst>
              <a:path w="10972800" h="5029200">
                <a:moveTo>
                  <a:pt x="0" y="0"/>
                </a:moveTo>
                <a:lnTo>
                  <a:pt x="10972800" y="0"/>
                </a:lnTo>
                <a:moveTo>
                  <a:pt x="0" y="5029200"/>
                </a:moveTo>
                <a:lnTo>
                  <a:pt x="10972800" y="5029200"/>
                </a:lnTo>
                <a:moveTo>
                  <a:pt x="190500" y="0"/>
                </a:moveTo>
                <a:lnTo>
                  <a:pt x="190500" y="5029200"/>
                </a:lnTo>
                <a:moveTo>
                  <a:pt x="10782300" y="0"/>
                </a:moveTo>
                <a:lnTo>
                  <a:pt x="10782300" y="5029200"/>
                </a:lnTo>
              </a:path>
            </a:pathLst>
          </a:custGeom>
          <a:noFill/>
          <a:ln w="9525">
            <a:solidFill>
              <a:schemeClr val="accent6">
                <a:alpha val="32000"/>
              </a:schemeClr>
            </a:solidFill>
          </a:ln>
        </p:spPr>
      </p:sp>
      <p:grpSp>
        <p:nvGrpSpPr>
          <p:cNvPr id="6" name="page-title"/>
          <p:cNvGrpSpPr/>
          <p:nvPr/>
        </p:nvGrpSpPr>
        <p:grpSpPr>
          <a:xfrm>
            <a:off x="592074" y="387350"/>
            <a:ext cx="5143881" cy="1297051"/>
            <a:chOff x="592074" y="387350"/>
            <a:chExt cx="5143881" cy="1297051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87350"/>
              <a:ext cx="1330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05 / 总体方案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074" y="571500"/>
              <a:ext cx="235724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三层协作：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2074" y="1009650"/>
              <a:ext cx="5143881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智能体、证据与应用闭环</a:t>
              </a:r>
            </a:p>
          </p:txBody>
        </p:sp>
      </p:grpSp>
      <p:grpSp>
        <p:nvGrpSpPr>
          <p:cNvPr id="55" name="architecture"/>
          <p:cNvGrpSpPr/>
          <p:nvPr/>
        </p:nvGrpSpPr>
        <p:grpSpPr>
          <a:xfrm>
            <a:off x="609600" y="1676400"/>
            <a:ext cx="7239000" cy="4002659"/>
            <a:chOff x="609600" y="1676400"/>
            <a:chExt cx="7239000" cy="4002659"/>
          </a:xfrm>
        </p:grpSpPr>
        <p:sp>
          <p:nvSpPr>
            <p:cNvPr id="7" name="Rectangle 7"/>
            <p:cNvSpPr/>
            <p:nvPr/>
          </p:nvSpPr>
          <p:spPr>
            <a:xfrm>
              <a:off x="609600" y="1676400"/>
              <a:ext cx="7239000" cy="4000500"/>
            </a:xfrm>
            <a:prstGeom prst="roundRect">
              <a:avLst>
                <a:gd name="adj" fmla="val 28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7542" y="1835150"/>
              <a:ext cx="2657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SYSTEM CROSS-SECTION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14400" y="2190750"/>
              <a:ext cx="6629400" cy="781050"/>
            </a:xfrm>
            <a:prstGeom prst="roundRect">
              <a:avLst>
                <a:gd name="adj" fmla="val 9756"/>
              </a:avLst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52906" y="2279650"/>
              <a:ext cx="30706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应用层 / WEB PROTOTYPE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55192" y="2616200"/>
              <a:ext cx="40937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主题配置 · 进度监控 · 证据面板 · 报告编辑与导出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6908800" y="2413000"/>
              <a:ext cx="279400" cy="279400"/>
              <a:chOff x="6908800" y="2413000"/>
              <a:chExt cx="279400" cy="2794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6908800" y="2413000"/>
                <a:ext cx="104775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39700">
                    <a:moveTo>
                      <a:pt x="17462" y="0"/>
                    </a:moveTo>
                    <a:lnTo>
                      <a:pt x="87312" y="0"/>
                    </a:lnTo>
                    <a:cubicBezTo>
                      <a:pt x="96957" y="0"/>
                      <a:pt x="104775" y="7818"/>
                      <a:pt x="104775" y="17462"/>
                    </a:cubicBezTo>
                    <a:lnTo>
                      <a:pt x="104775" y="122237"/>
                    </a:lnTo>
                    <a:cubicBezTo>
                      <a:pt x="104775" y="131882"/>
                      <a:pt x="96957" y="139700"/>
                      <a:pt x="87312" y="139700"/>
                    </a:cubicBezTo>
                    <a:lnTo>
                      <a:pt x="17462" y="139700"/>
                    </a:lnTo>
                    <a:cubicBezTo>
                      <a:pt x="7818" y="139700"/>
                      <a:pt x="0" y="131882"/>
                      <a:pt x="0" y="122237"/>
                    </a:cubicBezTo>
                    <a:lnTo>
                      <a:pt x="0" y="17462"/>
                    </a:lnTo>
                    <a:cubicBezTo>
                      <a:pt x="0" y="7818"/>
                      <a:pt x="7818" y="0"/>
                      <a:pt x="17462" y="0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908800" y="2622549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17462" y="0"/>
                    </a:moveTo>
                    <a:lnTo>
                      <a:pt x="87312" y="0"/>
                    </a:lnTo>
                    <a:cubicBezTo>
                      <a:pt x="96957" y="0"/>
                      <a:pt x="104775" y="7818"/>
                      <a:pt x="104775" y="17462"/>
                    </a:cubicBezTo>
                    <a:lnTo>
                      <a:pt x="104775" y="52387"/>
                    </a:lnTo>
                    <a:cubicBezTo>
                      <a:pt x="104775" y="62032"/>
                      <a:pt x="96957" y="69850"/>
                      <a:pt x="87312" y="69850"/>
                    </a:cubicBezTo>
                    <a:lnTo>
                      <a:pt x="17462" y="69850"/>
                    </a:lnTo>
                    <a:cubicBezTo>
                      <a:pt x="7818" y="69850"/>
                      <a:pt x="0" y="62032"/>
                      <a:pt x="0" y="52387"/>
                    </a:cubicBezTo>
                    <a:lnTo>
                      <a:pt x="0" y="17462"/>
                    </a:lnTo>
                    <a:cubicBezTo>
                      <a:pt x="0" y="7818"/>
                      <a:pt x="7818" y="0"/>
                      <a:pt x="17462" y="0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083425" y="2552700"/>
                <a:ext cx="104775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39700">
                    <a:moveTo>
                      <a:pt x="17462" y="0"/>
                    </a:moveTo>
                    <a:lnTo>
                      <a:pt x="87312" y="0"/>
                    </a:lnTo>
                    <a:cubicBezTo>
                      <a:pt x="96957" y="0"/>
                      <a:pt x="104775" y="7818"/>
                      <a:pt x="104775" y="17462"/>
                    </a:cubicBezTo>
                    <a:lnTo>
                      <a:pt x="104775" y="122237"/>
                    </a:lnTo>
                    <a:cubicBezTo>
                      <a:pt x="104775" y="131882"/>
                      <a:pt x="96957" y="139700"/>
                      <a:pt x="87312" y="139700"/>
                    </a:cubicBezTo>
                    <a:lnTo>
                      <a:pt x="17462" y="139700"/>
                    </a:lnTo>
                    <a:cubicBezTo>
                      <a:pt x="7818" y="139700"/>
                      <a:pt x="0" y="131882"/>
                      <a:pt x="0" y="122237"/>
                    </a:cubicBezTo>
                    <a:lnTo>
                      <a:pt x="0" y="17462"/>
                    </a:lnTo>
                    <a:cubicBezTo>
                      <a:pt x="0" y="7818"/>
                      <a:pt x="7818" y="0"/>
                      <a:pt x="17462" y="0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083425" y="2413000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17462" y="0"/>
                    </a:moveTo>
                    <a:lnTo>
                      <a:pt x="87312" y="0"/>
                    </a:lnTo>
                    <a:cubicBezTo>
                      <a:pt x="96957" y="0"/>
                      <a:pt x="104775" y="7818"/>
                      <a:pt x="104775" y="17462"/>
                    </a:cubicBezTo>
                    <a:lnTo>
                      <a:pt x="104775" y="52387"/>
                    </a:lnTo>
                    <a:cubicBezTo>
                      <a:pt x="104775" y="62032"/>
                      <a:pt x="96957" y="69850"/>
                      <a:pt x="87312" y="69850"/>
                    </a:cubicBezTo>
                    <a:lnTo>
                      <a:pt x="17462" y="69850"/>
                    </a:lnTo>
                    <a:cubicBezTo>
                      <a:pt x="7818" y="69850"/>
                      <a:pt x="0" y="62032"/>
                      <a:pt x="0" y="52387"/>
                    </a:cubicBezTo>
                    <a:lnTo>
                      <a:pt x="0" y="17462"/>
                    </a:lnTo>
                    <a:cubicBezTo>
                      <a:pt x="0" y="7818"/>
                      <a:pt x="7818" y="0"/>
                      <a:pt x="17462" y="0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17" name="Line 17"/>
            <p:cNvSpPr/>
            <p:nvPr/>
          </p:nvSpPr>
          <p:spPr>
            <a:xfrm>
              <a:off x="4229100" y="2971800"/>
              <a:ext cx="1" cy="304800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8" name="Line 18"/>
            <p:cNvSpPr/>
            <p:nvPr/>
          </p:nvSpPr>
          <p:spPr>
            <a:xfrm flipV="1">
              <a:off x="4381500" y="2971800"/>
              <a:ext cx="1" cy="304800"/>
            </a:xfrm>
            <a:prstGeom prst="line">
              <a:avLst/>
            </a:prstGeom>
            <a:noFill/>
            <a:ln w="14288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9" name="Rectangle 19"/>
            <p:cNvSpPr/>
            <p:nvPr/>
          </p:nvSpPr>
          <p:spPr>
            <a:xfrm>
              <a:off x="914400" y="3181350"/>
              <a:ext cx="6629400" cy="914400"/>
            </a:xfrm>
            <a:prstGeom prst="roundRect">
              <a:avLst>
                <a:gd name="adj" fmla="val 8333"/>
              </a:avLst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52906" y="3270250"/>
              <a:ext cx="34201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协作层 / CREWAI TASK GRAPH</a:t>
              </a:r>
            </a:p>
          </p:txBody>
        </p:sp>
        <p:grpSp>
          <p:nvGrpSpPr>
            <p:cNvPr id="33" name="agents-inline"/>
            <p:cNvGrpSpPr/>
            <p:nvPr/>
          </p:nvGrpSpPr>
          <p:grpSpPr>
            <a:xfrm>
              <a:off x="1162050" y="3638550"/>
              <a:ext cx="5829300" cy="285750"/>
              <a:chOff x="1162050" y="3638550"/>
              <a:chExt cx="5829300" cy="2857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1162050" y="3638550"/>
                <a:ext cx="87630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453515" y="3711575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协调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2152650" y="3638550"/>
                <a:ext cx="87630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2444115" y="3711575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检索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3143250" y="3638550"/>
                <a:ext cx="87630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3434715" y="3711575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分析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4133850" y="3638550"/>
                <a:ext cx="87630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4425315" y="3711575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对比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5124450" y="3638550"/>
                <a:ext cx="87630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5415915" y="3711575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撰写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6115050" y="3638550"/>
                <a:ext cx="87630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FFF3E3"/>
              </a:solidFill>
              <a:ln w="9525">
                <a:solidFill>
                  <a:schemeClr val="accent2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6406515" y="3711575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校验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6891337" y="3386137"/>
              <a:ext cx="314325" cy="331787"/>
              <a:chOff x="6891337" y="3386137"/>
              <a:chExt cx="314325" cy="331787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943725" y="3386137"/>
                <a:ext cx="2095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09550">
                    <a:moveTo>
                      <a:pt x="0" y="104775"/>
                    </a:moveTo>
                    <a:cubicBezTo>
                      <a:pt x="0" y="162640"/>
                      <a:pt x="46909" y="209550"/>
                      <a:pt x="104775" y="209550"/>
                    </a:cubicBezTo>
                    <a:cubicBezTo>
                      <a:pt x="162640" y="209550"/>
                      <a:pt x="209550" y="162640"/>
                      <a:pt x="209550" y="104775"/>
                    </a:cubicBezTo>
                    <a:cubicBezTo>
                      <a:pt x="209550" y="46909"/>
                      <a:pt x="162640" y="0"/>
                      <a:pt x="104775" y="0"/>
                    </a:cubicBezTo>
                    <a:cubicBezTo>
                      <a:pt x="46909" y="0"/>
                      <a:pt x="0" y="46909"/>
                      <a:pt x="0" y="104775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048500" y="3386137"/>
                <a:ext cx="3492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209550">
                    <a:moveTo>
                      <a:pt x="0" y="0"/>
                    </a:moveTo>
                    <a:cubicBezTo>
                      <a:pt x="23277" y="5815"/>
                      <a:pt x="34925" y="40740"/>
                      <a:pt x="34925" y="104775"/>
                    </a:cubicBezTo>
                    <a:cubicBezTo>
                      <a:pt x="34925" y="168810"/>
                      <a:pt x="23277" y="203735"/>
                      <a:pt x="0" y="209550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013575" y="3386137"/>
                <a:ext cx="3492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209550">
                    <a:moveTo>
                      <a:pt x="34925" y="0"/>
                    </a:moveTo>
                    <a:cubicBezTo>
                      <a:pt x="11647" y="5815"/>
                      <a:pt x="0" y="40740"/>
                      <a:pt x="0" y="104775"/>
                    </a:cubicBezTo>
                    <a:cubicBezTo>
                      <a:pt x="0" y="168810"/>
                      <a:pt x="11647" y="203735"/>
                      <a:pt x="34925" y="209550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943725" y="3490912"/>
                <a:ext cx="209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9525">
                    <a:moveTo>
                      <a:pt x="0" y="0"/>
                    </a:moveTo>
                    <a:lnTo>
                      <a:pt x="209550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891337" y="3682999"/>
                <a:ext cx="1222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9525">
                    <a:moveTo>
                      <a:pt x="0" y="0"/>
                    </a:moveTo>
                    <a:lnTo>
                      <a:pt x="122237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083425" y="3682999"/>
                <a:ext cx="1222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9525">
                    <a:moveTo>
                      <a:pt x="0" y="0"/>
                    </a:moveTo>
                    <a:lnTo>
                      <a:pt x="122237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013575" y="3648074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3"/>
                      <a:pt x="15636" y="69850"/>
                      <a:pt x="34925" y="69850"/>
                    </a:cubicBezTo>
                    <a:cubicBezTo>
                      <a:pt x="54213" y="69850"/>
                      <a:pt x="69850" y="54213"/>
                      <a:pt x="69850" y="34925"/>
                    </a:cubicBezTo>
                    <a:cubicBezTo>
                      <a:pt x="69850" y="15636"/>
                      <a:pt x="54213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048500" y="3595687"/>
                <a:ext cx="9525" cy="523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2387">
                    <a:moveTo>
                      <a:pt x="0" y="0"/>
                    </a:moveTo>
                    <a:lnTo>
                      <a:pt x="0" y="52387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43" name="Line 43"/>
            <p:cNvSpPr/>
            <p:nvPr/>
          </p:nvSpPr>
          <p:spPr>
            <a:xfrm>
              <a:off x="4229100" y="4095750"/>
              <a:ext cx="1" cy="228600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44" name="Line 44"/>
            <p:cNvSpPr/>
            <p:nvPr/>
          </p:nvSpPr>
          <p:spPr>
            <a:xfrm flipV="1">
              <a:off x="4381500" y="4095750"/>
              <a:ext cx="1" cy="228600"/>
            </a:xfrm>
            <a:prstGeom prst="line">
              <a:avLst/>
            </a:prstGeom>
            <a:noFill/>
            <a:ln w="14288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14400" y="4286250"/>
              <a:ext cx="6629400" cy="1123950"/>
            </a:xfrm>
            <a:prstGeom prst="roundRect">
              <a:avLst>
                <a:gd name="adj" fmla="val 6780"/>
              </a:avLst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152906" y="4375150"/>
              <a:ext cx="23985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证据层 / HYBRID RAG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5192" y="4730750"/>
              <a:ext cx="5410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arXiv / PubMed → 章节切分 → BM25 + 稠密检索 → 重排序 → 证据库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162050" y="5048250"/>
              <a:ext cx="5143500" cy="2286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347216" y="5083175"/>
              <a:ext cx="37908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PostgreSQL + pgvector · object store · citation graph</a:t>
              </a:r>
            </a:p>
          </p:txBody>
        </p:sp>
        <p:grpSp>
          <p:nvGrpSpPr>
            <p:cNvPr id="53" name="Group 53"/>
            <p:cNvGrpSpPr/>
            <p:nvPr/>
          </p:nvGrpSpPr>
          <p:grpSpPr>
            <a:xfrm>
              <a:off x="6908800" y="4681537"/>
              <a:ext cx="279399" cy="314325"/>
              <a:chOff x="6908800" y="4681537"/>
              <a:chExt cx="279399" cy="3143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908800" y="4681537"/>
                <a:ext cx="279399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279399" h="104775">
                    <a:moveTo>
                      <a:pt x="0" y="52387"/>
                    </a:moveTo>
                    <a:cubicBezTo>
                      <a:pt x="0" y="81320"/>
                      <a:pt x="62546" y="104775"/>
                      <a:pt x="139700" y="104775"/>
                    </a:cubicBezTo>
                    <a:cubicBezTo>
                      <a:pt x="216854" y="104775"/>
                      <a:pt x="279399" y="81320"/>
                      <a:pt x="279399" y="52387"/>
                    </a:cubicBezTo>
                    <a:cubicBezTo>
                      <a:pt x="279399" y="23455"/>
                      <a:pt x="216854" y="0"/>
                      <a:pt x="139700" y="0"/>
                    </a:cubicBezTo>
                    <a:cubicBezTo>
                      <a:pt x="62546" y="0"/>
                      <a:pt x="0" y="23455"/>
                      <a:pt x="0" y="52387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908800" y="4733925"/>
                <a:ext cx="279399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279399" h="157162">
                    <a:moveTo>
                      <a:pt x="0" y="0"/>
                    </a:moveTo>
                    <a:lnTo>
                      <a:pt x="0" y="104775"/>
                    </a:lnTo>
                    <a:cubicBezTo>
                      <a:pt x="0" y="133708"/>
                      <a:pt x="62546" y="157162"/>
                      <a:pt x="139700" y="157162"/>
                    </a:cubicBezTo>
                    <a:cubicBezTo>
                      <a:pt x="216854" y="157162"/>
                      <a:pt x="279399" y="133708"/>
                      <a:pt x="279399" y="104775"/>
                    </a:cubicBezTo>
                    <a:lnTo>
                      <a:pt x="279399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908800" y="4838700"/>
                <a:ext cx="279399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279399" h="157162">
                    <a:moveTo>
                      <a:pt x="0" y="0"/>
                    </a:moveTo>
                    <a:lnTo>
                      <a:pt x="0" y="104775"/>
                    </a:lnTo>
                    <a:cubicBezTo>
                      <a:pt x="0" y="133708"/>
                      <a:pt x="62546" y="157162"/>
                      <a:pt x="139700" y="157162"/>
                    </a:cubicBezTo>
                    <a:cubicBezTo>
                      <a:pt x="216854" y="157162"/>
                      <a:pt x="279399" y="133708"/>
                      <a:pt x="279399" y="104775"/>
                    </a:cubicBezTo>
                    <a:lnTo>
                      <a:pt x="279399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909066" y="5473700"/>
              <a:ext cx="36689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EXTERNAL: LLM gateway · arXiv · PubMed · Crossref</a:t>
              </a:r>
            </a:p>
          </p:txBody>
        </p:sp>
      </p:grpSp>
      <p:grpSp>
        <p:nvGrpSpPr>
          <p:cNvPr id="88" name="design-rules"/>
          <p:cNvGrpSpPr/>
          <p:nvPr/>
        </p:nvGrpSpPr>
        <p:grpSpPr>
          <a:xfrm>
            <a:off x="8077200" y="1676400"/>
            <a:ext cx="3505200" cy="4000500"/>
            <a:chOff x="8077200" y="1676400"/>
            <a:chExt cx="3505200" cy="4000500"/>
          </a:xfrm>
        </p:grpSpPr>
        <p:sp>
          <p:nvSpPr>
            <p:cNvPr id="56" name="Rectangle 56"/>
            <p:cNvSpPr/>
            <p:nvPr/>
          </p:nvSpPr>
          <p:spPr>
            <a:xfrm>
              <a:off x="8077200" y="1676400"/>
              <a:ext cx="3505200" cy="4000500"/>
            </a:xfrm>
            <a:prstGeom prst="roundRect">
              <a:avLst>
                <a:gd name="adj" fmla="val 3261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375142" y="1835150"/>
              <a:ext cx="14783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DESIGN RULES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370570" y="2139950"/>
              <a:ext cx="21431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协作必须可检查</a:t>
              </a:r>
            </a:p>
          </p:txBody>
        </p:sp>
        <p:grpSp>
          <p:nvGrpSpPr>
            <p:cNvPr id="72" name="rule-artifacts"/>
            <p:cNvGrpSpPr/>
            <p:nvPr/>
          </p:nvGrpSpPr>
          <p:grpSpPr>
            <a:xfrm>
              <a:off x="8410575" y="2784475"/>
              <a:ext cx="2801036" cy="819658"/>
              <a:chOff x="8410575" y="2784475"/>
              <a:chExt cx="2801036" cy="819658"/>
            </a:xfrm>
          </p:grpSpPr>
          <p:grpSp>
            <p:nvGrpSpPr>
              <p:cNvPr id="68" name="Group 68"/>
              <p:cNvGrpSpPr/>
              <p:nvPr/>
            </p:nvGrpSpPr>
            <p:grpSpPr>
              <a:xfrm>
                <a:off x="8410575" y="2790825"/>
                <a:ext cx="271463" cy="285750"/>
                <a:chOff x="8410575" y="2790825"/>
                <a:chExt cx="271463" cy="285750"/>
              </a:xfrm>
            </p:grpSpPr>
            <p:sp>
              <p:nvSpPr>
                <p:cNvPr id="59" name="Freeform 59"/>
                <p:cNvSpPr/>
                <p:nvPr/>
              </p:nvSpPr>
              <p:spPr>
                <a:xfrm>
                  <a:off x="8410575" y="301942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57150" y="28575"/>
                      </a:move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8553450" y="279082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57150" y="28575"/>
                      </a:move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8553450" y="301942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57150" y="28575"/>
                      </a:move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8482012" y="290512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57150" y="28575"/>
                      </a:move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8624888" y="290512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57150" y="28575"/>
                      </a:move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8454266" y="2957989"/>
                  <a:ext cx="41148" cy="658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48" h="65808">
                      <a:moveTo>
                        <a:pt x="0" y="65808"/>
                      </a:moveTo>
                      <a:lnTo>
                        <a:pt x="41148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8525747" y="2843674"/>
                  <a:ext cx="41105" cy="65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05" h="65780">
                      <a:moveTo>
                        <a:pt x="0" y="65780"/>
                      </a:moveTo>
                      <a:lnTo>
                        <a:pt x="41105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8525804" y="2958060"/>
                  <a:ext cx="41091" cy="657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91" h="65722">
                      <a:moveTo>
                        <a:pt x="0" y="0"/>
                      </a:moveTo>
                      <a:lnTo>
                        <a:pt x="41091" y="65722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8597213" y="2843689"/>
                  <a:ext cx="41162" cy="658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62" h="65865">
                      <a:moveTo>
                        <a:pt x="0" y="0"/>
                      </a:moveTo>
                      <a:lnTo>
                        <a:pt x="41162" y="65865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69" name="TextBox 69"/>
              <p:cNvSpPr txBox="1"/>
              <p:nvPr/>
            </p:nvSpPr>
            <p:spPr>
              <a:xfrm>
                <a:off x="8887206" y="2784475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结构化产物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8889492" y="3092450"/>
                <a:ext cx="232211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Plan / Retrieval / Analysis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8889492" y="3340100"/>
                <a:ext cx="179745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Draft / Verification</a:t>
                </a:r>
              </a:p>
            </p:txBody>
          </p:sp>
        </p:grpSp>
        <p:grpSp>
          <p:nvGrpSpPr>
            <p:cNvPr id="80" name="rule-evidence"/>
            <p:cNvGrpSpPr/>
            <p:nvPr/>
          </p:nvGrpSpPr>
          <p:grpSpPr>
            <a:xfrm>
              <a:off x="8439148" y="3698875"/>
              <a:ext cx="2295969" cy="819658"/>
              <a:chOff x="8439148" y="3698875"/>
              <a:chExt cx="2295969" cy="819658"/>
            </a:xfrm>
          </p:grpSpPr>
          <p:grpSp>
            <p:nvGrpSpPr>
              <p:cNvPr id="76" name="Group 76"/>
              <p:cNvGrpSpPr/>
              <p:nvPr/>
            </p:nvGrpSpPr>
            <p:grpSpPr>
              <a:xfrm>
                <a:off x="8439148" y="3726819"/>
                <a:ext cx="235561" cy="242531"/>
                <a:chOff x="8439148" y="3726819"/>
                <a:chExt cx="235561" cy="242531"/>
              </a:xfrm>
            </p:grpSpPr>
            <p:sp>
              <p:nvSpPr>
                <p:cNvPr id="73" name="Freeform 73"/>
                <p:cNvSpPr/>
                <p:nvPr/>
              </p:nvSpPr>
              <p:spPr>
                <a:xfrm>
                  <a:off x="8510588" y="3805238"/>
                  <a:ext cx="857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85725">
                      <a:moveTo>
                        <a:pt x="0" y="85725"/>
                      </a:move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74" name="Freeform 74"/>
                <p:cNvSpPr/>
                <p:nvPr/>
              </p:nvSpPr>
              <p:spPr>
                <a:xfrm>
                  <a:off x="8539162" y="3726819"/>
                  <a:ext cx="135547" cy="1355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547" h="135568">
                      <a:moveTo>
                        <a:pt x="0" y="35556"/>
                      </a:moveTo>
                      <a:lnTo>
                        <a:pt x="6615" y="27898"/>
                      </a:lnTo>
                      <a:cubicBezTo>
                        <a:pt x="34517" y="0"/>
                        <a:pt x="79751" y="3"/>
                        <a:pt x="107649" y="27905"/>
                      </a:cubicBezTo>
                      <a:cubicBezTo>
                        <a:pt x="135547" y="55807"/>
                        <a:pt x="135544" y="101041"/>
                        <a:pt x="107642" y="128939"/>
                      </a:cubicBezTo>
                      <a:lnTo>
                        <a:pt x="100012" y="135568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75" name="Freeform 75"/>
                <p:cNvSpPr/>
                <p:nvPr/>
              </p:nvSpPr>
              <p:spPr>
                <a:xfrm>
                  <a:off x="8439148" y="3833812"/>
                  <a:ext cx="128590" cy="135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90" h="135538">
                      <a:moveTo>
                        <a:pt x="128590" y="100012"/>
                      </a:moveTo>
                      <a:lnTo>
                        <a:pt x="122917" y="107642"/>
                      </a:lnTo>
                      <a:cubicBezTo>
                        <a:pt x="94707" y="135538"/>
                        <a:pt x="49301" y="135538"/>
                        <a:pt x="21090" y="107642"/>
                      </a:cubicBezTo>
                      <a:cubicBezTo>
                        <a:pt x="7595" y="94298"/>
                        <a:pt x="0" y="76108"/>
                        <a:pt x="0" y="57129"/>
                      </a:cubicBezTo>
                      <a:cubicBezTo>
                        <a:pt x="0" y="38149"/>
                        <a:pt x="7595" y="19960"/>
                        <a:pt x="21090" y="6615"/>
                      </a:cubicBezTo>
                      <a:lnTo>
                        <a:pt x="28577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77" name="TextBox 77"/>
              <p:cNvSpPr txBox="1"/>
              <p:nvPr/>
            </p:nvSpPr>
            <p:spPr>
              <a:xfrm>
                <a:off x="8887206" y="3698875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证据优先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8889492" y="4006850"/>
                <a:ext cx="184562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claim 绑定 evidenceId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8889492" y="4254500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与原文定位</a:t>
                </a:r>
              </a:p>
            </p:txBody>
          </p:sp>
        </p:grpSp>
        <p:grpSp>
          <p:nvGrpSpPr>
            <p:cNvPr id="86" name="rule-recovery"/>
            <p:cNvGrpSpPr/>
            <p:nvPr/>
          </p:nvGrpSpPr>
          <p:grpSpPr>
            <a:xfrm>
              <a:off x="8405581" y="4613275"/>
              <a:ext cx="2860208" cy="572008"/>
              <a:chOff x="8405581" y="4613275"/>
              <a:chExt cx="2860208" cy="572008"/>
            </a:xfrm>
          </p:grpSpPr>
          <p:grpSp>
            <p:nvGrpSpPr>
              <p:cNvPr id="83" name="Group 83"/>
              <p:cNvGrpSpPr/>
              <p:nvPr/>
            </p:nvGrpSpPr>
            <p:grpSpPr>
              <a:xfrm>
                <a:off x="8405581" y="4633912"/>
                <a:ext cx="279010" cy="257176"/>
                <a:chOff x="8405581" y="4633912"/>
                <a:chExt cx="279010" cy="257176"/>
              </a:xfrm>
            </p:grpSpPr>
            <p:sp>
              <p:nvSpPr>
                <p:cNvPr id="81" name="Freeform 81"/>
                <p:cNvSpPr/>
                <p:nvPr/>
              </p:nvSpPr>
              <p:spPr>
                <a:xfrm>
                  <a:off x="8405581" y="4633912"/>
                  <a:ext cx="279010" cy="254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010" h="254975">
                      <a:moveTo>
                        <a:pt x="140154" y="254975"/>
                      </a:moveTo>
                      <a:cubicBezTo>
                        <a:pt x="50649" y="227230"/>
                        <a:pt x="0" y="132765"/>
                        <a:pt x="26425" y="42862"/>
                      </a:cubicBezTo>
                      <a:cubicBezTo>
                        <a:pt x="70939" y="44899"/>
                        <a:pt x="114496" y="29526"/>
                        <a:pt x="147869" y="0"/>
                      </a:cubicBezTo>
                      <a:cubicBezTo>
                        <a:pt x="181242" y="29526"/>
                        <a:pt x="224800" y="44899"/>
                        <a:pt x="269313" y="42862"/>
                      </a:cubicBezTo>
                      <a:cubicBezTo>
                        <a:pt x="279010" y="75854"/>
                        <a:pt x="278561" y="110999"/>
                        <a:pt x="268027" y="143732"/>
                      </a:cubicBez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82" name="Freeform 82"/>
                <p:cNvSpPr/>
                <p:nvPr/>
              </p:nvSpPr>
              <p:spPr>
                <a:xfrm>
                  <a:off x="8596312" y="4833938"/>
                  <a:ext cx="857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57150">
                      <a:moveTo>
                        <a:pt x="0" y="28575"/>
                      </a:moveTo>
                      <a:lnTo>
                        <a:pt x="28575" y="57150"/>
                      </a:ln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</p:grpSp>
          <p:sp>
            <p:nvSpPr>
              <p:cNvPr id="84" name="TextBox 84"/>
              <p:cNvSpPr txBox="1"/>
              <p:nvPr/>
            </p:nvSpPr>
            <p:spPr>
              <a:xfrm>
                <a:off x="8887206" y="4613275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失败可恢复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8889492" y="4921250"/>
                <a:ext cx="23762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检查点、重试与人工复核入口</a:t>
                </a:r>
              </a:p>
            </p:txBody>
          </p:sp>
        </p:grpSp>
        <p:sp>
          <p:nvSpPr>
            <p:cNvPr id="87" name="TextBox 87"/>
            <p:cNvSpPr txBox="1"/>
            <p:nvPr/>
          </p:nvSpPr>
          <p:spPr>
            <a:xfrm>
              <a:off x="8375142" y="5321300"/>
              <a:ext cx="26334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目标：可交互 · 可追溯 · 可复现</a:t>
              </a:r>
            </a:p>
          </p:txBody>
        </p:sp>
      </p:grpSp>
      <p:grpSp>
        <p:nvGrpSpPr>
          <p:cNvPr id="90" name="takeaway"/>
          <p:cNvGrpSpPr/>
          <p:nvPr/>
        </p:nvGrpSpPr>
        <p:grpSpPr>
          <a:xfrm>
            <a:off x="600456" y="5880100"/>
            <a:ext cx="7045452" cy="352044"/>
            <a:chOff x="600456" y="5880100"/>
            <a:chExt cx="7045452" cy="352044"/>
          </a:xfrm>
        </p:grpSpPr>
        <p:sp>
          <p:nvSpPr>
            <p:cNvPr id="89" name="TextBox 89"/>
            <p:cNvSpPr txBox="1"/>
            <p:nvPr/>
          </p:nvSpPr>
          <p:spPr>
            <a:xfrm>
              <a:off x="600456" y="5880100"/>
              <a:ext cx="70454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从主题输入到报告导出，每一个阶段都有状态、产物和证据可查。</a:t>
              </a:r>
            </a:p>
          </p:txBody>
        </p:sp>
      </p:grpSp>
      <p:grpSp>
        <p:nvGrpSpPr>
          <p:cNvPr id="93" name="footer"/>
          <p:cNvGrpSpPr/>
          <p:nvPr/>
        </p:nvGrpSpPr>
        <p:grpSpPr>
          <a:xfrm>
            <a:off x="604266" y="6502400"/>
            <a:ext cx="10164318" cy="205359"/>
            <a:chOff x="604266" y="6502400"/>
            <a:chExt cx="10164318" cy="205359"/>
          </a:xfrm>
        </p:grpSpPr>
        <p:sp>
          <p:nvSpPr>
            <p:cNvPr id="91" name="TextBox 91"/>
            <p:cNvSpPr txBox="1"/>
            <p:nvPr/>
          </p:nvSpPr>
          <p:spPr>
            <a:xfrm>
              <a:off x="604266" y="6502400"/>
              <a:ext cx="20107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总体方案 · 三层协作与证据闭环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0175443" y="6502400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P05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609600" y="1371600"/>
            <a:ext cx="10972800" cy="5029200"/>
          </a:xfrm>
          <a:custGeom>
            <a:avLst/>
            <a:gdLst/>
            <a:ahLst/>
            <a:cxnLst/>
            <a:rect l="l" t="t" r="r" b="b"/>
            <a:pathLst>
              <a:path w="10972800" h="5029200">
                <a:moveTo>
                  <a:pt x="0" y="0"/>
                </a:moveTo>
                <a:lnTo>
                  <a:pt x="10972800" y="0"/>
                </a:lnTo>
                <a:moveTo>
                  <a:pt x="0" y="5029200"/>
                </a:moveTo>
                <a:lnTo>
                  <a:pt x="10972800" y="5029200"/>
                </a:lnTo>
                <a:moveTo>
                  <a:pt x="190500" y="0"/>
                </a:moveTo>
                <a:lnTo>
                  <a:pt x="190500" y="5029200"/>
                </a:lnTo>
                <a:moveTo>
                  <a:pt x="10782300" y="0"/>
                </a:moveTo>
                <a:lnTo>
                  <a:pt x="10782300" y="5029200"/>
                </a:lnTo>
              </a:path>
            </a:pathLst>
          </a:custGeom>
          <a:noFill/>
          <a:ln w="9525">
            <a:solidFill>
              <a:schemeClr val="accent6">
                <a:alpha val="32000"/>
              </a:schemeClr>
            </a:solidFill>
          </a:ln>
        </p:spPr>
      </p:sp>
      <p:grpSp>
        <p:nvGrpSpPr>
          <p:cNvPr id="6" name="page-title"/>
          <p:cNvGrpSpPr/>
          <p:nvPr/>
        </p:nvGrpSpPr>
        <p:grpSpPr>
          <a:xfrm>
            <a:off x="592074" y="387350"/>
            <a:ext cx="5608320" cy="1297051"/>
            <a:chOff x="592074" y="387350"/>
            <a:chExt cx="5608320" cy="1297051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87350"/>
              <a:ext cx="19362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06 / 多智能体任务图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074" y="571500"/>
              <a:ext cx="560832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六类智能体按任务图协作，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2074" y="1009650"/>
              <a:ext cx="5143881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避免自由对话的状态漂移</a:t>
              </a:r>
            </a:p>
          </p:txBody>
        </p:sp>
      </p:grpSp>
      <p:grpSp>
        <p:nvGrpSpPr>
          <p:cNvPr id="85" name="task-dag"/>
          <p:cNvGrpSpPr/>
          <p:nvPr/>
        </p:nvGrpSpPr>
        <p:grpSpPr>
          <a:xfrm>
            <a:off x="609600" y="1676400"/>
            <a:ext cx="10972800" cy="4191000"/>
            <a:chOff x="609600" y="1676400"/>
            <a:chExt cx="10972800" cy="4191000"/>
          </a:xfrm>
        </p:grpSpPr>
        <p:sp>
          <p:nvSpPr>
            <p:cNvPr id="7" name="Rectangle 7"/>
            <p:cNvSpPr/>
            <p:nvPr/>
          </p:nvSpPr>
          <p:spPr>
            <a:xfrm>
              <a:off x="609600" y="1676400"/>
              <a:ext cx="10972800" cy="4191000"/>
            </a:xfrm>
            <a:prstGeom prst="roundRect">
              <a:avLst>
                <a:gd name="adj" fmla="val 272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7542" y="1835150"/>
              <a:ext cx="31783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TASK DAG / TYPED ARTIFACTS</a:t>
              </a:r>
            </a:p>
          </p:txBody>
        </p:sp>
        <p:grpSp>
          <p:nvGrpSpPr>
            <p:cNvPr id="21" name="coordinator-node"/>
            <p:cNvGrpSpPr/>
            <p:nvPr/>
          </p:nvGrpSpPr>
          <p:grpSpPr>
            <a:xfrm>
              <a:off x="4953000" y="2190750"/>
              <a:ext cx="2286000" cy="628650"/>
              <a:chOff x="4953000" y="2190750"/>
              <a:chExt cx="2286000" cy="6286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4953000" y="2190750"/>
                <a:ext cx="2286000" cy="628650"/>
              </a:xfrm>
              <a:prstGeom prst="roundRect">
                <a:avLst>
                  <a:gd name="adj" fmla="val 1212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18" name="Group 18"/>
              <p:cNvGrpSpPr/>
              <p:nvPr/>
            </p:nvGrpSpPr>
            <p:grpSpPr>
              <a:xfrm>
                <a:off x="5183981" y="2364581"/>
                <a:ext cx="242888" cy="256382"/>
                <a:chOff x="5183981" y="2364581"/>
                <a:chExt cx="242888" cy="256382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5224463" y="2364581"/>
                  <a:ext cx="161925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" h="161925">
                      <a:moveTo>
                        <a:pt x="0" y="80963"/>
                      </a:moveTo>
                      <a:cubicBezTo>
                        <a:pt x="0" y="125677"/>
                        <a:pt x="36248" y="161925"/>
                        <a:pt x="80963" y="161925"/>
                      </a:cubicBezTo>
                      <a:cubicBezTo>
                        <a:pt x="125677" y="161925"/>
                        <a:pt x="161925" y="125677"/>
                        <a:pt x="161925" y="80963"/>
                      </a:cubicBezTo>
                      <a:cubicBezTo>
                        <a:pt x="161925" y="36248"/>
                        <a:pt x="125677" y="0"/>
                        <a:pt x="80963" y="0"/>
                      </a:cubicBezTo>
                      <a:cubicBezTo>
                        <a:pt x="36248" y="0"/>
                        <a:pt x="0" y="36248"/>
                        <a:pt x="0" y="80963"/>
                      </a:cubicBezTo>
                    </a:path>
                  </a:pathLst>
                </a:custGeom>
                <a:noFill/>
                <a:ln w="26988">
                  <a:solidFill>
                    <a:srgbClr val="F7F9F6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5305425" y="2364581"/>
                  <a:ext cx="26988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88" h="161925">
                      <a:moveTo>
                        <a:pt x="0" y="0"/>
                      </a:moveTo>
                      <a:cubicBezTo>
                        <a:pt x="17987" y="4493"/>
                        <a:pt x="26988" y="31481"/>
                        <a:pt x="26988" y="80963"/>
                      </a:cubicBezTo>
                      <a:cubicBezTo>
                        <a:pt x="26988" y="130444"/>
                        <a:pt x="17987" y="157432"/>
                        <a:pt x="0" y="161925"/>
                      </a:cubicBezTo>
                    </a:path>
                  </a:pathLst>
                </a:custGeom>
                <a:noFill/>
                <a:ln w="26988">
                  <a:solidFill>
                    <a:srgbClr val="F7F9F6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5278438" y="2364581"/>
                  <a:ext cx="26988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88" h="161925">
                      <a:moveTo>
                        <a:pt x="26988" y="0"/>
                      </a:moveTo>
                      <a:cubicBezTo>
                        <a:pt x="9000" y="4493"/>
                        <a:pt x="0" y="31481"/>
                        <a:pt x="0" y="80963"/>
                      </a:cubicBezTo>
                      <a:cubicBezTo>
                        <a:pt x="0" y="130444"/>
                        <a:pt x="9000" y="157432"/>
                        <a:pt x="26988" y="161925"/>
                      </a:cubicBezTo>
                    </a:path>
                  </a:pathLst>
                </a:custGeom>
                <a:noFill/>
                <a:ln w="26988">
                  <a:solidFill>
                    <a:srgbClr val="F7F9F6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5224463" y="2445544"/>
                  <a:ext cx="1619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" h="9525">
                      <a:moveTo>
                        <a:pt x="0" y="0"/>
                      </a:moveTo>
                      <a:lnTo>
                        <a:pt x="161925" y="0"/>
                      </a:lnTo>
                    </a:path>
                  </a:pathLst>
                </a:custGeom>
                <a:noFill/>
                <a:ln w="26988">
                  <a:solidFill>
                    <a:srgbClr val="F7F9F6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5183981" y="2593976"/>
                  <a:ext cx="9445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56" h="9525">
                      <a:moveTo>
                        <a:pt x="0" y="0"/>
                      </a:moveTo>
                      <a:lnTo>
                        <a:pt x="94456" y="0"/>
                      </a:lnTo>
                    </a:path>
                  </a:pathLst>
                </a:custGeom>
                <a:noFill/>
                <a:ln w="26988">
                  <a:solidFill>
                    <a:srgbClr val="F7F9F6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5332413" y="2593976"/>
                  <a:ext cx="9445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56" h="9525">
                      <a:moveTo>
                        <a:pt x="0" y="0"/>
                      </a:moveTo>
                      <a:lnTo>
                        <a:pt x="94456" y="0"/>
                      </a:lnTo>
                    </a:path>
                  </a:pathLst>
                </a:custGeom>
                <a:noFill/>
                <a:ln w="26988">
                  <a:solidFill>
                    <a:srgbClr val="F7F9F6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5278438" y="2566988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0" y="26988"/>
                      </a:moveTo>
                      <a:cubicBezTo>
                        <a:pt x="0" y="41892"/>
                        <a:pt x="12083" y="53975"/>
                        <a:pt x="26988" y="53975"/>
                      </a:cubicBezTo>
                      <a:cubicBezTo>
                        <a:pt x="41892" y="53975"/>
                        <a:pt x="53975" y="41892"/>
                        <a:pt x="53975" y="26988"/>
                      </a:cubicBezTo>
                      <a:cubicBezTo>
                        <a:pt x="53975" y="12083"/>
                        <a:pt x="41892" y="0"/>
                        <a:pt x="26988" y="0"/>
                      </a:cubicBezTo>
                      <a:cubicBezTo>
                        <a:pt x="12083" y="0"/>
                        <a:pt x="0" y="12083"/>
                        <a:pt x="0" y="26988"/>
                      </a:cubicBezTo>
                    </a:path>
                  </a:pathLst>
                </a:custGeom>
                <a:noFill/>
                <a:ln w="26988">
                  <a:solidFill>
                    <a:srgbClr val="F7F9F6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5305425" y="2526507"/>
                  <a:ext cx="9525" cy="40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0481">
                      <a:moveTo>
                        <a:pt x="0" y="0"/>
                      </a:moveTo>
                      <a:lnTo>
                        <a:pt x="0" y="40481"/>
                      </a:lnTo>
                    </a:path>
                  </a:pathLst>
                </a:custGeom>
                <a:noFill/>
                <a:ln w="26988">
                  <a:solidFill>
                    <a:srgbClr val="F7F9F6"/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5593842" y="2320925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7F9F6"/>
                    </a:solidFill>
                    <a:latin typeface="+mn-lt"/>
                    <a:ea typeface="+mn-ea"/>
                    <a:cs typeface="+mn-cs"/>
                  </a:rPr>
                  <a:t>协调智能体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595366" y="2559050"/>
                <a:ext cx="88104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CFE0D4"/>
                    </a:solidFill>
                    <a:latin typeface="+mn-lt"/>
                    <a:ea typeface="+mn-ea"/>
                    <a:cs typeface="+mn-cs"/>
                  </a:rPr>
                  <a:t>PlanArtifact</a:t>
                </a:r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1819275" y="2819400"/>
              <a:ext cx="8572500" cy="323850"/>
            </a:xfrm>
            <a:custGeom>
              <a:avLst/>
              <a:gdLst/>
              <a:ahLst/>
              <a:cxnLst/>
              <a:rect l="l" t="t" r="r" b="b"/>
              <a:pathLst>
                <a:path w="8572500" h="323850">
                  <a:moveTo>
                    <a:pt x="4276725" y="0"/>
                  </a:moveTo>
                  <a:lnTo>
                    <a:pt x="4276725" y="190500"/>
                  </a:lnTo>
                  <a:moveTo>
                    <a:pt x="0" y="190500"/>
                  </a:moveTo>
                  <a:lnTo>
                    <a:pt x="8572500" y="190500"/>
                  </a:lnTo>
                  <a:moveTo>
                    <a:pt x="0" y="190500"/>
                  </a:moveTo>
                  <a:lnTo>
                    <a:pt x="0" y="323850"/>
                  </a:lnTo>
                  <a:moveTo>
                    <a:pt x="2143125" y="190500"/>
                  </a:moveTo>
                  <a:lnTo>
                    <a:pt x="2143125" y="323850"/>
                  </a:lnTo>
                  <a:moveTo>
                    <a:pt x="4286250" y="190500"/>
                  </a:moveTo>
                  <a:lnTo>
                    <a:pt x="4286250" y="323850"/>
                  </a:lnTo>
                  <a:moveTo>
                    <a:pt x="6429375" y="190500"/>
                  </a:moveTo>
                  <a:lnTo>
                    <a:pt x="6429375" y="323850"/>
                  </a:lnTo>
                  <a:moveTo>
                    <a:pt x="8572500" y="190500"/>
                  </a:moveTo>
                  <a:lnTo>
                    <a:pt x="8572500" y="323850"/>
                  </a:lnTo>
                </a:path>
              </a:pathLst>
            </a:custGeom>
            <a:noFill/>
            <a:ln w="11430">
              <a:solidFill>
                <a:schemeClr val="accent3"/>
              </a:solidFill>
              <a:prstDash val="dash"/>
            </a:ln>
          </p:spPr>
        </p:sp>
        <p:grpSp>
          <p:nvGrpSpPr>
            <p:cNvPr id="29" name="retrieval-node"/>
            <p:cNvGrpSpPr/>
            <p:nvPr/>
          </p:nvGrpSpPr>
          <p:grpSpPr>
            <a:xfrm>
              <a:off x="914400" y="3143250"/>
              <a:ext cx="1838648" cy="685800"/>
              <a:chOff x="914400" y="3143250"/>
              <a:chExt cx="1838648" cy="6858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914400" y="3143250"/>
                <a:ext cx="1809750" cy="685800"/>
              </a:xfrm>
              <a:prstGeom prst="roundRect">
                <a:avLst>
                  <a:gd name="adj" fmla="val 11111"/>
                </a:avLst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1123950" y="3333750"/>
                <a:ext cx="228600" cy="228600"/>
                <a:chOff x="1123950" y="3333750"/>
                <a:chExt cx="228600" cy="228600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1123950" y="3333750"/>
                  <a:ext cx="177800" cy="17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177800">
                      <a:moveTo>
                        <a:pt x="0" y="88900"/>
                      </a:moveTo>
                      <a:cubicBezTo>
                        <a:pt x="0" y="137998"/>
                        <a:pt x="39802" y="177800"/>
                        <a:pt x="88900" y="177800"/>
                      </a:cubicBezTo>
                      <a:cubicBezTo>
                        <a:pt x="137998" y="177800"/>
                        <a:pt x="177800" y="137998"/>
                        <a:pt x="177800" y="88900"/>
                      </a:cubicBezTo>
                      <a:cubicBezTo>
                        <a:pt x="177800" y="39802"/>
                        <a:pt x="137998" y="0"/>
                        <a:pt x="88900" y="0"/>
                      </a:cubicBezTo>
                      <a:cubicBezTo>
                        <a:pt x="39802" y="0"/>
                        <a:pt x="0" y="39802"/>
                        <a:pt x="0" y="88900"/>
                      </a:cubicBez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1276350" y="348615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76200" y="7620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1517142" y="3292475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检索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518666" y="3540125"/>
                <a:ext cx="123438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RetrievalArtifact</a:t>
                </a:r>
              </a:p>
            </p:txBody>
          </p:sp>
        </p:grpSp>
        <p:grpSp>
          <p:nvGrpSpPr>
            <p:cNvPr id="39" name="analysis-node"/>
            <p:cNvGrpSpPr/>
            <p:nvPr/>
          </p:nvGrpSpPr>
          <p:grpSpPr>
            <a:xfrm>
              <a:off x="3057525" y="3143250"/>
              <a:ext cx="1809750" cy="685800"/>
              <a:chOff x="3057525" y="3143250"/>
              <a:chExt cx="1809750" cy="6858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3057525" y="3143250"/>
                <a:ext cx="1809750" cy="685800"/>
              </a:xfrm>
              <a:prstGeom prst="roundRect">
                <a:avLst>
                  <a:gd name="adj" fmla="val 11111"/>
                </a:avLst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grpSp>
            <p:nvGrpSpPr>
              <p:cNvPr id="36" name="Group 36"/>
              <p:cNvGrpSpPr/>
              <p:nvPr/>
            </p:nvGrpSpPr>
            <p:grpSpPr>
              <a:xfrm>
                <a:off x="3292475" y="3333750"/>
                <a:ext cx="177800" cy="228599"/>
                <a:chOff x="3292475" y="3333750"/>
                <a:chExt cx="177800" cy="228599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3406775" y="333375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0"/>
                      </a:moveTo>
                      <a:lnTo>
                        <a:pt x="0" y="50800"/>
                      </a:lnTo>
                      <a:cubicBezTo>
                        <a:pt x="0" y="57814"/>
                        <a:pt x="5686" y="63500"/>
                        <a:pt x="12700" y="63500"/>
                      </a:cubicBezTo>
                      <a:lnTo>
                        <a:pt x="63500" y="6350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3292475" y="3333750"/>
                  <a:ext cx="177800" cy="228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228599">
                      <a:moveTo>
                        <a:pt x="152400" y="228599"/>
                      </a:moveTo>
                      <a:lnTo>
                        <a:pt x="25400" y="228599"/>
                      </a:lnTo>
                      <a:cubicBezTo>
                        <a:pt x="11372" y="228599"/>
                        <a:pt x="0" y="217227"/>
                        <a:pt x="0" y="203199"/>
                      </a:cubicBezTo>
                      <a:lnTo>
                        <a:pt x="0" y="25400"/>
                      </a:lnTo>
                      <a:cubicBezTo>
                        <a:pt x="0" y="11372"/>
                        <a:pt x="11372" y="0"/>
                        <a:pt x="25400" y="0"/>
                      </a:cubicBezTo>
                      <a:lnTo>
                        <a:pt x="114300" y="0"/>
                      </a:lnTo>
                      <a:lnTo>
                        <a:pt x="177800" y="63500"/>
                      </a:lnTo>
                      <a:lnTo>
                        <a:pt x="177800" y="203199"/>
                      </a:lnTo>
                      <a:cubicBezTo>
                        <a:pt x="177800" y="217227"/>
                        <a:pt x="166428" y="228599"/>
                        <a:pt x="152400" y="228599"/>
                      </a:cubicBez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3343275" y="3409950"/>
                  <a:ext cx="127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" h="9525">
                      <a:moveTo>
                        <a:pt x="0" y="0"/>
                      </a:moveTo>
                      <a:lnTo>
                        <a:pt x="127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3343275" y="3460750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3343275" y="3511549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</p:grpSp>
          <p:sp>
            <p:nvSpPr>
              <p:cNvPr id="37" name="TextBox 37"/>
              <p:cNvSpPr txBox="1"/>
              <p:nvPr/>
            </p:nvSpPr>
            <p:spPr>
              <a:xfrm>
                <a:off x="3660267" y="3292475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分析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661791" y="3540125"/>
                <a:ext cx="115659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AnalysisArtifact</a:t>
                </a:r>
              </a:p>
            </p:txBody>
          </p:sp>
        </p:grpSp>
        <p:grpSp>
          <p:nvGrpSpPr>
            <p:cNvPr id="53" name="comparison-node"/>
            <p:cNvGrpSpPr/>
            <p:nvPr/>
          </p:nvGrpSpPr>
          <p:grpSpPr>
            <a:xfrm>
              <a:off x="5200650" y="3143250"/>
              <a:ext cx="1980438" cy="685800"/>
              <a:chOff x="5200650" y="3143250"/>
              <a:chExt cx="1980438" cy="6858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200650" y="3143250"/>
                <a:ext cx="1809750" cy="685800"/>
              </a:xfrm>
              <a:prstGeom prst="roundRect">
                <a:avLst>
                  <a:gd name="adj" fmla="val 11111"/>
                </a:avLst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grpSp>
            <p:nvGrpSpPr>
              <p:cNvPr id="50" name="Group 50"/>
              <p:cNvGrpSpPr/>
              <p:nvPr/>
            </p:nvGrpSpPr>
            <p:grpSpPr>
              <a:xfrm>
                <a:off x="5397500" y="3321050"/>
                <a:ext cx="241299" cy="253999"/>
                <a:chOff x="5397500" y="3321050"/>
                <a:chExt cx="241299" cy="253999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5397500" y="3524249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50800" y="25400"/>
                      </a:move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5524500" y="332105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50800" y="25400"/>
                      </a:move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5524500" y="3524249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50800" y="25400"/>
                      </a:move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5461000" y="342265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50800" y="25400"/>
                      </a:move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5587999" y="342265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50800" y="25400"/>
                      </a:move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5436336" y="3469640"/>
                  <a:ext cx="36576" cy="58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76" h="58496">
                      <a:moveTo>
                        <a:pt x="0" y="58496"/>
                      </a:moveTo>
                      <a:lnTo>
                        <a:pt x="36576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5499874" y="3368027"/>
                  <a:ext cx="36538" cy="584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38" h="58471">
                      <a:moveTo>
                        <a:pt x="0" y="58471"/>
                      </a:moveTo>
                      <a:lnTo>
                        <a:pt x="36538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5499925" y="3469703"/>
                  <a:ext cx="36525" cy="58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25" h="58420">
                      <a:moveTo>
                        <a:pt x="0" y="0"/>
                      </a:moveTo>
                      <a:lnTo>
                        <a:pt x="36525" y="5842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5563400" y="3368040"/>
                  <a:ext cx="36589" cy="58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89" h="58547">
                      <a:moveTo>
                        <a:pt x="0" y="0"/>
                      </a:moveTo>
                      <a:lnTo>
                        <a:pt x="36589" y="58547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</p:grpSp>
          <p:sp>
            <p:nvSpPr>
              <p:cNvPr id="51" name="TextBox 51"/>
              <p:cNvSpPr txBox="1"/>
              <p:nvPr/>
            </p:nvSpPr>
            <p:spPr>
              <a:xfrm>
                <a:off x="5803392" y="3292475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对比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5804916" y="3540125"/>
                <a:ext cx="13761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ComparisonArtifact</a:t>
                </a:r>
              </a:p>
            </p:txBody>
          </p:sp>
        </p:grpSp>
        <p:grpSp>
          <p:nvGrpSpPr>
            <p:cNvPr id="63" name="writer-node"/>
            <p:cNvGrpSpPr/>
            <p:nvPr/>
          </p:nvGrpSpPr>
          <p:grpSpPr>
            <a:xfrm>
              <a:off x="7343775" y="3143250"/>
              <a:ext cx="1809750" cy="685800"/>
              <a:chOff x="7343775" y="3143250"/>
              <a:chExt cx="1809750" cy="68580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7343775" y="3143250"/>
                <a:ext cx="1809750" cy="685800"/>
              </a:xfrm>
              <a:prstGeom prst="roundRect">
                <a:avLst>
                  <a:gd name="adj" fmla="val 11111"/>
                </a:avLst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grpSp>
            <p:nvGrpSpPr>
              <p:cNvPr id="60" name="Group 60"/>
              <p:cNvGrpSpPr/>
              <p:nvPr/>
            </p:nvGrpSpPr>
            <p:grpSpPr>
              <a:xfrm>
                <a:off x="7578725" y="3333750"/>
                <a:ext cx="177800" cy="228599"/>
                <a:chOff x="7578725" y="3333750"/>
                <a:chExt cx="177800" cy="228599"/>
              </a:xfrm>
            </p:grpSpPr>
            <p:sp>
              <p:nvSpPr>
                <p:cNvPr id="55" name="Freeform 55"/>
                <p:cNvSpPr/>
                <p:nvPr/>
              </p:nvSpPr>
              <p:spPr>
                <a:xfrm>
                  <a:off x="7693025" y="333375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0"/>
                      </a:moveTo>
                      <a:lnTo>
                        <a:pt x="0" y="50800"/>
                      </a:lnTo>
                      <a:cubicBezTo>
                        <a:pt x="0" y="57814"/>
                        <a:pt x="5686" y="63500"/>
                        <a:pt x="12700" y="63500"/>
                      </a:cubicBezTo>
                      <a:lnTo>
                        <a:pt x="63500" y="6350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7578725" y="3333750"/>
                  <a:ext cx="177800" cy="228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228599">
                      <a:moveTo>
                        <a:pt x="152400" y="228599"/>
                      </a:moveTo>
                      <a:lnTo>
                        <a:pt x="25400" y="228599"/>
                      </a:lnTo>
                      <a:cubicBezTo>
                        <a:pt x="11372" y="228599"/>
                        <a:pt x="0" y="217227"/>
                        <a:pt x="0" y="203199"/>
                      </a:cubicBezTo>
                      <a:lnTo>
                        <a:pt x="0" y="25400"/>
                      </a:lnTo>
                      <a:cubicBezTo>
                        <a:pt x="0" y="11372"/>
                        <a:pt x="11372" y="0"/>
                        <a:pt x="25400" y="0"/>
                      </a:cubicBezTo>
                      <a:lnTo>
                        <a:pt x="114300" y="0"/>
                      </a:lnTo>
                      <a:lnTo>
                        <a:pt x="177800" y="63500"/>
                      </a:lnTo>
                      <a:lnTo>
                        <a:pt x="177800" y="203199"/>
                      </a:lnTo>
                      <a:cubicBezTo>
                        <a:pt x="177800" y="217227"/>
                        <a:pt x="166428" y="228599"/>
                        <a:pt x="152400" y="228599"/>
                      </a:cubicBez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7629525" y="3409950"/>
                  <a:ext cx="127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" h="9525">
                      <a:moveTo>
                        <a:pt x="0" y="0"/>
                      </a:moveTo>
                      <a:lnTo>
                        <a:pt x="127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7629525" y="3460750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7629525" y="3511549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</p:grpSp>
          <p:sp>
            <p:nvSpPr>
              <p:cNvPr id="61" name="TextBox 61"/>
              <p:cNvSpPr txBox="1"/>
              <p:nvPr/>
            </p:nvSpPr>
            <p:spPr>
              <a:xfrm>
                <a:off x="7946517" y="3292475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撰写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7948041" y="3540125"/>
                <a:ext cx="9944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DraftArtifact</a:t>
                </a:r>
              </a:p>
            </p:txBody>
          </p:sp>
        </p:grpSp>
        <p:grpSp>
          <p:nvGrpSpPr>
            <p:cNvPr id="70" name="verifier-node"/>
            <p:cNvGrpSpPr/>
            <p:nvPr/>
          </p:nvGrpSpPr>
          <p:grpSpPr>
            <a:xfrm>
              <a:off x="9486900" y="3143250"/>
              <a:ext cx="2036445" cy="685800"/>
              <a:chOff x="9486900" y="3143250"/>
              <a:chExt cx="2036445" cy="685800"/>
            </a:xfrm>
          </p:grpSpPr>
          <p:sp>
            <p:nvSpPr>
              <p:cNvPr id="64" name="Rectangle 64"/>
              <p:cNvSpPr/>
              <p:nvPr/>
            </p:nvSpPr>
            <p:spPr>
              <a:xfrm>
                <a:off x="9486900" y="3143250"/>
                <a:ext cx="1809750" cy="685800"/>
              </a:xfrm>
              <a:prstGeom prst="roundRect">
                <a:avLst>
                  <a:gd name="adj" fmla="val 11111"/>
                </a:avLst>
              </a:prstGeom>
              <a:solidFill>
                <a:srgbClr val="FFF3E3"/>
              </a:solidFill>
              <a:ln w="14288">
                <a:solidFill>
                  <a:schemeClr val="accent2"/>
                </a:solidFill>
              </a:ln>
            </p:spPr>
          </p:sp>
          <p:grpSp>
            <p:nvGrpSpPr>
              <p:cNvPr id="67" name="Group 67"/>
              <p:cNvGrpSpPr/>
              <p:nvPr/>
            </p:nvGrpSpPr>
            <p:grpSpPr>
              <a:xfrm>
                <a:off x="9679311" y="3333750"/>
                <a:ext cx="248008" cy="228599"/>
                <a:chOff x="9679311" y="3333750"/>
                <a:chExt cx="248008" cy="228599"/>
              </a:xfrm>
            </p:grpSpPr>
            <p:sp>
              <p:nvSpPr>
                <p:cNvPr id="65" name="Freeform 65"/>
                <p:cNvSpPr/>
                <p:nvPr/>
              </p:nvSpPr>
              <p:spPr>
                <a:xfrm>
                  <a:off x="9679311" y="3333750"/>
                  <a:ext cx="248008" cy="226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008" h="226644">
                      <a:moveTo>
                        <a:pt x="124581" y="226644"/>
                      </a:moveTo>
                      <a:cubicBezTo>
                        <a:pt x="45021" y="201982"/>
                        <a:pt x="0" y="118013"/>
                        <a:pt x="23489" y="38100"/>
                      </a:cubicBezTo>
                      <a:cubicBezTo>
                        <a:pt x="63056" y="39910"/>
                        <a:pt x="101774" y="26245"/>
                        <a:pt x="131439" y="0"/>
                      </a:cubicBezTo>
                      <a:cubicBezTo>
                        <a:pt x="161104" y="26245"/>
                        <a:pt x="199822" y="39910"/>
                        <a:pt x="239389" y="38100"/>
                      </a:cubicBezTo>
                      <a:cubicBezTo>
                        <a:pt x="248008" y="67426"/>
                        <a:pt x="247610" y="98665"/>
                        <a:pt x="238246" y="127762"/>
                      </a:cubicBez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9848850" y="3511549"/>
                  <a:ext cx="762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50800">
                      <a:moveTo>
                        <a:pt x="0" y="25400"/>
                      </a:moveTo>
                      <a:lnTo>
                        <a:pt x="25400" y="50800"/>
                      </a:ln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</p:grpSp>
          <p:sp>
            <p:nvSpPr>
              <p:cNvPr id="68" name="TextBox 68"/>
              <p:cNvSpPr txBox="1"/>
              <p:nvPr/>
            </p:nvSpPr>
            <p:spPr>
              <a:xfrm>
                <a:off x="10089642" y="3292475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引用校验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10091166" y="3540125"/>
                <a:ext cx="143217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VerificationArtifact</a:t>
                </a:r>
              </a:p>
            </p:txBody>
          </p:sp>
        </p:grpSp>
        <p:sp>
          <p:nvSpPr>
            <p:cNvPr id="71" name="Line 71"/>
            <p:cNvSpPr/>
            <p:nvPr/>
          </p:nvSpPr>
          <p:spPr>
            <a:xfrm>
              <a:off x="2724150" y="3486150"/>
              <a:ext cx="257175" cy="1"/>
            </a:xfrm>
            <a:prstGeom prst="line">
              <a:avLst/>
            </a:prstGeom>
            <a:noFill/>
            <a:ln w="1714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72" name="Line 72"/>
            <p:cNvSpPr/>
            <p:nvPr/>
          </p:nvSpPr>
          <p:spPr>
            <a:xfrm>
              <a:off x="4867275" y="3486150"/>
              <a:ext cx="257175" cy="1"/>
            </a:xfrm>
            <a:prstGeom prst="line">
              <a:avLst/>
            </a:prstGeom>
            <a:noFill/>
            <a:ln w="1714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73" name="Line 73"/>
            <p:cNvSpPr/>
            <p:nvPr/>
          </p:nvSpPr>
          <p:spPr>
            <a:xfrm>
              <a:off x="7010400" y="3486150"/>
              <a:ext cx="257175" cy="1"/>
            </a:xfrm>
            <a:prstGeom prst="line">
              <a:avLst/>
            </a:prstGeom>
            <a:noFill/>
            <a:ln w="1714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74" name="Line 74"/>
            <p:cNvSpPr/>
            <p:nvPr/>
          </p:nvSpPr>
          <p:spPr>
            <a:xfrm>
              <a:off x="9153525" y="3486150"/>
              <a:ext cx="257175" cy="1"/>
            </a:xfrm>
            <a:prstGeom prst="line">
              <a:avLst/>
            </a:prstGeom>
            <a:noFill/>
            <a:ln w="1714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75" name="Freeform 75"/>
            <p:cNvSpPr/>
            <p:nvPr/>
          </p:nvSpPr>
          <p:spPr>
            <a:xfrm>
              <a:off x="8248650" y="3829050"/>
              <a:ext cx="2143125" cy="342900"/>
            </a:xfrm>
            <a:custGeom>
              <a:avLst/>
              <a:gdLst/>
              <a:ahLst/>
              <a:cxnLst/>
              <a:rect l="l" t="t" r="r" b="b"/>
              <a:pathLst>
                <a:path w="2143125" h="342900">
                  <a:moveTo>
                    <a:pt x="2143125" y="0"/>
                  </a:moveTo>
                  <a:lnTo>
                    <a:pt x="2143125" y="342900"/>
                  </a:lnTo>
                  <a:lnTo>
                    <a:pt x="0" y="342900"/>
                  </a:lnTo>
                  <a:lnTo>
                    <a:pt x="0" y="0"/>
                  </a:lnTo>
                  <a:moveTo>
                    <a:pt x="2143125" y="342900"/>
                  </a:moveTo>
                  <a:lnTo>
                    <a:pt x="2143125" y="3429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  <a:custDash>
                <a:ds d="400000" sp="266667"/>
              </a:custDash>
              <a:tailEnd type="triangle" w="lg" len="lg"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784954" y="4197350"/>
              <a:ext cx="30609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unsupported → 定向改写 / 补充检索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914400" y="4667250"/>
              <a:ext cx="10382250" cy="704850"/>
            </a:xfrm>
            <a:prstGeom prst="roundRect">
              <a:avLst>
                <a:gd name="adj" fmla="val 10811"/>
              </a:avLst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136142" y="47879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工程机制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2183892" y="4787900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schema 校验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3707892" y="478790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重试与检查点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5612892" y="47879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共享黑板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232142" y="47879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预算与超时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946642" y="47879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人工复核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37666" y="5092700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失败不是静默跳过，而是进入可观察的恢复路径。</a:t>
              </a:r>
            </a:p>
          </p:txBody>
        </p:sp>
      </p:grpSp>
      <p:grpSp>
        <p:nvGrpSpPr>
          <p:cNvPr id="88" name="footer"/>
          <p:cNvGrpSpPr/>
          <p:nvPr/>
        </p:nvGrpSpPr>
        <p:grpSpPr>
          <a:xfrm>
            <a:off x="604266" y="6502400"/>
            <a:ext cx="10164318" cy="205359"/>
            <a:chOff x="604266" y="6502400"/>
            <a:chExt cx="10164318" cy="205359"/>
          </a:xfrm>
        </p:grpSpPr>
        <p:sp>
          <p:nvSpPr>
            <p:cNvPr id="86" name="TextBox 86"/>
            <p:cNvSpPr txBox="1"/>
            <p:nvPr/>
          </p:nvSpPr>
          <p:spPr>
            <a:xfrm>
              <a:off x="604266" y="6502400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多智能体任务图 · 角色、产物、恢复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175443" y="6502400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P06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609600" y="1371600"/>
            <a:ext cx="10972800" cy="5029200"/>
          </a:xfrm>
          <a:custGeom>
            <a:avLst/>
            <a:gdLst/>
            <a:ahLst/>
            <a:cxnLst/>
            <a:rect l="l" t="t" r="r" b="b"/>
            <a:pathLst>
              <a:path w="10972800" h="5029200">
                <a:moveTo>
                  <a:pt x="0" y="0"/>
                </a:moveTo>
                <a:lnTo>
                  <a:pt x="10972800" y="0"/>
                </a:lnTo>
                <a:moveTo>
                  <a:pt x="0" y="5029200"/>
                </a:moveTo>
                <a:lnTo>
                  <a:pt x="10972800" y="5029200"/>
                </a:lnTo>
                <a:moveTo>
                  <a:pt x="190500" y="0"/>
                </a:moveTo>
                <a:lnTo>
                  <a:pt x="190500" y="5029200"/>
                </a:lnTo>
                <a:moveTo>
                  <a:pt x="10782300" y="0"/>
                </a:moveTo>
                <a:lnTo>
                  <a:pt x="10782300" y="5029200"/>
                </a:lnTo>
              </a:path>
            </a:pathLst>
          </a:custGeom>
          <a:noFill/>
          <a:ln w="9525">
            <a:solidFill>
              <a:schemeClr val="accent6">
                <a:alpha val="32000"/>
              </a:schemeClr>
            </a:solidFill>
          </a:ln>
        </p:spPr>
      </p:sp>
      <p:grpSp>
        <p:nvGrpSpPr>
          <p:cNvPr id="6" name="page-title"/>
          <p:cNvGrpSpPr/>
          <p:nvPr/>
        </p:nvGrpSpPr>
        <p:grpSpPr>
          <a:xfrm>
            <a:off x="592074" y="387350"/>
            <a:ext cx="7278675" cy="1297051"/>
            <a:chOff x="592074" y="387350"/>
            <a:chExt cx="7278675" cy="1297051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87350"/>
              <a:ext cx="16047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07 / 可追溯 RAG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074" y="571500"/>
              <a:ext cx="727867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每条关键声明都绑定 evidenceId，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2074" y="1009650"/>
              <a:ext cx="3750564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形成可追溯引用链</a:t>
              </a:r>
            </a:p>
          </p:txBody>
        </p:sp>
      </p:grpSp>
      <p:grpSp>
        <p:nvGrpSpPr>
          <p:cNvPr id="68" name="rag-pipeline"/>
          <p:cNvGrpSpPr/>
          <p:nvPr/>
        </p:nvGrpSpPr>
        <p:grpSpPr>
          <a:xfrm>
            <a:off x="609600" y="1676400"/>
            <a:ext cx="10972800" cy="4191000"/>
            <a:chOff x="609600" y="1676400"/>
            <a:chExt cx="10972800" cy="4191000"/>
          </a:xfrm>
        </p:grpSpPr>
        <p:sp>
          <p:nvSpPr>
            <p:cNvPr id="7" name="Rectangle 7"/>
            <p:cNvSpPr/>
            <p:nvPr/>
          </p:nvSpPr>
          <p:spPr>
            <a:xfrm>
              <a:off x="609600" y="1676400"/>
              <a:ext cx="10972800" cy="4191000"/>
            </a:xfrm>
            <a:prstGeom prst="roundRect">
              <a:avLst>
                <a:gd name="adj" fmla="val 272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7542" y="1835150"/>
              <a:ext cx="41151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EVIDENCE PIPELINE / SOURCE → CLAIM</a:t>
              </a:r>
            </a:p>
          </p:txBody>
        </p:sp>
        <p:grpSp>
          <p:nvGrpSpPr>
            <p:cNvPr id="16" name="pipeline-stage-1"/>
            <p:cNvGrpSpPr/>
            <p:nvPr/>
          </p:nvGrpSpPr>
          <p:grpSpPr>
            <a:xfrm>
              <a:off x="914400" y="2209800"/>
              <a:ext cx="2381250" cy="819150"/>
              <a:chOff x="914400" y="2209800"/>
              <a:chExt cx="2381250" cy="8191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914400" y="2209800"/>
                <a:ext cx="2381250" cy="819150"/>
              </a:xfrm>
              <a:prstGeom prst="roundRect">
                <a:avLst>
                  <a:gd name="adj" fmla="val 9302"/>
                </a:avLst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1158875" y="2421731"/>
                <a:ext cx="215901" cy="242888"/>
                <a:chOff x="1158875" y="2421731"/>
                <a:chExt cx="215901" cy="242888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1158875" y="2421731"/>
                  <a:ext cx="215901" cy="80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01" h="80963">
                      <a:moveTo>
                        <a:pt x="0" y="40481"/>
                      </a:moveTo>
                      <a:cubicBezTo>
                        <a:pt x="0" y="62839"/>
                        <a:pt x="48331" y="80963"/>
                        <a:pt x="107950" y="80963"/>
                      </a:cubicBezTo>
                      <a:cubicBezTo>
                        <a:pt x="167570" y="80963"/>
                        <a:pt x="215901" y="62839"/>
                        <a:pt x="215901" y="40481"/>
                      </a:cubicBezTo>
                      <a:cubicBezTo>
                        <a:pt x="215901" y="18124"/>
                        <a:pt x="167570" y="0"/>
                        <a:pt x="107950" y="0"/>
                      </a:cubicBezTo>
                      <a:cubicBezTo>
                        <a:pt x="48331" y="0"/>
                        <a:pt x="0" y="18124"/>
                        <a:pt x="0" y="40481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158875" y="2462213"/>
                  <a:ext cx="215901" cy="121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01" h="121444">
                      <a:moveTo>
                        <a:pt x="0" y="0"/>
                      </a:moveTo>
                      <a:lnTo>
                        <a:pt x="0" y="80963"/>
                      </a:lnTo>
                      <a:cubicBezTo>
                        <a:pt x="0" y="103320"/>
                        <a:pt x="48331" y="121444"/>
                        <a:pt x="107950" y="121444"/>
                      </a:cubicBezTo>
                      <a:cubicBezTo>
                        <a:pt x="167570" y="121444"/>
                        <a:pt x="215901" y="103320"/>
                        <a:pt x="215901" y="80963"/>
                      </a:cubicBezTo>
                      <a:lnTo>
                        <a:pt x="215901" y="0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158875" y="2543175"/>
                  <a:ext cx="215901" cy="121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01" h="121444">
                      <a:moveTo>
                        <a:pt x="0" y="0"/>
                      </a:moveTo>
                      <a:lnTo>
                        <a:pt x="0" y="80963"/>
                      </a:lnTo>
                      <a:cubicBezTo>
                        <a:pt x="0" y="103320"/>
                        <a:pt x="48331" y="121444"/>
                        <a:pt x="107950" y="121444"/>
                      </a:cubicBezTo>
                      <a:cubicBezTo>
                        <a:pt x="167570" y="121444"/>
                        <a:pt x="215901" y="103320"/>
                        <a:pt x="215901" y="80963"/>
                      </a:cubicBezTo>
                      <a:lnTo>
                        <a:pt x="215901" y="0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1555242" y="240665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论文接入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556766" y="2692400"/>
                <a:ext cx="13888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metadata + 开放全文</a:t>
                </a:r>
              </a:p>
            </p:txBody>
          </p:sp>
        </p:grpSp>
        <p:sp>
          <p:nvSpPr>
            <p:cNvPr id="17" name="Line 17"/>
            <p:cNvSpPr/>
            <p:nvPr/>
          </p:nvSpPr>
          <p:spPr>
            <a:xfrm>
              <a:off x="3295650" y="2619375"/>
              <a:ext cx="266700" cy="1"/>
            </a:xfrm>
            <a:prstGeom prst="line">
              <a:avLst/>
            </a:prstGeom>
            <a:noFill/>
            <a:ln w="17145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31" name="pipeline-stage-2"/>
            <p:cNvGrpSpPr/>
            <p:nvPr/>
          </p:nvGrpSpPr>
          <p:grpSpPr>
            <a:xfrm>
              <a:off x="3600450" y="2209800"/>
              <a:ext cx="2384584" cy="819150"/>
              <a:chOff x="3600450" y="2209800"/>
              <a:chExt cx="2384584" cy="8191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3600450" y="2209800"/>
                <a:ext cx="2381250" cy="819150"/>
              </a:xfrm>
              <a:prstGeom prst="roundRect">
                <a:avLst>
                  <a:gd name="adj" fmla="val 9302"/>
                </a:avLst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grpSp>
            <p:nvGrpSpPr>
              <p:cNvPr id="28" name="Group 28"/>
              <p:cNvGrpSpPr/>
              <p:nvPr/>
            </p:nvGrpSpPr>
            <p:grpSpPr>
              <a:xfrm>
                <a:off x="3817938" y="2408238"/>
                <a:ext cx="256381" cy="269875"/>
                <a:chOff x="3817938" y="2408238"/>
                <a:chExt cx="256381" cy="269875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3817938" y="2624138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53975" y="26988"/>
                      </a:moveTo>
                      <a:cubicBezTo>
                        <a:pt x="53975" y="12083"/>
                        <a:pt x="41892" y="0"/>
                        <a:pt x="26988" y="0"/>
                      </a:cubicBezTo>
                      <a:cubicBezTo>
                        <a:pt x="12083" y="0"/>
                        <a:pt x="0" y="12083"/>
                        <a:pt x="0" y="26988"/>
                      </a:cubicBezTo>
                      <a:cubicBezTo>
                        <a:pt x="0" y="41892"/>
                        <a:pt x="12083" y="53975"/>
                        <a:pt x="26988" y="53975"/>
                      </a:cubicBezTo>
                      <a:cubicBezTo>
                        <a:pt x="41892" y="53975"/>
                        <a:pt x="53975" y="41892"/>
                        <a:pt x="53975" y="26988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3952875" y="2408238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53975" y="26988"/>
                      </a:moveTo>
                      <a:cubicBezTo>
                        <a:pt x="53975" y="12083"/>
                        <a:pt x="41892" y="0"/>
                        <a:pt x="26988" y="0"/>
                      </a:cubicBezTo>
                      <a:cubicBezTo>
                        <a:pt x="12083" y="0"/>
                        <a:pt x="0" y="12083"/>
                        <a:pt x="0" y="26988"/>
                      </a:cubicBezTo>
                      <a:cubicBezTo>
                        <a:pt x="0" y="41892"/>
                        <a:pt x="12083" y="53975"/>
                        <a:pt x="26988" y="53975"/>
                      </a:cubicBezTo>
                      <a:cubicBezTo>
                        <a:pt x="41892" y="53975"/>
                        <a:pt x="53975" y="41892"/>
                        <a:pt x="53975" y="26988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3952875" y="2624138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53975" y="26988"/>
                      </a:moveTo>
                      <a:cubicBezTo>
                        <a:pt x="53975" y="12083"/>
                        <a:pt x="41892" y="0"/>
                        <a:pt x="26988" y="0"/>
                      </a:cubicBezTo>
                      <a:cubicBezTo>
                        <a:pt x="12083" y="0"/>
                        <a:pt x="0" y="12083"/>
                        <a:pt x="0" y="26988"/>
                      </a:cubicBezTo>
                      <a:cubicBezTo>
                        <a:pt x="0" y="41892"/>
                        <a:pt x="12083" y="53975"/>
                        <a:pt x="26988" y="53975"/>
                      </a:cubicBezTo>
                      <a:cubicBezTo>
                        <a:pt x="41892" y="53975"/>
                        <a:pt x="53975" y="41892"/>
                        <a:pt x="53975" y="26988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3885406" y="2516188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53975" y="26988"/>
                      </a:moveTo>
                      <a:cubicBezTo>
                        <a:pt x="53975" y="12083"/>
                        <a:pt x="41892" y="0"/>
                        <a:pt x="26988" y="0"/>
                      </a:cubicBezTo>
                      <a:cubicBezTo>
                        <a:pt x="12083" y="0"/>
                        <a:pt x="0" y="12083"/>
                        <a:pt x="0" y="26988"/>
                      </a:cubicBezTo>
                      <a:cubicBezTo>
                        <a:pt x="0" y="41892"/>
                        <a:pt x="12083" y="53975"/>
                        <a:pt x="26988" y="53975"/>
                      </a:cubicBezTo>
                      <a:cubicBezTo>
                        <a:pt x="41892" y="53975"/>
                        <a:pt x="53975" y="41892"/>
                        <a:pt x="53975" y="26988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4020344" y="2516188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53975" y="26988"/>
                      </a:moveTo>
                      <a:cubicBezTo>
                        <a:pt x="53975" y="12083"/>
                        <a:pt x="41892" y="0"/>
                        <a:pt x="26988" y="0"/>
                      </a:cubicBezTo>
                      <a:cubicBezTo>
                        <a:pt x="12083" y="0"/>
                        <a:pt x="0" y="12083"/>
                        <a:pt x="0" y="26988"/>
                      </a:cubicBezTo>
                      <a:cubicBezTo>
                        <a:pt x="0" y="41892"/>
                        <a:pt x="12083" y="53975"/>
                        <a:pt x="26988" y="53975"/>
                      </a:cubicBezTo>
                      <a:cubicBezTo>
                        <a:pt x="41892" y="53975"/>
                        <a:pt x="53975" y="41892"/>
                        <a:pt x="53975" y="26988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3859202" y="2566115"/>
                  <a:ext cx="38862" cy="621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62" h="62152">
                      <a:moveTo>
                        <a:pt x="0" y="62152"/>
                      </a:moveTo>
                      <a:lnTo>
                        <a:pt x="38862" y="0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3926711" y="2458151"/>
                  <a:ext cx="38822" cy="6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22" h="62125">
                      <a:moveTo>
                        <a:pt x="0" y="62125"/>
                      </a:moveTo>
                      <a:lnTo>
                        <a:pt x="38822" y="0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3926765" y="2566182"/>
                  <a:ext cx="38808" cy="620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08" h="62071">
                      <a:moveTo>
                        <a:pt x="0" y="0"/>
                      </a:moveTo>
                      <a:lnTo>
                        <a:pt x="38808" y="62071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3994207" y="2458165"/>
                  <a:ext cx="38876" cy="622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76" h="62206">
                      <a:moveTo>
                        <a:pt x="0" y="0"/>
                      </a:moveTo>
                      <a:lnTo>
                        <a:pt x="38876" y="62206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</p:grpSp>
          <p:sp>
            <p:nvSpPr>
              <p:cNvPr id="29" name="TextBox 29"/>
              <p:cNvSpPr txBox="1"/>
              <p:nvPr/>
            </p:nvSpPr>
            <p:spPr>
              <a:xfrm>
                <a:off x="4241292" y="240665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章节切分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242816" y="2692400"/>
                <a:ext cx="174221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chunk + section + locator</a:t>
                </a:r>
              </a:p>
            </p:txBody>
          </p:sp>
        </p:grpSp>
        <p:sp>
          <p:nvSpPr>
            <p:cNvPr id="32" name="Line 32"/>
            <p:cNvSpPr/>
            <p:nvPr/>
          </p:nvSpPr>
          <p:spPr>
            <a:xfrm>
              <a:off x="5981700" y="2619375"/>
              <a:ext cx="266700" cy="1"/>
            </a:xfrm>
            <a:prstGeom prst="line">
              <a:avLst/>
            </a:prstGeom>
            <a:noFill/>
            <a:ln w="17145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39" name="pipeline-stage-3"/>
            <p:cNvGrpSpPr/>
            <p:nvPr/>
          </p:nvGrpSpPr>
          <p:grpSpPr>
            <a:xfrm>
              <a:off x="6286500" y="2209800"/>
              <a:ext cx="2381250" cy="819150"/>
              <a:chOff x="6286500" y="2209800"/>
              <a:chExt cx="2381250" cy="81915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6286500" y="2209800"/>
                <a:ext cx="2381250" cy="819150"/>
              </a:xfrm>
              <a:prstGeom prst="roundRect">
                <a:avLst>
                  <a:gd name="adj" fmla="val 9302"/>
                </a:avLst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grpSp>
            <p:nvGrpSpPr>
              <p:cNvPr id="36" name="Group 36"/>
              <p:cNvGrpSpPr/>
              <p:nvPr/>
            </p:nvGrpSpPr>
            <p:grpSpPr>
              <a:xfrm>
                <a:off x="6517481" y="2421731"/>
                <a:ext cx="242889" cy="242889"/>
                <a:chOff x="6517481" y="2421731"/>
                <a:chExt cx="242889" cy="242889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6517481" y="2421731"/>
                  <a:ext cx="188913" cy="188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913" h="188913">
                      <a:moveTo>
                        <a:pt x="0" y="94456"/>
                      </a:moveTo>
                      <a:cubicBezTo>
                        <a:pt x="0" y="146623"/>
                        <a:pt x="42290" y="188913"/>
                        <a:pt x="94456" y="188913"/>
                      </a:cubicBezTo>
                      <a:cubicBezTo>
                        <a:pt x="146623" y="188913"/>
                        <a:pt x="188913" y="146623"/>
                        <a:pt x="188913" y="94456"/>
                      </a:cubicBezTo>
                      <a:cubicBezTo>
                        <a:pt x="188913" y="42290"/>
                        <a:pt x="146623" y="0"/>
                        <a:pt x="94456" y="0"/>
                      </a:cubicBezTo>
                      <a:cubicBezTo>
                        <a:pt x="42290" y="0"/>
                        <a:pt x="0" y="42290"/>
                        <a:pt x="0" y="94456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6679407" y="2583657"/>
                  <a:ext cx="80963" cy="80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3" h="80963">
                      <a:moveTo>
                        <a:pt x="80963" y="8096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</p:grpSp>
          <p:sp>
            <p:nvSpPr>
              <p:cNvPr id="37" name="TextBox 37"/>
              <p:cNvSpPr txBox="1"/>
              <p:nvPr/>
            </p:nvSpPr>
            <p:spPr>
              <a:xfrm>
                <a:off x="6927342" y="240665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混合召回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928866" y="2692400"/>
                <a:ext cx="15434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BM25 + dense + rerank</a:t>
                </a:r>
              </a:p>
            </p:txBody>
          </p:sp>
        </p:grpSp>
        <p:sp>
          <p:nvSpPr>
            <p:cNvPr id="40" name="Line 40"/>
            <p:cNvSpPr/>
            <p:nvPr/>
          </p:nvSpPr>
          <p:spPr>
            <a:xfrm>
              <a:off x="8667750" y="2619375"/>
              <a:ext cx="266700" cy="1"/>
            </a:xfrm>
            <a:prstGeom prst="line">
              <a:avLst/>
            </a:prstGeom>
            <a:noFill/>
            <a:ln w="17145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48" name="pipeline-stage-4"/>
            <p:cNvGrpSpPr/>
            <p:nvPr/>
          </p:nvGrpSpPr>
          <p:grpSpPr>
            <a:xfrm>
              <a:off x="8972550" y="2209800"/>
              <a:ext cx="2305050" cy="819150"/>
              <a:chOff x="8972550" y="2209800"/>
              <a:chExt cx="2305050" cy="81915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8972550" y="2209800"/>
                <a:ext cx="2305050" cy="819150"/>
              </a:xfrm>
              <a:prstGeom prst="roundRect">
                <a:avLst>
                  <a:gd name="adj" fmla="val 9302"/>
                </a:avLst>
              </a:prstGeom>
              <a:solidFill>
                <a:srgbClr val="FFF3E3"/>
              </a:solidFill>
              <a:ln w="14288">
                <a:solidFill>
                  <a:schemeClr val="accent2"/>
                </a:solidFill>
              </a:ln>
            </p:spPr>
          </p:sp>
          <p:grpSp>
            <p:nvGrpSpPr>
              <p:cNvPr id="45" name="Group 45"/>
              <p:cNvGrpSpPr/>
              <p:nvPr/>
            </p:nvGrpSpPr>
            <p:grpSpPr>
              <a:xfrm>
                <a:off x="9217023" y="2428632"/>
                <a:ext cx="222476" cy="229059"/>
                <a:chOff x="9217023" y="2428632"/>
                <a:chExt cx="222476" cy="229059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9284494" y="2502694"/>
                  <a:ext cx="80963" cy="80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3" h="80963">
                      <a:moveTo>
                        <a:pt x="0" y="80963"/>
                      </a:moveTo>
                      <a:lnTo>
                        <a:pt x="80963" y="0"/>
                      </a:lnTo>
                    </a:path>
                  </a:pathLst>
                </a:custGeom>
                <a:noFill/>
                <a:ln w="26988">
                  <a:solidFill>
                    <a:schemeClr val="accent2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9311482" y="2428632"/>
                  <a:ext cx="128017" cy="1280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017" h="128037">
                      <a:moveTo>
                        <a:pt x="0" y="33581"/>
                      </a:moveTo>
                      <a:lnTo>
                        <a:pt x="6248" y="26348"/>
                      </a:lnTo>
                      <a:cubicBezTo>
                        <a:pt x="32599" y="0"/>
                        <a:pt x="75321" y="3"/>
                        <a:pt x="101669" y="26355"/>
                      </a:cubicBezTo>
                      <a:cubicBezTo>
                        <a:pt x="128017" y="52706"/>
                        <a:pt x="128014" y="95428"/>
                        <a:pt x="101662" y="121776"/>
                      </a:cubicBezTo>
                      <a:lnTo>
                        <a:pt x="94456" y="128037"/>
                      </a:lnTo>
                    </a:path>
                  </a:pathLst>
                </a:custGeom>
                <a:noFill/>
                <a:ln w="26988">
                  <a:solidFill>
                    <a:schemeClr val="accent2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9217023" y="2529682"/>
                  <a:ext cx="121446" cy="128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446" h="128009">
                      <a:moveTo>
                        <a:pt x="121446" y="94456"/>
                      </a:moveTo>
                      <a:lnTo>
                        <a:pt x="116089" y="101662"/>
                      </a:lnTo>
                      <a:cubicBezTo>
                        <a:pt x="89446" y="128009"/>
                        <a:pt x="46562" y="128009"/>
                        <a:pt x="19919" y="101662"/>
                      </a:cubicBezTo>
                      <a:cubicBezTo>
                        <a:pt x="7173" y="89059"/>
                        <a:pt x="0" y="71880"/>
                        <a:pt x="0" y="53955"/>
                      </a:cubicBezTo>
                      <a:cubicBezTo>
                        <a:pt x="0" y="36030"/>
                        <a:pt x="7173" y="18851"/>
                        <a:pt x="19919" y="6248"/>
                      </a:cubicBezTo>
                      <a:lnTo>
                        <a:pt x="26989" y="0"/>
                      </a:lnTo>
                    </a:path>
                  </a:pathLst>
                </a:custGeom>
                <a:noFill/>
                <a:ln w="26988">
                  <a:solidFill>
                    <a:schemeClr val="accent2"/>
                  </a:solidFill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9613392" y="240665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证据卡片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9614916" y="2692400"/>
                <a:ext cx="142888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evidenceId + support</a:t>
                </a:r>
              </a:p>
            </p:txBody>
          </p:sp>
        </p:grpSp>
        <p:grpSp>
          <p:nvGrpSpPr>
            <p:cNvPr id="57" name="evidence-example"/>
            <p:cNvGrpSpPr/>
            <p:nvPr/>
          </p:nvGrpSpPr>
          <p:grpSpPr>
            <a:xfrm>
              <a:off x="914400" y="3333750"/>
              <a:ext cx="4857750" cy="1924050"/>
              <a:chOff x="914400" y="3333750"/>
              <a:chExt cx="4857750" cy="192405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914400" y="3333750"/>
                <a:ext cx="4857750" cy="1924050"/>
              </a:xfrm>
              <a:prstGeom prst="roundRect">
                <a:avLst>
                  <a:gd name="adj" fmla="val 3960"/>
                </a:avLst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50" name="Rectangle 50"/>
              <p:cNvSpPr/>
              <p:nvPr/>
            </p:nvSpPr>
            <p:spPr>
              <a:xfrm>
                <a:off x="914400" y="3333750"/>
                <a:ext cx="95250" cy="19240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1212342" y="3492500"/>
                <a:ext cx="17476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EVIDENCE / EV-017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1212342" y="3835400"/>
                <a:ext cx="21909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“在数据集 D 上，方法 A 的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212342" y="4083050"/>
                <a:ext cx="145441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F1 优于方法 B。”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1213866" y="4502150"/>
                <a:ext cx="22650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Paper: 2402.01788 · Section 4.2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213866" y="4730750"/>
                <a:ext cx="21092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Locator: p.6 / Table 2 / row A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213866" y="4997450"/>
                <a:ext cx="172314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Support: 0.82 · 自动通过</a:t>
                </a:r>
              </a:p>
            </p:txBody>
          </p:sp>
        </p:grpSp>
        <p:sp>
          <p:nvSpPr>
            <p:cNvPr id="58" name="Freeform 58"/>
            <p:cNvSpPr/>
            <p:nvPr/>
          </p:nvSpPr>
          <p:spPr>
            <a:xfrm>
              <a:off x="5772150" y="4286250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17145">
              <a:solidFill>
                <a:schemeClr val="accent2"/>
              </a:solidFill>
              <a:custDash>
                <a:ds d="333333" sp="222222"/>
              </a:custDash>
              <a:tailEnd type="triangle" w="lg" len="lg"/>
            </a:ln>
          </p:spPr>
        </p:sp>
        <p:grpSp>
          <p:nvGrpSpPr>
            <p:cNvPr id="66" name="claim-example"/>
            <p:cNvGrpSpPr/>
            <p:nvPr/>
          </p:nvGrpSpPr>
          <p:grpSpPr>
            <a:xfrm>
              <a:off x="6286500" y="3333750"/>
              <a:ext cx="4991100" cy="1924050"/>
              <a:chOff x="6286500" y="3333750"/>
              <a:chExt cx="4991100" cy="1924050"/>
            </a:xfrm>
          </p:grpSpPr>
          <p:sp>
            <p:nvSpPr>
              <p:cNvPr id="59" name="Rectangle 59"/>
              <p:cNvSpPr/>
              <p:nvPr/>
            </p:nvSpPr>
            <p:spPr>
              <a:xfrm>
                <a:off x="6286500" y="3333750"/>
                <a:ext cx="4991100" cy="1924050"/>
              </a:xfrm>
              <a:prstGeom prst="roundRect">
                <a:avLst>
                  <a:gd name="adj" fmla="val 3960"/>
                </a:avLst>
              </a:prstGeom>
              <a:solidFill>
                <a:schemeClr val="lt1"/>
              </a:solidFill>
              <a:ln w="14288">
                <a:solidFill>
                  <a:schemeClr val="accent6"/>
                </a:solidFill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6565392" y="3492500"/>
                <a:ext cx="145533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CLAIM / CL-041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6563106" y="3784600"/>
                <a:ext cx="231901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方法 A 在 D 上优于 B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565392" y="4140200"/>
                <a:ext cx="273565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→ evidenceIds: EV-017, EV-021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6565392" y="4425950"/>
                <a:ext cx="188560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→ citation: [12] [14]</a:t>
                </a:r>
              </a:p>
            </p:txBody>
          </p:sp>
          <p:sp>
            <p:nvSpPr>
              <p:cNvPr id="64" name="Rectangle 64"/>
              <p:cNvSpPr/>
              <p:nvPr/>
            </p:nvSpPr>
            <p:spPr>
              <a:xfrm>
                <a:off x="6572250" y="4838700"/>
                <a:ext cx="4324350" cy="2476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6738366" y="4883150"/>
                <a:ext cx="230268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正文只允许引用证据卡片中存在的 ID</a:t>
                </a:r>
              </a:p>
            </p:txBody>
          </p:sp>
        </p:grpSp>
        <p:sp>
          <p:nvSpPr>
            <p:cNvPr id="67" name="TextBox 67"/>
            <p:cNvSpPr txBox="1"/>
            <p:nvPr/>
          </p:nvSpPr>
          <p:spPr>
            <a:xfrm>
              <a:off x="907542" y="5454650"/>
              <a:ext cx="57079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校验门槛：≥0.75 自动通过 · 0.50—0.75 人工复核 · &lt;0.50 拒绝写入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604266" y="6502400"/>
            <a:ext cx="10164318" cy="205359"/>
            <a:chOff x="604266" y="6502400"/>
            <a:chExt cx="10164318" cy="205359"/>
          </a:xfrm>
        </p:grpSpPr>
        <p:sp>
          <p:nvSpPr>
            <p:cNvPr id="69" name="TextBox 69"/>
            <p:cNvSpPr txBox="1"/>
            <p:nvPr/>
          </p:nvSpPr>
          <p:spPr>
            <a:xfrm>
              <a:off x="604266" y="6502400"/>
              <a:ext cx="24525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可追溯 RAG · 从原文到声明的证据路径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175443" y="6502400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P07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609600" y="1371600"/>
            <a:ext cx="10972800" cy="5029200"/>
          </a:xfrm>
          <a:custGeom>
            <a:avLst/>
            <a:gdLst/>
            <a:ahLst/>
            <a:cxnLst/>
            <a:rect l="l" t="t" r="r" b="b"/>
            <a:pathLst>
              <a:path w="10972800" h="5029200">
                <a:moveTo>
                  <a:pt x="0" y="0"/>
                </a:moveTo>
                <a:lnTo>
                  <a:pt x="10972800" y="0"/>
                </a:lnTo>
                <a:moveTo>
                  <a:pt x="0" y="5029200"/>
                </a:moveTo>
                <a:lnTo>
                  <a:pt x="10972800" y="5029200"/>
                </a:lnTo>
                <a:moveTo>
                  <a:pt x="190500" y="0"/>
                </a:moveTo>
                <a:lnTo>
                  <a:pt x="190500" y="5029200"/>
                </a:lnTo>
                <a:moveTo>
                  <a:pt x="10782300" y="0"/>
                </a:moveTo>
                <a:lnTo>
                  <a:pt x="10782300" y="5029200"/>
                </a:lnTo>
              </a:path>
            </a:pathLst>
          </a:custGeom>
          <a:noFill/>
          <a:ln w="9525">
            <a:solidFill>
              <a:schemeClr val="accent6">
                <a:alpha val="32000"/>
              </a:schemeClr>
            </a:solidFill>
          </a:ln>
        </p:spPr>
      </p:sp>
      <p:grpSp>
        <p:nvGrpSpPr>
          <p:cNvPr id="6" name="page-title"/>
          <p:cNvGrpSpPr/>
          <p:nvPr/>
        </p:nvGrpSpPr>
        <p:grpSpPr>
          <a:xfrm>
            <a:off x="592074" y="387350"/>
            <a:ext cx="5608320" cy="1297051"/>
            <a:chOff x="592074" y="387350"/>
            <a:chExt cx="5608320" cy="1297051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87350"/>
              <a:ext cx="19362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08 / 结果融合与校验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074" y="571500"/>
              <a:ext cx="560832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结果融合保留条件与冲突，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2074" y="1009650"/>
              <a:ext cx="282168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不做盲目投票</a:t>
              </a:r>
            </a:p>
          </p:txBody>
        </p:sp>
      </p:grpSp>
      <p:grpSp>
        <p:nvGrpSpPr>
          <p:cNvPr id="40" name="fusion-flow"/>
          <p:cNvGrpSpPr/>
          <p:nvPr/>
        </p:nvGrpSpPr>
        <p:grpSpPr>
          <a:xfrm>
            <a:off x="609600" y="1676400"/>
            <a:ext cx="6667500" cy="4191000"/>
            <a:chOff x="609600" y="1676400"/>
            <a:chExt cx="6667500" cy="4191000"/>
          </a:xfrm>
        </p:grpSpPr>
        <p:sp>
          <p:nvSpPr>
            <p:cNvPr id="7" name="Rectangle 7"/>
            <p:cNvSpPr/>
            <p:nvPr/>
          </p:nvSpPr>
          <p:spPr>
            <a:xfrm>
              <a:off x="609600" y="1676400"/>
              <a:ext cx="6667500" cy="4191000"/>
            </a:xfrm>
            <a:prstGeom prst="roundRect">
              <a:avLst>
                <a:gd name="adj" fmla="val 272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7542" y="1835150"/>
              <a:ext cx="29844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FUSION / FIVE OPERATIONS</a:t>
              </a:r>
            </a:p>
          </p:txBody>
        </p:sp>
        <p:grpSp>
          <p:nvGrpSpPr>
            <p:cNvPr id="12" name="fusion-step-1"/>
            <p:cNvGrpSpPr/>
            <p:nvPr/>
          </p:nvGrpSpPr>
          <p:grpSpPr>
            <a:xfrm>
              <a:off x="914400" y="2266950"/>
              <a:ext cx="1181100" cy="857250"/>
              <a:chOff x="914400" y="2266950"/>
              <a:chExt cx="1181100" cy="8572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914400" y="2266950"/>
                <a:ext cx="1181100" cy="857250"/>
              </a:xfrm>
              <a:prstGeom prst="roundRect">
                <a:avLst>
                  <a:gd name="adj" fmla="val 8889"/>
                </a:avLst>
              </a:prstGeom>
              <a:solidFill>
                <a:schemeClr val="lt1"/>
              </a:solidFill>
              <a:ln w="11430">
                <a:solidFill>
                  <a:schemeClr val="accent1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225486" y="2444750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归一化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031931" y="2730500"/>
                <a:ext cx="94603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DOI / arXiv ID</a:t>
                </a:r>
              </a:p>
            </p:txBody>
          </p:sp>
        </p:grpSp>
        <p:sp>
          <p:nvSpPr>
            <p:cNvPr id="13" name="Line 13"/>
            <p:cNvSpPr/>
            <p:nvPr/>
          </p:nvSpPr>
          <p:spPr>
            <a:xfrm>
              <a:off x="2095500" y="2695575"/>
              <a:ext cx="152400" cy="1"/>
            </a:xfrm>
            <a:prstGeom prst="line">
              <a:avLst/>
            </a:prstGeom>
            <a:noFill/>
            <a:ln w="15240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17" name="fusion-step-2"/>
            <p:cNvGrpSpPr/>
            <p:nvPr/>
          </p:nvGrpSpPr>
          <p:grpSpPr>
            <a:xfrm>
              <a:off x="2286000" y="2266950"/>
              <a:ext cx="1181100" cy="857250"/>
              <a:chOff x="2286000" y="2266950"/>
              <a:chExt cx="1181100" cy="8572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2286000" y="2266950"/>
                <a:ext cx="1181100" cy="857250"/>
              </a:xfrm>
              <a:prstGeom prst="roundRect">
                <a:avLst>
                  <a:gd name="adj" fmla="val 8889"/>
                </a:avLst>
              </a:prstGeom>
              <a:solidFill>
                <a:schemeClr val="lt1"/>
              </a:solidFill>
              <a:ln w="11430">
                <a:solidFill>
                  <a:schemeClr val="accent1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2687955" y="2444750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去重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397690" y="2730500"/>
                <a:ext cx="9577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title + author</a:t>
                </a:r>
              </a:p>
            </p:txBody>
          </p:sp>
        </p:grpSp>
        <p:sp>
          <p:nvSpPr>
            <p:cNvPr id="18" name="Line 18"/>
            <p:cNvSpPr/>
            <p:nvPr/>
          </p:nvSpPr>
          <p:spPr>
            <a:xfrm>
              <a:off x="3467100" y="2695575"/>
              <a:ext cx="152400" cy="1"/>
            </a:xfrm>
            <a:prstGeom prst="line">
              <a:avLst/>
            </a:prstGeom>
            <a:noFill/>
            <a:ln w="15240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22" name="fusion-step-3"/>
            <p:cNvGrpSpPr/>
            <p:nvPr/>
          </p:nvGrpSpPr>
          <p:grpSpPr>
            <a:xfrm>
              <a:off x="3657600" y="2266950"/>
              <a:ext cx="1181100" cy="857250"/>
              <a:chOff x="3657600" y="2266950"/>
              <a:chExt cx="1181100" cy="8572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3657600" y="2266950"/>
                <a:ext cx="1181100" cy="857250"/>
              </a:xfrm>
              <a:prstGeom prst="roundRect">
                <a:avLst>
                  <a:gd name="adj" fmla="val 8889"/>
                </a:avLst>
              </a:prstGeom>
              <a:solidFill>
                <a:schemeClr val="lt1"/>
              </a:solidFill>
              <a:ln w="11430">
                <a:solidFill>
                  <a:schemeClr val="accent1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059555" y="2444750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聚类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758689" y="2730500"/>
                <a:ext cx="97892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method / task</a:t>
                </a:r>
              </a:p>
            </p:txBody>
          </p:sp>
        </p:grpSp>
        <p:sp>
          <p:nvSpPr>
            <p:cNvPr id="23" name="Line 23"/>
            <p:cNvSpPr/>
            <p:nvPr/>
          </p:nvSpPr>
          <p:spPr>
            <a:xfrm>
              <a:off x="4838700" y="2695575"/>
              <a:ext cx="152400" cy="1"/>
            </a:xfrm>
            <a:prstGeom prst="line">
              <a:avLst/>
            </a:prstGeom>
            <a:noFill/>
            <a:ln w="15240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27" name="fusion-step-4"/>
            <p:cNvGrpSpPr/>
            <p:nvPr/>
          </p:nvGrpSpPr>
          <p:grpSpPr>
            <a:xfrm>
              <a:off x="5029200" y="2266950"/>
              <a:ext cx="1181100" cy="857250"/>
              <a:chOff x="5029200" y="2266950"/>
              <a:chExt cx="1181100" cy="8572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029200" y="2266950"/>
                <a:ext cx="1181100" cy="857250"/>
              </a:xfrm>
              <a:prstGeom prst="roundRect">
                <a:avLst>
                  <a:gd name="adj" fmla="val 8889"/>
                </a:avLst>
              </a:prstGeom>
              <a:solidFill>
                <a:srgbClr val="FFF3E3"/>
              </a:solidFill>
              <a:ln w="11430">
                <a:solidFill>
                  <a:schemeClr val="accent2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5431155" y="2444750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冲突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084350" y="2730500"/>
                <a:ext cx="107080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keep conditions</a:t>
                </a:r>
              </a:p>
            </p:txBody>
          </p:sp>
        </p:grpSp>
        <p:sp>
          <p:nvSpPr>
            <p:cNvPr id="28" name="Line 28"/>
            <p:cNvSpPr/>
            <p:nvPr/>
          </p:nvSpPr>
          <p:spPr>
            <a:xfrm>
              <a:off x="6210300" y="2695575"/>
              <a:ext cx="152400" cy="1"/>
            </a:xfrm>
            <a:prstGeom prst="line">
              <a:avLst/>
            </a:prstGeom>
            <a:noFill/>
            <a:ln w="15240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32" name="fusion-step-5"/>
            <p:cNvGrpSpPr/>
            <p:nvPr/>
          </p:nvGrpSpPr>
          <p:grpSpPr>
            <a:xfrm>
              <a:off x="6387913" y="2266950"/>
              <a:ext cx="597275" cy="857250"/>
              <a:chOff x="6387913" y="2266950"/>
              <a:chExt cx="597275" cy="8572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6400800" y="2266950"/>
                <a:ext cx="571500" cy="857250"/>
              </a:xfrm>
              <a:prstGeom prst="roundRect">
                <a:avLst>
                  <a:gd name="adj" fmla="val 1333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6497955" y="2482850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7F9F6"/>
                    </a:solidFill>
                    <a:latin typeface="+mn-lt"/>
                    <a:ea typeface="+mn-ea"/>
                    <a:cs typeface="+mn-cs"/>
                  </a:rPr>
                  <a:t>写作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387913" y="2749550"/>
                <a:ext cx="59727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CFE0D4"/>
                    </a:solidFill>
                    <a:latin typeface="+mn-lt"/>
                    <a:ea typeface="+mn-ea"/>
                    <a:cs typeface="+mn-cs"/>
                  </a:rPr>
                  <a:t>evidence</a:t>
                </a:r>
              </a:p>
            </p:txBody>
          </p:sp>
        </p:grpSp>
        <p:sp>
          <p:nvSpPr>
            <p:cNvPr id="33" name="Freeform 33"/>
            <p:cNvSpPr/>
            <p:nvPr/>
          </p:nvSpPr>
          <p:spPr>
            <a:xfrm>
              <a:off x="914400" y="3524250"/>
              <a:ext cx="6019800" cy="9525"/>
            </a:xfrm>
            <a:custGeom>
              <a:avLst/>
              <a:gdLst/>
              <a:ahLst/>
              <a:cxnLst/>
              <a:rect l="l" t="t" r="r" b="b"/>
              <a:pathLst>
                <a:path w="6019800" h="9525">
                  <a:moveTo>
                    <a:pt x="0" y="0"/>
                  </a:moveTo>
                  <a:lnTo>
                    <a:pt x="6019800" y="0"/>
                  </a:lnTo>
                </a:path>
              </a:pathLst>
            </a:custGeom>
            <a:solidFill>
              <a:schemeClr val="dk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05256" y="3670300"/>
              <a:ext cx="19362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证据质量分 Q(e)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07542" y="4044950"/>
              <a:ext cx="2685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0.30 × 相关性 + 0.25 × 可信度 +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7542" y="4292600"/>
              <a:ext cx="27125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0.25 × 可验证性 + 0.20 × 时效性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14400" y="4781550"/>
              <a:ext cx="6057900" cy="666750"/>
            </a:xfrm>
            <a:prstGeom prst="roundRect">
              <a:avLst>
                <a:gd name="adj" fmla="val 11429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136142" y="4883150"/>
              <a:ext cx="20370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声明支持度 Support(c)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36904" y="5143500"/>
              <a:ext cx="36131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Σ 权重 × entailment / Σ 权重；阈值在验证集校准</a:t>
              </a:r>
            </a:p>
          </p:txBody>
        </p:sp>
      </p:grpSp>
      <p:grpSp>
        <p:nvGrpSpPr>
          <p:cNvPr id="51" name="conflict-panel"/>
          <p:cNvGrpSpPr/>
          <p:nvPr/>
        </p:nvGrpSpPr>
        <p:grpSpPr>
          <a:xfrm>
            <a:off x="7581900" y="1676400"/>
            <a:ext cx="4000500" cy="2667000"/>
            <a:chOff x="7581900" y="1676400"/>
            <a:chExt cx="4000500" cy="2667000"/>
          </a:xfrm>
        </p:grpSpPr>
        <p:sp>
          <p:nvSpPr>
            <p:cNvPr id="41" name="Rectangle 41"/>
            <p:cNvSpPr/>
            <p:nvPr/>
          </p:nvSpPr>
          <p:spPr>
            <a:xfrm>
              <a:off x="7581900" y="1676400"/>
              <a:ext cx="4000500" cy="2667000"/>
            </a:xfrm>
            <a:prstGeom prst="roundRect">
              <a:avLst>
                <a:gd name="adj" fmla="val 4286"/>
              </a:avLst>
            </a:prstGeom>
            <a:solidFill>
              <a:srgbClr val="FFF3E3"/>
            </a:solidFill>
            <a:ln w="14288">
              <a:solidFill>
                <a:schemeClr val="accent2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879842" y="1835150"/>
              <a:ext cx="23748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CONFLICT IS A SIGNAL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875270" y="2120900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冲突不是噪声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886700" y="2686050"/>
              <a:ext cx="3390900" cy="514350"/>
            </a:xfrm>
            <a:prstGeom prst="roundRect">
              <a:avLst>
                <a:gd name="adj" fmla="val 11111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051292" y="2749550"/>
              <a:ext cx="16234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Paper A · setup 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052816" y="2997200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↑ 结果更高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886700" y="3314700"/>
              <a:ext cx="3390900" cy="514350"/>
            </a:xfrm>
            <a:prstGeom prst="roundRect">
              <a:avLst>
                <a:gd name="adj" fmla="val 11111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051292" y="3378200"/>
              <a:ext cx="16234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Paper B · setup 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052816" y="3625850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↓ 结果较低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79842" y="3968750"/>
              <a:ext cx="30759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→ 保留条件、证据与分歧，交给人判断</a:t>
              </a:r>
            </a:p>
          </p:txBody>
        </p:sp>
      </p:grpSp>
      <p:grpSp>
        <p:nvGrpSpPr>
          <p:cNvPr id="61" name="threshold-panel"/>
          <p:cNvGrpSpPr/>
          <p:nvPr/>
        </p:nvGrpSpPr>
        <p:grpSpPr>
          <a:xfrm>
            <a:off x="7581900" y="4572000"/>
            <a:ext cx="4000500" cy="1295400"/>
            <a:chOff x="7581900" y="4572000"/>
            <a:chExt cx="4000500" cy="1295400"/>
          </a:xfrm>
        </p:grpSpPr>
        <p:sp>
          <p:nvSpPr>
            <p:cNvPr id="52" name="Rectangle 52"/>
            <p:cNvSpPr/>
            <p:nvPr/>
          </p:nvSpPr>
          <p:spPr>
            <a:xfrm>
              <a:off x="7581900" y="4572000"/>
              <a:ext cx="4000500" cy="1295400"/>
            </a:xfrm>
            <a:prstGeom prst="roundRect">
              <a:avLst>
                <a:gd name="adj" fmla="val 8824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879842" y="4673600"/>
              <a:ext cx="27804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VERIFICATION THRESHOLD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886700" y="5010150"/>
              <a:ext cx="1009650" cy="266700"/>
            </a:xfrm>
            <a:prstGeom prst="roundRect">
              <a:avLst>
                <a:gd name="adj" fmla="val 14286"/>
              </a:avLst>
            </a:prstGeom>
            <a:solidFill>
              <a:srgbClr val="DCEFE3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103489" y="50736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自动通过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991600" y="5010150"/>
              <a:ext cx="1009650" cy="266700"/>
            </a:xfrm>
            <a:prstGeom prst="roundRect">
              <a:avLst>
                <a:gd name="adj" fmla="val 14286"/>
              </a:avLst>
            </a:prstGeom>
            <a:solidFill>
              <a:srgbClr val="FFF3E3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208389" y="50736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人工复核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0096500" y="5010150"/>
              <a:ext cx="1009650" cy="266700"/>
            </a:xfrm>
            <a:prstGeom prst="roundRect">
              <a:avLst>
                <a:gd name="adj" fmla="val 14286"/>
              </a:avLst>
            </a:prstGeom>
            <a:solidFill>
              <a:srgbClr val="F1D5D5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313289" y="50736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1E1E"/>
                  </a:solidFill>
                  <a:latin typeface="+mn-lt"/>
                  <a:ea typeface="+mn-ea"/>
                  <a:cs typeface="+mn-cs"/>
                </a:rPr>
                <a:t>拒绝写入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879842" y="5397500"/>
              <a:ext cx="23308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≥0.75 · 0.50—0.75 · &lt;0.50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604266" y="6502400"/>
            <a:ext cx="10164318" cy="205359"/>
            <a:chOff x="604266" y="6502400"/>
            <a:chExt cx="10164318" cy="205359"/>
          </a:xfrm>
        </p:grpSpPr>
        <p:sp>
          <p:nvSpPr>
            <p:cNvPr id="62" name="TextBox 62"/>
            <p:cNvSpPr txBox="1"/>
            <p:nvPr/>
          </p:nvSpPr>
          <p:spPr>
            <a:xfrm>
              <a:off x="604266" y="6502400"/>
              <a:ext cx="27175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结果融合 · 证据质量、冲突保留与校验门槛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175443" y="6502400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P08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609600" y="1371600"/>
            <a:ext cx="10972800" cy="5029200"/>
          </a:xfrm>
          <a:custGeom>
            <a:avLst/>
            <a:gdLst/>
            <a:ahLst/>
            <a:cxnLst/>
            <a:rect l="l" t="t" r="r" b="b"/>
            <a:pathLst>
              <a:path w="10972800" h="5029200">
                <a:moveTo>
                  <a:pt x="0" y="0"/>
                </a:moveTo>
                <a:lnTo>
                  <a:pt x="10972800" y="0"/>
                </a:lnTo>
                <a:moveTo>
                  <a:pt x="0" y="5029200"/>
                </a:moveTo>
                <a:lnTo>
                  <a:pt x="10972800" y="5029200"/>
                </a:lnTo>
                <a:moveTo>
                  <a:pt x="190500" y="0"/>
                </a:moveTo>
                <a:lnTo>
                  <a:pt x="190500" y="5029200"/>
                </a:lnTo>
                <a:moveTo>
                  <a:pt x="10782300" y="0"/>
                </a:moveTo>
                <a:lnTo>
                  <a:pt x="10782300" y="5029200"/>
                </a:lnTo>
              </a:path>
            </a:pathLst>
          </a:custGeom>
          <a:noFill/>
          <a:ln w="9525">
            <a:solidFill>
              <a:schemeClr val="accent6">
                <a:alpha val="32000"/>
              </a:schemeClr>
            </a:solidFill>
          </a:ln>
        </p:spPr>
      </p:sp>
      <p:grpSp>
        <p:nvGrpSpPr>
          <p:cNvPr id="6" name="page-title"/>
          <p:cNvGrpSpPr/>
          <p:nvPr/>
        </p:nvGrpSpPr>
        <p:grpSpPr>
          <a:xfrm>
            <a:off x="592074" y="387350"/>
            <a:ext cx="7290071" cy="1297051"/>
            <a:chOff x="592074" y="387350"/>
            <a:chExt cx="7290071" cy="1297051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87350"/>
              <a:ext cx="25127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09 / 系统设计与 Web 原型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074" y="571500"/>
              <a:ext cx="421500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分层架构把研究流程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2074" y="1009650"/>
              <a:ext cx="7290071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封装成可操作、可恢复的 Web 原型</a:t>
              </a:r>
            </a:p>
          </p:txBody>
        </p:sp>
      </p:grpSp>
      <p:grpSp>
        <p:nvGrpSpPr>
          <p:cNvPr id="59" name="system-layers"/>
          <p:cNvGrpSpPr/>
          <p:nvPr/>
        </p:nvGrpSpPr>
        <p:grpSpPr>
          <a:xfrm>
            <a:off x="609600" y="1676400"/>
            <a:ext cx="6879336" cy="4191000"/>
            <a:chOff x="609600" y="1676400"/>
            <a:chExt cx="6879336" cy="4191000"/>
          </a:xfrm>
        </p:grpSpPr>
        <p:sp>
          <p:nvSpPr>
            <p:cNvPr id="7" name="Rectangle 7"/>
            <p:cNvSpPr/>
            <p:nvPr/>
          </p:nvSpPr>
          <p:spPr>
            <a:xfrm>
              <a:off x="609600" y="1676400"/>
              <a:ext cx="6858000" cy="4191000"/>
            </a:xfrm>
            <a:prstGeom prst="roundRect">
              <a:avLst>
                <a:gd name="adj" fmla="val 272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7542" y="1835150"/>
              <a:ext cx="17012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SYSTEM LAYERS</a:t>
              </a:r>
            </a:p>
          </p:txBody>
        </p:sp>
        <p:grpSp>
          <p:nvGrpSpPr>
            <p:cNvPr id="18" name="layer-presentation"/>
            <p:cNvGrpSpPr/>
            <p:nvPr/>
          </p:nvGrpSpPr>
          <p:grpSpPr>
            <a:xfrm>
              <a:off x="914400" y="2190750"/>
              <a:ext cx="6248400" cy="666750"/>
              <a:chOff x="914400" y="2190750"/>
              <a:chExt cx="6248400" cy="6667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914400" y="2190750"/>
                <a:ext cx="6248400" cy="666750"/>
              </a:xfrm>
              <a:prstGeom prst="roundRect">
                <a:avLst>
                  <a:gd name="adj" fmla="val 11429"/>
                </a:avLst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grpSp>
            <p:nvGrpSpPr>
              <p:cNvPr id="14" name="Group 14"/>
              <p:cNvGrpSpPr/>
              <p:nvPr/>
            </p:nvGrpSpPr>
            <p:grpSpPr>
              <a:xfrm>
                <a:off x="1158875" y="2397125"/>
                <a:ext cx="215901" cy="215901"/>
                <a:chOff x="1158875" y="2397125"/>
                <a:chExt cx="215901" cy="215901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1158875" y="2397125"/>
                  <a:ext cx="80963" cy="1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3" h="107950">
                      <a:moveTo>
                        <a:pt x="13494" y="0"/>
                      </a:moveTo>
                      <a:lnTo>
                        <a:pt x="67469" y="0"/>
                      </a:lnTo>
                      <a:cubicBezTo>
                        <a:pt x="74921" y="0"/>
                        <a:pt x="80963" y="6041"/>
                        <a:pt x="80963" y="13494"/>
                      </a:cubicBezTo>
                      <a:lnTo>
                        <a:pt x="80963" y="94456"/>
                      </a:lnTo>
                      <a:cubicBezTo>
                        <a:pt x="80963" y="101909"/>
                        <a:pt x="74921" y="107950"/>
                        <a:pt x="67469" y="107950"/>
                      </a:cubicBezTo>
                      <a:lnTo>
                        <a:pt x="13494" y="107950"/>
                      </a:lnTo>
                      <a:cubicBezTo>
                        <a:pt x="6041" y="107950"/>
                        <a:pt x="0" y="101909"/>
                        <a:pt x="0" y="94456"/>
                      </a:cubicBezTo>
                      <a:lnTo>
                        <a:pt x="0" y="13494"/>
                      </a:lnTo>
                      <a:cubicBezTo>
                        <a:pt x="0" y="6041"/>
                        <a:pt x="6041" y="0"/>
                        <a:pt x="13494" y="0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158875" y="2559051"/>
                  <a:ext cx="80963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3" h="53975">
                      <a:moveTo>
                        <a:pt x="13494" y="0"/>
                      </a:moveTo>
                      <a:lnTo>
                        <a:pt x="67469" y="0"/>
                      </a:lnTo>
                      <a:cubicBezTo>
                        <a:pt x="74921" y="0"/>
                        <a:pt x="80963" y="6041"/>
                        <a:pt x="80963" y="13494"/>
                      </a:cubicBezTo>
                      <a:lnTo>
                        <a:pt x="80963" y="40481"/>
                      </a:lnTo>
                      <a:cubicBezTo>
                        <a:pt x="80963" y="47934"/>
                        <a:pt x="74921" y="53975"/>
                        <a:pt x="67469" y="53975"/>
                      </a:cubicBezTo>
                      <a:lnTo>
                        <a:pt x="13494" y="53975"/>
                      </a:lnTo>
                      <a:cubicBezTo>
                        <a:pt x="6041" y="53975"/>
                        <a:pt x="0" y="47934"/>
                        <a:pt x="0" y="40481"/>
                      </a:cubicBezTo>
                      <a:lnTo>
                        <a:pt x="0" y="13494"/>
                      </a:lnTo>
                      <a:cubicBezTo>
                        <a:pt x="0" y="6041"/>
                        <a:pt x="6041" y="0"/>
                        <a:pt x="13494" y="0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293813" y="2505075"/>
                  <a:ext cx="80963" cy="1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3" h="107950">
                      <a:moveTo>
                        <a:pt x="13494" y="0"/>
                      </a:moveTo>
                      <a:lnTo>
                        <a:pt x="67469" y="0"/>
                      </a:lnTo>
                      <a:cubicBezTo>
                        <a:pt x="74921" y="0"/>
                        <a:pt x="80963" y="6041"/>
                        <a:pt x="80963" y="13494"/>
                      </a:cubicBezTo>
                      <a:lnTo>
                        <a:pt x="80963" y="94456"/>
                      </a:lnTo>
                      <a:cubicBezTo>
                        <a:pt x="80963" y="101909"/>
                        <a:pt x="74921" y="107950"/>
                        <a:pt x="67469" y="107950"/>
                      </a:cubicBezTo>
                      <a:lnTo>
                        <a:pt x="13494" y="107950"/>
                      </a:lnTo>
                      <a:cubicBezTo>
                        <a:pt x="6041" y="107950"/>
                        <a:pt x="0" y="101909"/>
                        <a:pt x="0" y="94456"/>
                      </a:cubicBezTo>
                      <a:lnTo>
                        <a:pt x="0" y="13494"/>
                      </a:lnTo>
                      <a:cubicBezTo>
                        <a:pt x="0" y="6041"/>
                        <a:pt x="6041" y="0"/>
                        <a:pt x="13494" y="0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293813" y="2397125"/>
                  <a:ext cx="80963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3" h="53975">
                      <a:moveTo>
                        <a:pt x="13494" y="0"/>
                      </a:moveTo>
                      <a:lnTo>
                        <a:pt x="67469" y="0"/>
                      </a:lnTo>
                      <a:cubicBezTo>
                        <a:pt x="74921" y="0"/>
                        <a:pt x="80963" y="6041"/>
                        <a:pt x="80963" y="13494"/>
                      </a:cubicBezTo>
                      <a:lnTo>
                        <a:pt x="80963" y="40481"/>
                      </a:lnTo>
                      <a:cubicBezTo>
                        <a:pt x="80963" y="47934"/>
                        <a:pt x="74921" y="53975"/>
                        <a:pt x="67469" y="53975"/>
                      </a:cubicBezTo>
                      <a:lnTo>
                        <a:pt x="13494" y="53975"/>
                      </a:lnTo>
                      <a:cubicBezTo>
                        <a:pt x="6041" y="53975"/>
                        <a:pt x="0" y="47934"/>
                        <a:pt x="0" y="40481"/>
                      </a:cubicBezTo>
                      <a:lnTo>
                        <a:pt x="0" y="13494"/>
                      </a:lnTo>
                      <a:cubicBezTo>
                        <a:pt x="0" y="6041"/>
                        <a:pt x="6041" y="0"/>
                        <a:pt x="13494" y="0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1591056" y="2241550"/>
                <a:ext cx="7452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表现层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583942" y="2292350"/>
                <a:ext cx="282155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主题配置 · 进度 · 报告 · 证据面板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594866" y="2559050"/>
                <a:ext cx="176285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React + TypeScript · Vite</a:t>
                </a:r>
              </a:p>
            </p:txBody>
          </p:sp>
        </p:grpSp>
        <p:grpSp>
          <p:nvGrpSpPr>
            <p:cNvPr id="32" name="layer-api"/>
            <p:cNvGrpSpPr/>
            <p:nvPr/>
          </p:nvGrpSpPr>
          <p:grpSpPr>
            <a:xfrm>
              <a:off x="914400" y="2990850"/>
              <a:ext cx="6248400" cy="666750"/>
              <a:chOff x="914400" y="2990850"/>
              <a:chExt cx="6248400" cy="6667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914400" y="2990850"/>
                <a:ext cx="6248400" cy="666750"/>
              </a:xfrm>
              <a:prstGeom prst="roundRect">
                <a:avLst>
                  <a:gd name="adj" fmla="val 11429"/>
                </a:avLst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grpSp>
            <p:nvGrpSpPr>
              <p:cNvPr id="28" name="Group 28"/>
              <p:cNvGrpSpPr/>
              <p:nvPr/>
            </p:nvGrpSpPr>
            <p:grpSpPr>
              <a:xfrm>
                <a:off x="1145381" y="3183731"/>
                <a:ext cx="242888" cy="256382"/>
                <a:chOff x="1145381" y="3183731"/>
                <a:chExt cx="242888" cy="256382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1185863" y="3183731"/>
                  <a:ext cx="161925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" h="161925">
                      <a:moveTo>
                        <a:pt x="0" y="80963"/>
                      </a:moveTo>
                      <a:cubicBezTo>
                        <a:pt x="0" y="125677"/>
                        <a:pt x="36248" y="161925"/>
                        <a:pt x="80963" y="161925"/>
                      </a:cubicBezTo>
                      <a:cubicBezTo>
                        <a:pt x="125677" y="161925"/>
                        <a:pt x="161925" y="125677"/>
                        <a:pt x="161925" y="80963"/>
                      </a:cubicBezTo>
                      <a:cubicBezTo>
                        <a:pt x="161925" y="36248"/>
                        <a:pt x="125677" y="0"/>
                        <a:pt x="80963" y="0"/>
                      </a:cubicBezTo>
                      <a:cubicBezTo>
                        <a:pt x="36248" y="0"/>
                        <a:pt x="0" y="36248"/>
                        <a:pt x="0" y="80963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1266825" y="3183731"/>
                  <a:ext cx="26988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88" h="161925">
                      <a:moveTo>
                        <a:pt x="0" y="0"/>
                      </a:moveTo>
                      <a:cubicBezTo>
                        <a:pt x="17987" y="4493"/>
                        <a:pt x="26988" y="31481"/>
                        <a:pt x="26988" y="80963"/>
                      </a:cubicBezTo>
                      <a:cubicBezTo>
                        <a:pt x="26988" y="130444"/>
                        <a:pt x="17987" y="157432"/>
                        <a:pt x="0" y="161925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1239838" y="3183731"/>
                  <a:ext cx="26988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88" h="161925">
                      <a:moveTo>
                        <a:pt x="26988" y="0"/>
                      </a:moveTo>
                      <a:cubicBezTo>
                        <a:pt x="9000" y="4493"/>
                        <a:pt x="0" y="31481"/>
                        <a:pt x="0" y="80963"/>
                      </a:cubicBezTo>
                      <a:cubicBezTo>
                        <a:pt x="0" y="130444"/>
                        <a:pt x="9000" y="157432"/>
                        <a:pt x="26988" y="161925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1185863" y="3264694"/>
                  <a:ext cx="1619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" h="9525">
                      <a:moveTo>
                        <a:pt x="0" y="0"/>
                      </a:moveTo>
                      <a:lnTo>
                        <a:pt x="161925" y="0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1145381" y="3413126"/>
                  <a:ext cx="9445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56" h="9525">
                      <a:moveTo>
                        <a:pt x="0" y="0"/>
                      </a:moveTo>
                      <a:lnTo>
                        <a:pt x="94456" y="0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1293813" y="3413126"/>
                  <a:ext cx="9445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56" h="9525">
                      <a:moveTo>
                        <a:pt x="0" y="0"/>
                      </a:moveTo>
                      <a:lnTo>
                        <a:pt x="94456" y="0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1239838" y="3386138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0" y="26988"/>
                      </a:moveTo>
                      <a:cubicBezTo>
                        <a:pt x="0" y="41892"/>
                        <a:pt x="12083" y="53975"/>
                        <a:pt x="26988" y="53975"/>
                      </a:cubicBezTo>
                      <a:cubicBezTo>
                        <a:pt x="41892" y="53975"/>
                        <a:pt x="53975" y="41892"/>
                        <a:pt x="53975" y="26988"/>
                      </a:cubicBezTo>
                      <a:cubicBezTo>
                        <a:pt x="53975" y="12083"/>
                        <a:pt x="41892" y="0"/>
                        <a:pt x="26988" y="0"/>
                      </a:cubicBezTo>
                      <a:cubicBezTo>
                        <a:pt x="12083" y="0"/>
                        <a:pt x="0" y="12083"/>
                        <a:pt x="0" y="26988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1266825" y="3345657"/>
                  <a:ext cx="9525" cy="40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0481">
                      <a:moveTo>
                        <a:pt x="0" y="0"/>
                      </a:moveTo>
                      <a:lnTo>
                        <a:pt x="0" y="40481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</p:grpSp>
          <p:sp>
            <p:nvSpPr>
              <p:cNvPr id="29" name="TextBox 29"/>
              <p:cNvSpPr txBox="1"/>
              <p:nvPr/>
            </p:nvSpPr>
            <p:spPr>
              <a:xfrm>
                <a:off x="1591056" y="304165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应用与编排层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117342" y="3092450"/>
                <a:ext cx="266629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FastAPI · SSE · Celery / Redis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594866" y="3359150"/>
                <a:ext cx="23816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REST / SSE · 任务状态机 · DAG 调度</a:t>
                </a:r>
              </a:p>
            </p:txBody>
          </p:sp>
        </p:grpSp>
        <p:grpSp>
          <p:nvGrpSpPr>
            <p:cNvPr id="47" name="layer-agents"/>
            <p:cNvGrpSpPr/>
            <p:nvPr/>
          </p:nvGrpSpPr>
          <p:grpSpPr>
            <a:xfrm>
              <a:off x="914400" y="3790950"/>
              <a:ext cx="6248400" cy="666750"/>
              <a:chOff x="914400" y="3790950"/>
              <a:chExt cx="6248400" cy="66675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914400" y="3790950"/>
                <a:ext cx="6248400" cy="666750"/>
              </a:xfrm>
              <a:prstGeom prst="roundRect">
                <a:avLst>
                  <a:gd name="adj" fmla="val 11429"/>
                </a:avLst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grpSp>
            <p:nvGrpSpPr>
              <p:cNvPr id="43" name="Group 43"/>
              <p:cNvGrpSpPr/>
              <p:nvPr/>
            </p:nvGrpSpPr>
            <p:grpSpPr>
              <a:xfrm>
                <a:off x="1172369" y="3970338"/>
                <a:ext cx="188913" cy="256381"/>
                <a:chOff x="1172369" y="3970338"/>
                <a:chExt cx="188913" cy="256381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1185863" y="3997325"/>
                  <a:ext cx="161925" cy="1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" h="107950">
                      <a:moveTo>
                        <a:pt x="0" y="26988"/>
                      </a:moveTo>
                      <a:cubicBezTo>
                        <a:pt x="0" y="12083"/>
                        <a:pt x="12083" y="0"/>
                        <a:pt x="26988" y="0"/>
                      </a:cubicBezTo>
                      <a:lnTo>
                        <a:pt x="134938" y="0"/>
                      </a:lnTo>
                      <a:cubicBezTo>
                        <a:pt x="149843" y="0"/>
                        <a:pt x="161925" y="12083"/>
                        <a:pt x="161925" y="26988"/>
                      </a:cubicBezTo>
                      <a:lnTo>
                        <a:pt x="161925" y="80963"/>
                      </a:lnTo>
                      <a:cubicBezTo>
                        <a:pt x="161925" y="95868"/>
                        <a:pt x="149843" y="107950"/>
                        <a:pt x="134938" y="107950"/>
                      </a:cubicBezTo>
                      <a:lnTo>
                        <a:pt x="26988" y="107950"/>
                      </a:lnTo>
                      <a:cubicBezTo>
                        <a:pt x="12083" y="107950"/>
                        <a:pt x="0" y="95868"/>
                        <a:pt x="0" y="80963"/>
                      </a:cubicBezTo>
                      <a:lnTo>
                        <a:pt x="0" y="26988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1266825" y="3970338"/>
                  <a:ext cx="9525" cy="26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6988">
                      <a:moveTo>
                        <a:pt x="0" y="0"/>
                      </a:moveTo>
                      <a:lnTo>
                        <a:pt x="0" y="26988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1226344" y="4105275"/>
                  <a:ext cx="9525" cy="121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1444">
                      <a:moveTo>
                        <a:pt x="0" y="0"/>
                      </a:moveTo>
                      <a:lnTo>
                        <a:pt x="0" y="121444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1307307" y="4105275"/>
                  <a:ext cx="9525" cy="121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1444">
                      <a:moveTo>
                        <a:pt x="0" y="0"/>
                      </a:moveTo>
                      <a:lnTo>
                        <a:pt x="0" y="121444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1172369" y="4132263"/>
                  <a:ext cx="53975" cy="26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26988">
                      <a:moveTo>
                        <a:pt x="0" y="26988"/>
                      </a:moveTo>
                      <a:lnTo>
                        <a:pt x="53975" y="0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1307307" y="4132263"/>
                  <a:ext cx="53975" cy="26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26988">
                      <a:moveTo>
                        <a:pt x="0" y="0"/>
                      </a:moveTo>
                      <a:lnTo>
                        <a:pt x="53975" y="26988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1226344" y="4186238"/>
                  <a:ext cx="8096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3" h="9525">
                      <a:moveTo>
                        <a:pt x="0" y="0"/>
                      </a:moveTo>
                      <a:lnTo>
                        <a:pt x="80963" y="0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1239838" y="40513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35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1293813" y="40513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35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1591056" y="384175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智能体与证据层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3117342" y="3892550"/>
                <a:ext cx="328519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CrewAI · Hybrid RAG · evidence store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1594866" y="4159250"/>
                <a:ext cx="429543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Plan / Retrieval / Analysis / Comparison / Draft / Verification</a:t>
                </a:r>
              </a:p>
            </p:txBody>
          </p:sp>
        </p:grpSp>
        <p:grpSp>
          <p:nvGrpSpPr>
            <p:cNvPr id="56" name="layer-data"/>
            <p:cNvGrpSpPr/>
            <p:nvPr/>
          </p:nvGrpSpPr>
          <p:grpSpPr>
            <a:xfrm>
              <a:off x="914400" y="4591050"/>
              <a:ext cx="6248400" cy="666750"/>
              <a:chOff x="914400" y="4591050"/>
              <a:chExt cx="6248400" cy="666750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914400" y="4591050"/>
                <a:ext cx="6248400" cy="666750"/>
              </a:xfrm>
              <a:prstGeom prst="roundRect">
                <a:avLst>
                  <a:gd name="adj" fmla="val 11429"/>
                </a:avLst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grpSp>
            <p:nvGrpSpPr>
              <p:cNvPr id="52" name="Group 52"/>
              <p:cNvGrpSpPr/>
              <p:nvPr/>
            </p:nvGrpSpPr>
            <p:grpSpPr>
              <a:xfrm>
                <a:off x="1158875" y="4783931"/>
                <a:ext cx="215901" cy="242888"/>
                <a:chOff x="1158875" y="4783931"/>
                <a:chExt cx="215901" cy="242888"/>
              </a:xfrm>
            </p:grpSpPr>
            <p:sp>
              <p:nvSpPr>
                <p:cNvPr id="49" name="Freeform 49"/>
                <p:cNvSpPr/>
                <p:nvPr/>
              </p:nvSpPr>
              <p:spPr>
                <a:xfrm>
                  <a:off x="1158875" y="4783931"/>
                  <a:ext cx="215901" cy="80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01" h="80963">
                      <a:moveTo>
                        <a:pt x="0" y="40481"/>
                      </a:moveTo>
                      <a:cubicBezTo>
                        <a:pt x="0" y="62839"/>
                        <a:pt x="48331" y="80963"/>
                        <a:pt x="107950" y="80963"/>
                      </a:cubicBezTo>
                      <a:cubicBezTo>
                        <a:pt x="167570" y="80963"/>
                        <a:pt x="215901" y="62839"/>
                        <a:pt x="215901" y="40481"/>
                      </a:cubicBezTo>
                      <a:cubicBezTo>
                        <a:pt x="215901" y="18124"/>
                        <a:pt x="167570" y="0"/>
                        <a:pt x="107950" y="0"/>
                      </a:cubicBezTo>
                      <a:cubicBezTo>
                        <a:pt x="48331" y="0"/>
                        <a:pt x="0" y="18124"/>
                        <a:pt x="0" y="40481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1158875" y="4824413"/>
                  <a:ext cx="215901" cy="121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01" h="121444">
                      <a:moveTo>
                        <a:pt x="0" y="0"/>
                      </a:moveTo>
                      <a:lnTo>
                        <a:pt x="0" y="80963"/>
                      </a:lnTo>
                      <a:cubicBezTo>
                        <a:pt x="0" y="103320"/>
                        <a:pt x="48331" y="121444"/>
                        <a:pt x="107950" y="121444"/>
                      </a:cubicBezTo>
                      <a:cubicBezTo>
                        <a:pt x="167570" y="121444"/>
                        <a:pt x="215901" y="103320"/>
                        <a:pt x="215901" y="80963"/>
                      </a:cubicBezTo>
                      <a:lnTo>
                        <a:pt x="215901" y="0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1158875" y="4905375"/>
                  <a:ext cx="215901" cy="121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01" h="121444">
                      <a:moveTo>
                        <a:pt x="0" y="0"/>
                      </a:moveTo>
                      <a:lnTo>
                        <a:pt x="0" y="80963"/>
                      </a:lnTo>
                      <a:cubicBezTo>
                        <a:pt x="0" y="103320"/>
                        <a:pt x="48331" y="121444"/>
                        <a:pt x="107950" y="121444"/>
                      </a:cubicBezTo>
                      <a:cubicBezTo>
                        <a:pt x="167570" y="121444"/>
                        <a:pt x="215901" y="103320"/>
                        <a:pt x="215901" y="80963"/>
                      </a:cubicBezTo>
                      <a:lnTo>
                        <a:pt x="215901" y="0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</p:grpSp>
          <p:sp>
            <p:nvSpPr>
              <p:cNvPr id="53" name="TextBox 53"/>
              <p:cNvSpPr txBox="1"/>
              <p:nvPr/>
            </p:nvSpPr>
            <p:spPr>
              <a:xfrm>
                <a:off x="1591056" y="464185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数据与存储层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3117342" y="4692650"/>
                <a:ext cx="279597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PostgreSQL + pgvector · MinIO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594866" y="4959350"/>
                <a:ext cx="40603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papers / chunks / evidence / claims / citations / artifacts</a:t>
                </a:r>
              </a:p>
            </p:txBody>
          </p:sp>
        </p:grpSp>
        <p:sp>
          <p:nvSpPr>
            <p:cNvPr id="57" name="Freeform 57"/>
            <p:cNvSpPr/>
            <p:nvPr/>
          </p:nvSpPr>
          <p:spPr>
            <a:xfrm>
              <a:off x="7086600" y="2524125"/>
              <a:ext cx="9525" cy="2695575"/>
            </a:xfrm>
            <a:custGeom>
              <a:avLst/>
              <a:gdLst/>
              <a:ahLst/>
              <a:cxnLst/>
              <a:rect l="l" t="t" r="r" b="b"/>
              <a:pathLst>
                <a:path w="9525" h="2695575">
                  <a:moveTo>
                    <a:pt x="0" y="0"/>
                  </a:moveTo>
                  <a:lnTo>
                    <a:pt x="0" y="2695575"/>
                  </a:lnTo>
                </a:path>
              </a:pathLst>
            </a:custGeom>
            <a:solidFill>
              <a:schemeClr val="dk1"/>
            </a:solidFill>
            <a:ln w="13335">
              <a:solidFill>
                <a:schemeClr val="accent3"/>
              </a:solidFill>
              <a:custDash>
                <a:ds d="285714" sp="428571"/>
              </a:custDash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195566" y="37401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状态</a:t>
              </a:r>
            </a:p>
          </p:txBody>
        </p:sp>
      </p:grpSp>
      <p:grpSp>
        <p:nvGrpSpPr>
          <p:cNvPr id="88" name="web-views"/>
          <p:cNvGrpSpPr/>
          <p:nvPr/>
        </p:nvGrpSpPr>
        <p:grpSpPr>
          <a:xfrm>
            <a:off x="7772400" y="1676400"/>
            <a:ext cx="3810000" cy="4191000"/>
            <a:chOff x="7772400" y="1676400"/>
            <a:chExt cx="3810000" cy="4191000"/>
          </a:xfrm>
        </p:grpSpPr>
        <p:sp>
          <p:nvSpPr>
            <p:cNvPr id="60" name="Rectangle 60"/>
            <p:cNvSpPr/>
            <p:nvPr/>
          </p:nvSpPr>
          <p:spPr>
            <a:xfrm>
              <a:off x="7772400" y="1676400"/>
              <a:ext cx="3810000" cy="4191000"/>
            </a:xfrm>
            <a:prstGeom prst="roundRect">
              <a:avLst>
                <a:gd name="adj" fmla="val 300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070342" y="1835150"/>
              <a:ext cx="17819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WEB PROTOTYPE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068056" y="218440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四个视图串起一条工作流</a:t>
              </a:r>
            </a:p>
          </p:txBody>
        </p:sp>
        <p:grpSp>
          <p:nvGrpSpPr>
            <p:cNvPr id="68" name="view-topic"/>
            <p:cNvGrpSpPr/>
            <p:nvPr/>
          </p:nvGrpSpPr>
          <p:grpSpPr>
            <a:xfrm>
              <a:off x="8077200" y="2667000"/>
              <a:ext cx="1472298" cy="1181100"/>
              <a:chOff x="8077200" y="2667000"/>
              <a:chExt cx="1472298" cy="1181100"/>
            </a:xfrm>
          </p:grpSpPr>
          <p:sp>
            <p:nvSpPr>
              <p:cNvPr id="63" name="Rectangle 63"/>
              <p:cNvSpPr/>
              <p:nvPr/>
            </p:nvSpPr>
            <p:spPr>
              <a:xfrm>
                <a:off x="8077200" y="2667000"/>
                <a:ext cx="1447800" cy="1181100"/>
              </a:xfrm>
              <a:prstGeom prst="roundRect">
                <a:avLst>
                  <a:gd name="adj" fmla="val 6452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8224266" y="2806700"/>
                <a:ext cx="75556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01 / INPUT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8220456" y="3022600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主题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8224266" y="3359150"/>
                <a:ext cx="132523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数据源 · 年份 · 篇幅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8224266" y="3568700"/>
                <a:ext cx="10213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引用格式 · 语言</a:t>
                </a:r>
              </a:p>
            </p:txBody>
          </p:sp>
        </p:grpSp>
        <p:grpSp>
          <p:nvGrpSpPr>
            <p:cNvPr id="75" name="view-progress"/>
            <p:cNvGrpSpPr/>
            <p:nvPr/>
          </p:nvGrpSpPr>
          <p:grpSpPr>
            <a:xfrm>
              <a:off x="9677400" y="2667000"/>
              <a:ext cx="1600200" cy="1181100"/>
              <a:chOff x="9677400" y="2667000"/>
              <a:chExt cx="1600200" cy="1181100"/>
            </a:xfrm>
          </p:grpSpPr>
          <p:sp>
            <p:nvSpPr>
              <p:cNvPr id="69" name="Rectangle 69"/>
              <p:cNvSpPr/>
              <p:nvPr/>
            </p:nvSpPr>
            <p:spPr>
              <a:xfrm>
                <a:off x="9677400" y="2667000"/>
                <a:ext cx="1600200" cy="1181100"/>
              </a:xfrm>
              <a:prstGeom prst="roundRect">
                <a:avLst>
                  <a:gd name="adj" fmla="val 6452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9824466" y="2806700"/>
                <a:ext cx="62226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02 / RUN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9820656" y="3022600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进度</a:t>
                </a:r>
              </a:p>
            </p:txBody>
          </p:sp>
          <p:sp>
            <p:nvSpPr>
              <p:cNvPr id="72" name="Freeform 72"/>
              <p:cNvSpPr/>
              <p:nvPr/>
            </p:nvSpPr>
            <p:spPr>
              <a:xfrm>
                <a:off x="9829800" y="3486150"/>
                <a:ext cx="1219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" h="9525">
                    <a:moveTo>
                      <a:pt x="0" y="0"/>
                    </a:moveTo>
                    <a:lnTo>
                      <a:pt x="1219200" y="0"/>
                    </a:lnTo>
                  </a:path>
                </a:pathLst>
              </a:custGeom>
              <a:solidFill>
                <a:schemeClr val="dk1"/>
              </a:solidFill>
              <a:ln w="57150" cap="rnd">
                <a:solidFill>
                  <a:schemeClr val="accent6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9829800" y="3486150"/>
                <a:ext cx="781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81050" h="9525">
                    <a:moveTo>
                      <a:pt x="0" y="0"/>
                    </a:moveTo>
                    <a:lnTo>
                      <a:pt x="781050" y="0"/>
                    </a:lnTo>
                  </a:path>
                </a:pathLst>
              </a:custGeom>
              <a:solidFill>
                <a:schemeClr val="dk1"/>
              </a:solidFill>
              <a:ln w="57150" cap="rnd">
                <a:solidFill>
                  <a:schemeClr val="accent2"/>
                </a:solidFill>
              </a:ln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9824466" y="3587750"/>
                <a:ext cx="118388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阶段 · 日志 · 成本</a:t>
                </a:r>
              </a:p>
            </p:txBody>
          </p:sp>
        </p:grpSp>
        <p:grpSp>
          <p:nvGrpSpPr>
            <p:cNvPr id="81" name="view-report"/>
            <p:cNvGrpSpPr/>
            <p:nvPr/>
          </p:nvGrpSpPr>
          <p:grpSpPr>
            <a:xfrm>
              <a:off x="8077200" y="4000500"/>
              <a:ext cx="1447800" cy="1181100"/>
              <a:chOff x="8077200" y="4000500"/>
              <a:chExt cx="1447800" cy="1181100"/>
            </a:xfrm>
          </p:grpSpPr>
          <p:sp>
            <p:nvSpPr>
              <p:cNvPr id="76" name="Rectangle 76"/>
              <p:cNvSpPr/>
              <p:nvPr/>
            </p:nvSpPr>
            <p:spPr>
              <a:xfrm>
                <a:off x="8077200" y="4000500"/>
                <a:ext cx="1447800" cy="1181100"/>
              </a:xfrm>
              <a:prstGeom prst="roundRect">
                <a:avLst>
                  <a:gd name="adj" fmla="val 6452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8224266" y="4140200"/>
                <a:ext cx="7869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03 / WRITE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8220456" y="4356100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报告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8224266" y="4692650"/>
                <a:ext cx="87997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章节树 · 正文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8224266" y="4902200"/>
                <a:ext cx="73862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版本 · 导出</a:t>
                </a:r>
              </a:p>
            </p:txBody>
          </p:sp>
        </p:grpSp>
        <p:grpSp>
          <p:nvGrpSpPr>
            <p:cNvPr id="87" name="view-evidence"/>
            <p:cNvGrpSpPr/>
            <p:nvPr/>
          </p:nvGrpSpPr>
          <p:grpSpPr>
            <a:xfrm>
              <a:off x="9677400" y="4000500"/>
              <a:ext cx="1600200" cy="1181100"/>
              <a:chOff x="9677400" y="4000500"/>
              <a:chExt cx="1600200" cy="1181100"/>
            </a:xfrm>
          </p:grpSpPr>
          <p:sp>
            <p:nvSpPr>
              <p:cNvPr id="82" name="Rectangle 82"/>
              <p:cNvSpPr/>
              <p:nvPr/>
            </p:nvSpPr>
            <p:spPr>
              <a:xfrm>
                <a:off x="9677400" y="4000500"/>
                <a:ext cx="1600200" cy="1181100"/>
              </a:xfrm>
              <a:prstGeom prst="roundRect">
                <a:avLst>
                  <a:gd name="adj" fmla="val 6452"/>
                </a:avLst>
              </a:prstGeom>
              <a:solidFill>
                <a:srgbClr val="FFF3E3"/>
              </a:solidFill>
              <a:ln w="9525">
                <a:solidFill>
                  <a:schemeClr val="accent2"/>
                </a:solidFill>
              </a:ln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9824466" y="4140200"/>
                <a:ext cx="84181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04 / VERIFY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9820656" y="4356100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证据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9824466" y="4692650"/>
                <a:ext cx="132523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原文 · 定位 · 支持度</a:t>
                </a: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9824466" y="4902200"/>
                <a:ext cx="114147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点击引用即可回看</a:t>
                </a:r>
              </a:p>
            </p:txBody>
          </p:sp>
        </p:grpSp>
      </p:grpSp>
      <p:grpSp>
        <p:nvGrpSpPr>
          <p:cNvPr id="91" name="footer"/>
          <p:cNvGrpSpPr/>
          <p:nvPr/>
        </p:nvGrpSpPr>
        <p:grpSpPr>
          <a:xfrm>
            <a:off x="604266" y="6502400"/>
            <a:ext cx="10164318" cy="205359"/>
            <a:chOff x="604266" y="6502400"/>
            <a:chExt cx="10164318" cy="205359"/>
          </a:xfrm>
        </p:grpSpPr>
        <p:sp>
          <p:nvSpPr>
            <p:cNvPr id="89" name="TextBox 89"/>
            <p:cNvSpPr txBox="1"/>
            <p:nvPr/>
          </p:nvSpPr>
          <p:spPr>
            <a:xfrm>
              <a:off x="604266" y="6502400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系统设计 · 四层架构与四个核心视图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0175443" y="6502400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P09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609600" y="1371600"/>
            <a:ext cx="10972800" cy="5029200"/>
          </a:xfrm>
          <a:custGeom>
            <a:avLst/>
            <a:gdLst/>
            <a:ahLst/>
            <a:cxnLst/>
            <a:rect l="l" t="t" r="r" b="b"/>
            <a:pathLst>
              <a:path w="10972800" h="5029200">
                <a:moveTo>
                  <a:pt x="0" y="0"/>
                </a:moveTo>
                <a:lnTo>
                  <a:pt x="10972800" y="0"/>
                </a:lnTo>
                <a:moveTo>
                  <a:pt x="0" y="5029200"/>
                </a:moveTo>
                <a:lnTo>
                  <a:pt x="10972800" y="5029200"/>
                </a:lnTo>
                <a:moveTo>
                  <a:pt x="190500" y="0"/>
                </a:moveTo>
                <a:lnTo>
                  <a:pt x="190500" y="5029200"/>
                </a:lnTo>
                <a:moveTo>
                  <a:pt x="10782300" y="0"/>
                </a:moveTo>
                <a:lnTo>
                  <a:pt x="10782300" y="5029200"/>
                </a:lnTo>
              </a:path>
            </a:pathLst>
          </a:custGeom>
          <a:noFill/>
          <a:ln w="9525">
            <a:solidFill>
              <a:schemeClr val="accent6">
                <a:alpha val="32000"/>
              </a:schemeClr>
            </a:solidFill>
          </a:ln>
        </p:spPr>
      </p:sp>
      <p:grpSp>
        <p:nvGrpSpPr>
          <p:cNvPr id="6" name="page-title"/>
          <p:cNvGrpSpPr/>
          <p:nvPr/>
        </p:nvGrpSpPr>
        <p:grpSpPr>
          <a:xfrm>
            <a:off x="592074" y="387350"/>
            <a:ext cx="5044027" cy="1297051"/>
            <a:chOff x="592074" y="387350"/>
            <a:chExt cx="5044027" cy="1297051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87350"/>
              <a:ext cx="1532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10 / 需求与验收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074" y="571500"/>
              <a:ext cx="504402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需求收敛为 12 项功能、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2074" y="1009650"/>
              <a:ext cx="3236198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 项非功能指标</a:t>
              </a:r>
            </a:p>
          </p:txBody>
        </p:sp>
      </p:grpSp>
      <p:grpSp>
        <p:nvGrpSpPr>
          <p:cNvPr id="40" name="functional-requirements"/>
          <p:cNvGrpSpPr/>
          <p:nvPr/>
        </p:nvGrpSpPr>
        <p:grpSpPr>
          <a:xfrm>
            <a:off x="609600" y="1676400"/>
            <a:ext cx="6667500" cy="4191000"/>
            <a:chOff x="609600" y="1676400"/>
            <a:chExt cx="6667500" cy="4191000"/>
          </a:xfrm>
        </p:grpSpPr>
        <p:sp>
          <p:nvSpPr>
            <p:cNvPr id="7" name="Rectangle 7"/>
            <p:cNvSpPr/>
            <p:nvPr/>
          </p:nvSpPr>
          <p:spPr>
            <a:xfrm>
              <a:off x="609600" y="1676400"/>
              <a:ext cx="6667500" cy="4191000"/>
            </a:xfrm>
            <a:prstGeom prst="roundRect">
              <a:avLst>
                <a:gd name="adj" fmla="val 272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7542" y="1835150"/>
              <a:ext cx="2597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FUNCTIONAL / 12 ITEMS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5256" y="2146300"/>
              <a:ext cx="24948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P0：主流程必须先成立</a:t>
              </a:r>
            </a:p>
          </p:txBody>
        </p:sp>
        <p:grpSp>
          <p:nvGrpSpPr>
            <p:cNvPr id="12" name="fr-1"/>
            <p:cNvGrpSpPr/>
            <p:nvPr/>
          </p:nvGrpSpPr>
          <p:grpSpPr>
            <a:xfrm>
              <a:off x="914400" y="2552700"/>
              <a:ext cx="1714500" cy="552450"/>
              <a:chOff x="914400" y="2552700"/>
              <a:chExt cx="1714500" cy="5524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914400" y="2552700"/>
                <a:ext cx="1714500" cy="552450"/>
              </a:xfrm>
              <a:prstGeom prst="roundRect">
                <a:avLst>
                  <a:gd name="adj" fmla="val 10345"/>
                </a:avLst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401318" y="271145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主题输入</a:t>
                </a:r>
              </a:p>
            </p:txBody>
          </p:sp>
        </p:grpSp>
        <p:grpSp>
          <p:nvGrpSpPr>
            <p:cNvPr id="15" name="fr-2"/>
            <p:cNvGrpSpPr/>
            <p:nvPr/>
          </p:nvGrpSpPr>
          <p:grpSpPr>
            <a:xfrm>
              <a:off x="2914650" y="2552700"/>
              <a:ext cx="1714500" cy="552450"/>
              <a:chOff x="2914650" y="2552700"/>
              <a:chExt cx="1714500" cy="5524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2914650" y="2552700"/>
                <a:ext cx="1714500" cy="552450"/>
              </a:xfrm>
              <a:prstGeom prst="roundRect">
                <a:avLst>
                  <a:gd name="adj" fmla="val 10345"/>
                </a:avLst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3401568" y="271145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检索接入</a:t>
                </a:r>
              </a:p>
            </p:txBody>
          </p:sp>
        </p:grpSp>
        <p:grpSp>
          <p:nvGrpSpPr>
            <p:cNvPr id="18" name="fr-3"/>
            <p:cNvGrpSpPr/>
            <p:nvPr/>
          </p:nvGrpSpPr>
          <p:grpSpPr>
            <a:xfrm>
              <a:off x="4914900" y="2552700"/>
              <a:ext cx="1714500" cy="552450"/>
              <a:chOff x="4914900" y="2552700"/>
              <a:chExt cx="1714500" cy="5524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4914900" y="2552700"/>
                <a:ext cx="1714500" cy="552450"/>
              </a:xfrm>
              <a:prstGeom prst="roundRect">
                <a:avLst>
                  <a:gd name="adj" fmla="val 10345"/>
                </a:avLst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5401818" y="271145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去重筛选</a:t>
                </a:r>
              </a:p>
            </p:txBody>
          </p:sp>
        </p:grpSp>
        <p:grpSp>
          <p:nvGrpSpPr>
            <p:cNvPr id="21" name="fr-4"/>
            <p:cNvGrpSpPr/>
            <p:nvPr/>
          </p:nvGrpSpPr>
          <p:grpSpPr>
            <a:xfrm>
              <a:off x="914400" y="3276600"/>
              <a:ext cx="1714500" cy="552450"/>
              <a:chOff x="914400" y="3276600"/>
              <a:chExt cx="1714500" cy="5524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914400" y="3276600"/>
                <a:ext cx="1714500" cy="552450"/>
              </a:xfrm>
              <a:prstGeom prst="roundRect">
                <a:avLst>
                  <a:gd name="adj" fmla="val 10345"/>
                </a:avLst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401318" y="343535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章节切分</a:t>
                </a:r>
              </a:p>
            </p:txBody>
          </p:sp>
        </p:grpSp>
        <p:grpSp>
          <p:nvGrpSpPr>
            <p:cNvPr id="24" name="fr-5"/>
            <p:cNvGrpSpPr/>
            <p:nvPr/>
          </p:nvGrpSpPr>
          <p:grpSpPr>
            <a:xfrm>
              <a:off x="2914650" y="3276600"/>
              <a:ext cx="1714500" cy="552450"/>
              <a:chOff x="2914650" y="3276600"/>
              <a:chExt cx="1714500" cy="5524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2914650" y="3276600"/>
                <a:ext cx="1714500" cy="552450"/>
              </a:xfrm>
              <a:prstGeom prst="roundRect">
                <a:avLst>
                  <a:gd name="adj" fmla="val 10345"/>
                </a:avLst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3401568" y="343535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混合检索</a:t>
                </a:r>
              </a:p>
            </p:txBody>
          </p:sp>
        </p:grpSp>
        <p:grpSp>
          <p:nvGrpSpPr>
            <p:cNvPr id="27" name="fr-6"/>
            <p:cNvGrpSpPr/>
            <p:nvPr/>
          </p:nvGrpSpPr>
          <p:grpSpPr>
            <a:xfrm>
              <a:off x="4914900" y="3276600"/>
              <a:ext cx="1714500" cy="552450"/>
              <a:chOff x="4914900" y="3276600"/>
              <a:chExt cx="1714500" cy="55245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4914900" y="3276600"/>
                <a:ext cx="1714500" cy="552450"/>
              </a:xfrm>
              <a:prstGeom prst="roundRect">
                <a:avLst>
                  <a:gd name="adj" fmla="val 10345"/>
                </a:avLst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5401818" y="343535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内容分析</a:t>
                </a:r>
              </a:p>
            </p:txBody>
          </p:sp>
        </p:grpSp>
        <p:grpSp>
          <p:nvGrpSpPr>
            <p:cNvPr id="30" name="fr-7"/>
            <p:cNvGrpSpPr/>
            <p:nvPr/>
          </p:nvGrpSpPr>
          <p:grpSpPr>
            <a:xfrm>
              <a:off x="914400" y="4000500"/>
              <a:ext cx="1714500" cy="552450"/>
              <a:chOff x="914400" y="4000500"/>
              <a:chExt cx="1714500" cy="5524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914400" y="4000500"/>
                <a:ext cx="1714500" cy="552450"/>
              </a:xfrm>
              <a:prstGeom prst="roundRect">
                <a:avLst>
                  <a:gd name="adj" fmla="val 10345"/>
                </a:avLst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401318" y="415925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对比融合</a:t>
                </a:r>
              </a:p>
            </p:txBody>
          </p:sp>
        </p:grpSp>
        <p:grpSp>
          <p:nvGrpSpPr>
            <p:cNvPr id="33" name="fr-8"/>
            <p:cNvGrpSpPr/>
            <p:nvPr/>
          </p:nvGrpSpPr>
          <p:grpSpPr>
            <a:xfrm>
              <a:off x="2914650" y="4000500"/>
              <a:ext cx="1714500" cy="552450"/>
              <a:chOff x="2914650" y="4000500"/>
              <a:chExt cx="1714500" cy="55245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2914650" y="4000500"/>
                <a:ext cx="1714500" cy="552450"/>
              </a:xfrm>
              <a:prstGeom prst="roundRect">
                <a:avLst>
                  <a:gd name="adj" fmla="val 10345"/>
                </a:avLst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3310700" y="4159250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结构化写作</a:t>
                </a:r>
              </a:p>
            </p:txBody>
          </p:sp>
        </p:grpSp>
        <p:grpSp>
          <p:nvGrpSpPr>
            <p:cNvPr id="36" name="fr-9"/>
            <p:cNvGrpSpPr/>
            <p:nvPr/>
          </p:nvGrpSpPr>
          <p:grpSpPr>
            <a:xfrm>
              <a:off x="4914900" y="4000500"/>
              <a:ext cx="1714500" cy="552450"/>
              <a:chOff x="4914900" y="4000500"/>
              <a:chExt cx="1714500" cy="5524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4914900" y="4000500"/>
                <a:ext cx="1714500" cy="552450"/>
              </a:xfrm>
              <a:prstGeom prst="roundRect">
                <a:avLst>
                  <a:gd name="adj" fmla="val 10345"/>
                </a:avLst>
              </a:prstGeom>
              <a:solidFill>
                <a:srgbClr val="FFF3E3"/>
              </a:solidFill>
              <a:ln w="9525">
                <a:solidFill>
                  <a:schemeClr val="accent2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5401818" y="415925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引用校验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907542" y="4711700"/>
              <a:ext cx="11441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P1：增强体验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14400" y="5029200"/>
              <a:ext cx="5715000" cy="533400"/>
            </a:xfrm>
            <a:prstGeom prst="roundRect">
              <a:avLst>
                <a:gd name="adj" fmla="val 10714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117092" y="5187950"/>
              <a:ext cx="37302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证据查看 · 报告编辑 · 多格式导出 · 任务监控</a:t>
              </a:r>
            </a:p>
          </p:txBody>
        </p:sp>
      </p:grpSp>
      <p:grpSp>
        <p:nvGrpSpPr>
          <p:cNvPr id="62" name="nonfunctional-requirements"/>
          <p:cNvGrpSpPr/>
          <p:nvPr/>
        </p:nvGrpSpPr>
        <p:grpSpPr>
          <a:xfrm>
            <a:off x="7581900" y="1676400"/>
            <a:ext cx="4000500" cy="4191000"/>
            <a:chOff x="7581900" y="1676400"/>
            <a:chExt cx="4000500" cy="4191000"/>
          </a:xfrm>
        </p:grpSpPr>
        <p:sp>
          <p:nvSpPr>
            <p:cNvPr id="41" name="Rectangle 41"/>
            <p:cNvSpPr/>
            <p:nvPr/>
          </p:nvSpPr>
          <p:spPr>
            <a:xfrm>
              <a:off x="7581900" y="1676400"/>
              <a:ext cx="4000500" cy="4191000"/>
            </a:xfrm>
            <a:prstGeom prst="roundRect">
              <a:avLst>
                <a:gd name="adj" fmla="val 2857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879842" y="1835150"/>
              <a:ext cx="3034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NON-FUNCTIONAL / 8 ITEMS</a:t>
              </a:r>
            </a:p>
          </p:txBody>
        </p:sp>
        <p:grpSp>
          <p:nvGrpSpPr>
            <p:cNvPr id="45" name="nfr-list"/>
            <p:cNvGrpSpPr/>
            <p:nvPr/>
          </p:nvGrpSpPr>
          <p:grpSpPr>
            <a:xfrm>
              <a:off x="7879842" y="2235200"/>
              <a:ext cx="2639816" cy="568833"/>
              <a:chOff x="7879842" y="2235200"/>
              <a:chExt cx="2639816" cy="568833"/>
            </a:xfrm>
          </p:grpSpPr>
          <p:sp>
            <p:nvSpPr>
              <p:cNvPr id="43" name="TextBox 43"/>
              <p:cNvSpPr txBox="1"/>
              <p:nvPr/>
            </p:nvSpPr>
            <p:spPr>
              <a:xfrm>
                <a:off x="7879842" y="2235200"/>
                <a:ext cx="263981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性能 · 可靠性 · 可追溯 · 可复现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879842" y="2540000"/>
                <a:ext cx="227634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安全 · 可维护 · 易用 · 成本</a:t>
                </a:r>
              </a:p>
            </p:txBody>
          </p:sp>
        </p:grpSp>
        <p:sp>
          <p:nvSpPr>
            <p:cNvPr id="46" name="Freeform 46"/>
            <p:cNvSpPr/>
            <p:nvPr/>
          </p:nvSpPr>
          <p:spPr>
            <a:xfrm>
              <a:off x="7886700" y="2971800"/>
              <a:ext cx="3390900" cy="9525"/>
            </a:xfrm>
            <a:custGeom>
              <a:avLst/>
              <a:gdLst/>
              <a:ahLst/>
              <a:cxnLst/>
              <a:rect l="l" t="t" r="r" b="b"/>
              <a:pathLst>
                <a:path w="3390900" h="9525">
                  <a:moveTo>
                    <a:pt x="0" y="0"/>
                  </a:moveTo>
                  <a:lnTo>
                    <a:pt x="3390900" y="0"/>
                  </a:lnTo>
                </a:path>
              </a:pathLst>
            </a:custGeom>
            <a:solidFill>
              <a:schemeClr val="dk1"/>
            </a:solidFill>
            <a:ln w="9525">
              <a:solidFill>
                <a:schemeClr val="accent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879842" y="3149600"/>
              <a:ext cx="20814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ACCEPTANCE / 关键目标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886700" y="3486150"/>
              <a:ext cx="1047750" cy="666750"/>
            </a:xfrm>
            <a:prstGeom prst="roundRect">
              <a:avLst>
                <a:gd name="adj" fmla="val 1142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017497" y="3530600"/>
              <a:ext cx="7861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100%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122539" y="39116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证据绑定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9067800" y="3486150"/>
              <a:ext cx="1047750" cy="666750"/>
            </a:xfrm>
            <a:prstGeom prst="roundRect">
              <a:avLst>
                <a:gd name="adj" fmla="val 11429"/>
              </a:avLst>
            </a:prstGeom>
            <a:solidFill>
              <a:srgbClr val="FFF3E3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198597" y="3530600"/>
              <a:ext cx="7861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≥85%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303639" y="39116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引用精度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0248900" y="3486150"/>
              <a:ext cx="1028700" cy="666750"/>
            </a:xfrm>
            <a:prstGeom prst="roundRect">
              <a:avLst>
                <a:gd name="adj" fmla="val 1142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401976" y="3530600"/>
              <a:ext cx="72254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≥4.0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475214" y="39116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专家评分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879842" y="4387850"/>
              <a:ext cx="18592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验收不是“看起来不错”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879842" y="467360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关键声明有证据、引用能定位、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879842" y="492125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失败可恢复、结果可复现。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886700" y="5372100"/>
              <a:ext cx="3390900" cy="2286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728710" y="541655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7F9F6"/>
                  </a:solidFill>
                  <a:latin typeface="+mn-lt"/>
                  <a:ea typeface="+mn-ea"/>
                  <a:cs typeface="+mn-cs"/>
                </a:rPr>
                <a:t>先保证证据链，再优化界面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604266" y="6502400"/>
            <a:ext cx="10164318" cy="205359"/>
            <a:chOff x="604266" y="6502400"/>
            <a:chExt cx="10164318" cy="205359"/>
          </a:xfrm>
        </p:grpSpPr>
        <p:sp>
          <p:nvSpPr>
            <p:cNvPr id="63" name="TextBox 63"/>
            <p:cNvSpPr txBox="1"/>
            <p:nvPr/>
          </p:nvSpPr>
          <p:spPr>
            <a:xfrm>
              <a:off x="604266" y="6502400"/>
              <a:ext cx="26539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需求与验收 · 12 项功能与 8 项非功能指标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175443" y="6502400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P10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609600" y="1371600"/>
            <a:ext cx="10972800" cy="5029200"/>
          </a:xfrm>
          <a:custGeom>
            <a:avLst/>
            <a:gdLst/>
            <a:ahLst/>
            <a:cxnLst/>
            <a:rect l="l" t="t" r="r" b="b"/>
            <a:pathLst>
              <a:path w="10972800" h="5029200">
                <a:moveTo>
                  <a:pt x="0" y="0"/>
                </a:moveTo>
                <a:lnTo>
                  <a:pt x="10972800" y="0"/>
                </a:lnTo>
                <a:moveTo>
                  <a:pt x="0" y="5029200"/>
                </a:moveTo>
                <a:lnTo>
                  <a:pt x="10972800" y="5029200"/>
                </a:lnTo>
                <a:moveTo>
                  <a:pt x="190500" y="0"/>
                </a:moveTo>
                <a:lnTo>
                  <a:pt x="190500" y="5029200"/>
                </a:lnTo>
                <a:moveTo>
                  <a:pt x="10782300" y="0"/>
                </a:moveTo>
                <a:lnTo>
                  <a:pt x="10782300" y="5029200"/>
                </a:lnTo>
              </a:path>
            </a:pathLst>
          </a:custGeom>
          <a:noFill/>
          <a:ln w="9525">
            <a:solidFill>
              <a:schemeClr val="accent6">
                <a:alpha val="32000"/>
              </a:schemeClr>
            </a:solidFill>
          </a:ln>
        </p:spPr>
      </p:sp>
      <p:grpSp>
        <p:nvGrpSpPr>
          <p:cNvPr id="6" name="page-title"/>
          <p:cNvGrpSpPr/>
          <p:nvPr/>
        </p:nvGrpSpPr>
        <p:grpSpPr>
          <a:xfrm>
            <a:off x="592074" y="387350"/>
            <a:ext cx="6072759" cy="1297051"/>
            <a:chOff x="592074" y="387350"/>
            <a:chExt cx="6072759" cy="1297051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87350"/>
              <a:ext cx="1532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11 / 三领域评测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074" y="571500"/>
              <a:ext cx="607275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三领域、四基线、两层评测：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2074" y="1009650"/>
              <a:ext cx="328612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质量必须可核验</a:t>
              </a:r>
            </a:p>
          </p:txBody>
        </p:sp>
      </p:grpSp>
      <p:grpSp>
        <p:nvGrpSpPr>
          <p:cNvPr id="40" name="domains"/>
          <p:cNvGrpSpPr/>
          <p:nvPr/>
        </p:nvGrpSpPr>
        <p:grpSpPr>
          <a:xfrm>
            <a:off x="609600" y="1676400"/>
            <a:ext cx="5905500" cy="4191000"/>
            <a:chOff x="609600" y="1676400"/>
            <a:chExt cx="5905500" cy="4191000"/>
          </a:xfrm>
        </p:grpSpPr>
        <p:sp>
          <p:nvSpPr>
            <p:cNvPr id="7" name="Rectangle 7"/>
            <p:cNvSpPr/>
            <p:nvPr/>
          </p:nvSpPr>
          <p:spPr>
            <a:xfrm>
              <a:off x="609600" y="1676400"/>
              <a:ext cx="5905500" cy="4191000"/>
            </a:xfrm>
            <a:prstGeom prst="roundRect">
              <a:avLst>
                <a:gd name="adj" fmla="val 272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7542" y="1835150"/>
              <a:ext cx="32803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TEST DOMAINS / 3 × 3 TOPICS</a:t>
              </a:r>
            </a:p>
          </p:txBody>
        </p:sp>
        <p:grpSp>
          <p:nvGrpSpPr>
            <p:cNvPr id="17" name="domain-rag"/>
            <p:cNvGrpSpPr/>
            <p:nvPr/>
          </p:nvGrpSpPr>
          <p:grpSpPr>
            <a:xfrm>
              <a:off x="914400" y="2209800"/>
              <a:ext cx="5295900" cy="914400"/>
              <a:chOff x="914400" y="2209800"/>
              <a:chExt cx="5295900" cy="9144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914400" y="2209800"/>
                <a:ext cx="5295900" cy="914400"/>
              </a:xfrm>
              <a:prstGeom prst="roundRect">
                <a:avLst>
                  <a:gd name="adj" fmla="val 8333"/>
                </a:avLst>
              </a:prstGeom>
              <a:solidFill>
                <a:schemeClr val="lt1"/>
              </a:solidFill>
              <a:ln w="11430">
                <a:solidFill>
                  <a:schemeClr val="accent1"/>
                </a:solidFill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1158875" y="2440781"/>
                <a:ext cx="215901" cy="242888"/>
                <a:chOff x="1158875" y="2440781"/>
                <a:chExt cx="215901" cy="242888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1158875" y="2440781"/>
                  <a:ext cx="215901" cy="80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01" h="80963">
                      <a:moveTo>
                        <a:pt x="0" y="40481"/>
                      </a:moveTo>
                      <a:cubicBezTo>
                        <a:pt x="0" y="62839"/>
                        <a:pt x="48331" y="80963"/>
                        <a:pt x="107950" y="80963"/>
                      </a:cubicBezTo>
                      <a:cubicBezTo>
                        <a:pt x="167570" y="80963"/>
                        <a:pt x="215901" y="62839"/>
                        <a:pt x="215901" y="40481"/>
                      </a:cubicBezTo>
                      <a:cubicBezTo>
                        <a:pt x="215901" y="18124"/>
                        <a:pt x="167570" y="0"/>
                        <a:pt x="107950" y="0"/>
                      </a:cubicBezTo>
                      <a:cubicBezTo>
                        <a:pt x="48331" y="0"/>
                        <a:pt x="0" y="18124"/>
                        <a:pt x="0" y="40481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158875" y="2481263"/>
                  <a:ext cx="215901" cy="121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01" h="121444">
                      <a:moveTo>
                        <a:pt x="0" y="0"/>
                      </a:moveTo>
                      <a:lnTo>
                        <a:pt x="0" y="80963"/>
                      </a:lnTo>
                      <a:cubicBezTo>
                        <a:pt x="0" y="103320"/>
                        <a:pt x="48331" y="121444"/>
                        <a:pt x="107950" y="121444"/>
                      </a:cubicBezTo>
                      <a:cubicBezTo>
                        <a:pt x="167570" y="121444"/>
                        <a:pt x="215901" y="103320"/>
                        <a:pt x="215901" y="80963"/>
                      </a:cubicBezTo>
                      <a:lnTo>
                        <a:pt x="215901" y="0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158875" y="2562225"/>
                  <a:ext cx="215901" cy="121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01" h="121444">
                      <a:moveTo>
                        <a:pt x="0" y="0"/>
                      </a:moveTo>
                      <a:lnTo>
                        <a:pt x="0" y="80963"/>
                      </a:lnTo>
                      <a:cubicBezTo>
                        <a:pt x="0" y="103320"/>
                        <a:pt x="48331" y="121444"/>
                        <a:pt x="107950" y="121444"/>
                      </a:cubicBezTo>
                      <a:cubicBezTo>
                        <a:pt x="167570" y="121444"/>
                        <a:pt x="215901" y="103320"/>
                        <a:pt x="215901" y="80963"/>
                      </a:cubicBezTo>
                      <a:lnTo>
                        <a:pt x="215901" y="0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1591056" y="231775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检索增强生成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593342" y="2635250"/>
                <a:ext cx="279429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忠实性评估 · 混合检索 · 证据绑定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594866" y="2901950"/>
                <a:ext cx="25635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主题示例：RAG 的引用可靠性与检索策略</a:t>
                </a:r>
              </a:p>
            </p:txBody>
          </p:sp>
        </p:grpSp>
        <p:grpSp>
          <p:nvGrpSpPr>
            <p:cNvPr id="31" name="domain-agent"/>
            <p:cNvGrpSpPr/>
            <p:nvPr/>
          </p:nvGrpSpPr>
          <p:grpSpPr>
            <a:xfrm>
              <a:off x="914400" y="3295650"/>
              <a:ext cx="5295900" cy="914400"/>
              <a:chOff x="914400" y="3295650"/>
              <a:chExt cx="5295900" cy="9144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914400" y="3295650"/>
                <a:ext cx="5295900" cy="914400"/>
              </a:xfrm>
              <a:prstGeom prst="roundRect">
                <a:avLst>
                  <a:gd name="adj" fmla="val 8333"/>
                </a:avLst>
              </a:prstGeom>
              <a:solidFill>
                <a:schemeClr val="lt1"/>
              </a:solidFill>
              <a:ln w="11430">
                <a:solidFill>
                  <a:schemeClr val="accent1"/>
                </a:solidFill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1145381" y="3526631"/>
                <a:ext cx="242888" cy="256382"/>
                <a:chOff x="1145381" y="3526631"/>
                <a:chExt cx="242888" cy="256382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1185863" y="3526631"/>
                  <a:ext cx="161925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" h="161925">
                      <a:moveTo>
                        <a:pt x="0" y="80963"/>
                      </a:moveTo>
                      <a:cubicBezTo>
                        <a:pt x="0" y="125677"/>
                        <a:pt x="36248" y="161925"/>
                        <a:pt x="80963" y="161925"/>
                      </a:cubicBezTo>
                      <a:cubicBezTo>
                        <a:pt x="125677" y="161925"/>
                        <a:pt x="161925" y="125677"/>
                        <a:pt x="161925" y="80963"/>
                      </a:cubicBezTo>
                      <a:cubicBezTo>
                        <a:pt x="161925" y="36248"/>
                        <a:pt x="125677" y="0"/>
                        <a:pt x="80963" y="0"/>
                      </a:cubicBezTo>
                      <a:cubicBezTo>
                        <a:pt x="36248" y="0"/>
                        <a:pt x="0" y="36248"/>
                        <a:pt x="0" y="80963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1266825" y="3526631"/>
                  <a:ext cx="26988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88" h="161925">
                      <a:moveTo>
                        <a:pt x="0" y="0"/>
                      </a:moveTo>
                      <a:cubicBezTo>
                        <a:pt x="17987" y="4493"/>
                        <a:pt x="26988" y="31481"/>
                        <a:pt x="26988" y="80963"/>
                      </a:cubicBezTo>
                      <a:cubicBezTo>
                        <a:pt x="26988" y="130444"/>
                        <a:pt x="17987" y="157432"/>
                        <a:pt x="0" y="161925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1239838" y="3526631"/>
                  <a:ext cx="26988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88" h="161925">
                      <a:moveTo>
                        <a:pt x="26988" y="0"/>
                      </a:moveTo>
                      <a:cubicBezTo>
                        <a:pt x="9000" y="4493"/>
                        <a:pt x="0" y="31481"/>
                        <a:pt x="0" y="80963"/>
                      </a:cubicBezTo>
                      <a:cubicBezTo>
                        <a:pt x="0" y="130444"/>
                        <a:pt x="9000" y="157432"/>
                        <a:pt x="26988" y="161925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1185863" y="3607594"/>
                  <a:ext cx="1619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" h="9525">
                      <a:moveTo>
                        <a:pt x="0" y="0"/>
                      </a:moveTo>
                      <a:lnTo>
                        <a:pt x="161925" y="0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1145381" y="3756026"/>
                  <a:ext cx="9445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56" h="9525">
                      <a:moveTo>
                        <a:pt x="0" y="0"/>
                      </a:moveTo>
                      <a:lnTo>
                        <a:pt x="94456" y="0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1293813" y="3756026"/>
                  <a:ext cx="9445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56" h="9525">
                      <a:moveTo>
                        <a:pt x="0" y="0"/>
                      </a:moveTo>
                      <a:lnTo>
                        <a:pt x="94456" y="0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1239838" y="3729038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0" y="26988"/>
                      </a:moveTo>
                      <a:cubicBezTo>
                        <a:pt x="0" y="41892"/>
                        <a:pt x="12083" y="53975"/>
                        <a:pt x="26988" y="53975"/>
                      </a:cubicBezTo>
                      <a:cubicBezTo>
                        <a:pt x="41892" y="53975"/>
                        <a:pt x="53975" y="41892"/>
                        <a:pt x="53975" y="26988"/>
                      </a:cubicBezTo>
                      <a:cubicBezTo>
                        <a:pt x="53975" y="12083"/>
                        <a:pt x="41892" y="0"/>
                        <a:pt x="26988" y="0"/>
                      </a:cubicBezTo>
                      <a:cubicBezTo>
                        <a:pt x="12083" y="0"/>
                        <a:pt x="0" y="12083"/>
                        <a:pt x="0" y="26988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1266825" y="3688557"/>
                  <a:ext cx="9525" cy="40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0481">
                      <a:moveTo>
                        <a:pt x="0" y="0"/>
                      </a:moveTo>
                      <a:lnTo>
                        <a:pt x="0" y="40481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1591056" y="3403600"/>
                <a:ext cx="205017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LLM 多智能体系统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593342" y="3721100"/>
                <a:ext cx="26125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任务分解 · 角色协作 · 错误恢复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594866" y="3987800"/>
                <a:ext cx="241363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主题示例：多智能体任务图与协作机制</a:t>
                </a:r>
              </a:p>
            </p:txBody>
          </p:sp>
        </p:grpSp>
        <p:grpSp>
          <p:nvGrpSpPr>
            <p:cNvPr id="39" name="domain-security"/>
            <p:cNvGrpSpPr/>
            <p:nvPr/>
          </p:nvGrpSpPr>
          <p:grpSpPr>
            <a:xfrm>
              <a:off x="914400" y="4381500"/>
              <a:ext cx="5295900" cy="914400"/>
              <a:chOff x="914400" y="4381500"/>
              <a:chExt cx="5295900" cy="9144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914400" y="4381500"/>
                <a:ext cx="5295900" cy="914400"/>
              </a:xfrm>
              <a:prstGeom prst="roundRect">
                <a:avLst>
                  <a:gd name="adj" fmla="val 8333"/>
                </a:avLst>
              </a:prstGeom>
              <a:solidFill>
                <a:srgbClr val="FFF3E3"/>
              </a:solidFill>
              <a:ln w="11430">
                <a:solidFill>
                  <a:schemeClr val="accent2"/>
                </a:solidFill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1127171" y="4612481"/>
                <a:ext cx="263510" cy="242888"/>
                <a:chOff x="1127171" y="4612481"/>
                <a:chExt cx="263510" cy="242888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1127171" y="4612481"/>
                  <a:ext cx="263510" cy="2408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510" h="240810">
                      <a:moveTo>
                        <a:pt x="132368" y="240810"/>
                      </a:moveTo>
                      <a:cubicBezTo>
                        <a:pt x="47836" y="214607"/>
                        <a:pt x="0" y="125390"/>
                        <a:pt x="24957" y="40481"/>
                      </a:cubicBezTo>
                      <a:cubicBezTo>
                        <a:pt x="66998" y="42405"/>
                        <a:pt x="108135" y="27886"/>
                        <a:pt x="139655" y="0"/>
                      </a:cubicBezTo>
                      <a:cubicBezTo>
                        <a:pt x="171174" y="27886"/>
                        <a:pt x="212311" y="42405"/>
                        <a:pt x="254352" y="40481"/>
                      </a:cubicBezTo>
                      <a:cubicBezTo>
                        <a:pt x="263510" y="71640"/>
                        <a:pt x="263086" y="104832"/>
                        <a:pt x="253137" y="135747"/>
                      </a:cubicBezTo>
                    </a:path>
                  </a:pathLst>
                </a:custGeom>
                <a:noFill/>
                <a:ln w="26988">
                  <a:solidFill>
                    <a:schemeClr val="accent2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1307307" y="4801394"/>
                  <a:ext cx="80963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3" h="53975">
                      <a:moveTo>
                        <a:pt x="0" y="26988"/>
                      </a:moveTo>
                      <a:lnTo>
                        <a:pt x="26988" y="53975"/>
                      </a:lnTo>
                      <a:lnTo>
                        <a:pt x="80963" y="0"/>
                      </a:lnTo>
                    </a:path>
                  </a:pathLst>
                </a:custGeom>
                <a:noFill/>
                <a:ln w="26988">
                  <a:solidFill>
                    <a:schemeClr val="accent2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1591056" y="448945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软件漏洞检测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593342" y="4806950"/>
                <a:ext cx="279429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实验条件 · 数据集偏差 · 局限识别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594866" y="5073650"/>
                <a:ext cx="241363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主题示例：深度学习的漏洞检测与泛化</a:t>
                </a:r>
              </a:p>
            </p:txBody>
          </p:sp>
        </p:grpSp>
      </p:grpSp>
      <p:grpSp>
        <p:nvGrpSpPr>
          <p:cNvPr id="69" name="baselines-metrics"/>
          <p:cNvGrpSpPr/>
          <p:nvPr/>
        </p:nvGrpSpPr>
        <p:grpSpPr>
          <a:xfrm>
            <a:off x="6515100" y="1676400"/>
            <a:ext cx="5067300" cy="4191000"/>
            <a:chOff x="6515100" y="1676400"/>
            <a:chExt cx="5067300" cy="4191000"/>
          </a:xfrm>
        </p:grpSpPr>
        <p:sp>
          <p:nvSpPr>
            <p:cNvPr id="41" name="Rectangle 41"/>
            <p:cNvSpPr/>
            <p:nvPr/>
          </p:nvSpPr>
          <p:spPr>
            <a:xfrm>
              <a:off x="6515100" y="1676400"/>
              <a:ext cx="5067300" cy="4191000"/>
            </a:xfrm>
            <a:prstGeom prst="roundRect">
              <a:avLst>
                <a:gd name="adj" fmla="val 2727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13042" y="1835150"/>
              <a:ext cx="21708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BASELINES / 4 RUNS</a:t>
              </a:r>
            </a:p>
          </p:txBody>
        </p:sp>
        <p:grpSp>
          <p:nvGrpSpPr>
            <p:cNvPr id="46" name="baseline-direct"/>
            <p:cNvGrpSpPr/>
            <p:nvPr/>
          </p:nvGrpSpPr>
          <p:grpSpPr>
            <a:xfrm>
              <a:off x="6858000" y="2235200"/>
              <a:ext cx="3572637" cy="264033"/>
              <a:chOff x="6858000" y="2235200"/>
              <a:chExt cx="3572637" cy="264033"/>
            </a:xfrm>
          </p:grpSpPr>
          <p:sp>
            <p:nvSpPr>
              <p:cNvPr id="43" name="Ellipse 43"/>
              <p:cNvSpPr/>
              <p:nvPr/>
            </p:nvSpPr>
            <p:spPr>
              <a:xfrm>
                <a:off x="6858000" y="2266950"/>
                <a:ext cx="152400" cy="1524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155942" y="2235200"/>
                <a:ext cx="9825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Direct LLM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9995916" y="2273300"/>
                <a:ext cx="4347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无检索</a:t>
                </a:r>
              </a:p>
            </p:txBody>
          </p:sp>
        </p:grpSp>
        <p:grpSp>
          <p:nvGrpSpPr>
            <p:cNvPr id="50" name="baseline-single"/>
            <p:cNvGrpSpPr/>
            <p:nvPr/>
          </p:nvGrpSpPr>
          <p:grpSpPr>
            <a:xfrm>
              <a:off x="6858000" y="2597150"/>
              <a:ext cx="3713988" cy="264033"/>
              <a:chOff x="6858000" y="2597150"/>
              <a:chExt cx="3713988" cy="264033"/>
            </a:xfrm>
          </p:grpSpPr>
          <p:sp>
            <p:nvSpPr>
              <p:cNvPr id="47" name="Ellipse 47"/>
              <p:cNvSpPr/>
              <p:nvPr/>
            </p:nvSpPr>
            <p:spPr>
              <a:xfrm>
                <a:off x="6858000" y="2628900"/>
                <a:ext cx="152400" cy="15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7155942" y="2597150"/>
                <a:ext cx="165733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Single-agent + RAG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9995916" y="2635250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单智能体</a:t>
                </a:r>
              </a:p>
            </p:txBody>
          </p:sp>
        </p:grpSp>
        <p:grpSp>
          <p:nvGrpSpPr>
            <p:cNvPr id="54" name="baseline-multi"/>
            <p:cNvGrpSpPr/>
            <p:nvPr/>
          </p:nvGrpSpPr>
          <p:grpSpPr>
            <a:xfrm>
              <a:off x="6858000" y="2959100"/>
              <a:ext cx="3572637" cy="264033"/>
              <a:chOff x="6858000" y="2959100"/>
              <a:chExt cx="3572637" cy="264033"/>
            </a:xfrm>
          </p:grpSpPr>
          <p:sp>
            <p:nvSpPr>
              <p:cNvPr id="51" name="Ellipse 51"/>
              <p:cNvSpPr/>
              <p:nvPr/>
            </p:nvSpPr>
            <p:spPr>
              <a:xfrm>
                <a:off x="6858000" y="2990850"/>
                <a:ext cx="152400" cy="152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7155942" y="2959100"/>
                <a:ext cx="21824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Multi-agent without RAG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9995916" y="2997200"/>
                <a:ext cx="4347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无证据</a:t>
                </a:r>
              </a:p>
            </p:txBody>
          </p:sp>
        </p:grpSp>
        <p:grpSp>
          <p:nvGrpSpPr>
            <p:cNvPr id="58" name="baseline-ours"/>
            <p:cNvGrpSpPr/>
            <p:nvPr/>
          </p:nvGrpSpPr>
          <p:grpSpPr>
            <a:xfrm>
              <a:off x="6858000" y="3321050"/>
              <a:ext cx="4445279" cy="264033"/>
              <a:chOff x="6858000" y="3321050"/>
              <a:chExt cx="4445279" cy="264033"/>
            </a:xfrm>
          </p:grpSpPr>
          <p:sp>
            <p:nvSpPr>
              <p:cNvPr id="55" name="Ellipse 55"/>
              <p:cNvSpPr/>
              <p:nvPr/>
            </p:nvSpPr>
            <p:spPr>
              <a:xfrm>
                <a:off x="6858000" y="3352800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7155942" y="3321050"/>
                <a:ext cx="47817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Ours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9995916" y="3359150"/>
                <a:ext cx="130736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任务图 + RAG + 校验</a:t>
                </a:r>
              </a:p>
            </p:txBody>
          </p:sp>
        </p:grpSp>
        <p:sp>
          <p:nvSpPr>
            <p:cNvPr id="59" name="Freeform 59"/>
            <p:cNvSpPr/>
            <p:nvPr/>
          </p:nvSpPr>
          <p:spPr>
            <a:xfrm>
              <a:off x="6819900" y="3714750"/>
              <a:ext cx="4457700" cy="9525"/>
            </a:xfrm>
            <a:custGeom>
              <a:avLst/>
              <a:gdLst/>
              <a:ahLst/>
              <a:cxnLst/>
              <a:rect l="l" t="t" r="r" b="b"/>
              <a:pathLst>
                <a:path w="4457700" h="9525">
                  <a:moveTo>
                    <a:pt x="0" y="0"/>
                  </a:moveTo>
                  <a:lnTo>
                    <a:pt x="4457700" y="0"/>
                  </a:lnTo>
                </a:path>
              </a:pathLst>
            </a:custGeom>
            <a:solidFill>
              <a:schemeClr val="dk1"/>
            </a:solidFill>
            <a:ln w="9525">
              <a:solidFill>
                <a:schemeClr val="accent6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813042" y="3892550"/>
              <a:ext cx="22830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AUTO + HUMAN / 两层评测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819900" y="4229100"/>
              <a:ext cx="4457700" cy="819150"/>
            </a:xfrm>
            <a:prstGeom prst="roundRect">
              <a:avLst>
                <a:gd name="adj" fmla="val 930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03542" y="43497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自动指标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005066" y="4635500"/>
              <a:ext cx="24772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引用精度 / 召回 · 覆盖率 · 定位准确率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005066" y="4845050"/>
              <a:ext cx="16633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nDCG · 时延 · token 成本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819900" y="5181600"/>
              <a:ext cx="4457700" cy="476250"/>
            </a:xfrm>
            <a:prstGeom prst="roundRect">
              <a:avLst>
                <a:gd name="adj" fmla="val 16000"/>
              </a:avLst>
            </a:prstGeom>
            <a:solidFill>
              <a:srgbClr val="FFF3E3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003542" y="52451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人工盲评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052816" y="5283200"/>
              <a:ext cx="30782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3 名评分者 · 5 分制 · Krippendorff's α ≥ 0.70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005066" y="5530850"/>
              <a:ext cx="25832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不只问“像不像”，还要问“有没有证据”。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604266" y="6502400"/>
            <a:ext cx="10164318" cy="205359"/>
            <a:chOff x="604266" y="6502400"/>
            <a:chExt cx="10164318" cy="205359"/>
          </a:xfrm>
        </p:grpSpPr>
        <p:sp>
          <p:nvSpPr>
            <p:cNvPr id="70" name="TextBox 70"/>
            <p:cNvSpPr txBox="1"/>
            <p:nvPr/>
          </p:nvSpPr>
          <p:spPr>
            <a:xfrm>
              <a:off x="604266" y="6502400"/>
              <a:ext cx="31529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三领域评测 · RAG、LLM 多智能体、软件漏洞检测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175443" y="6502400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P11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609600" y="1371600"/>
            <a:ext cx="10972800" cy="5029200"/>
          </a:xfrm>
          <a:custGeom>
            <a:avLst/>
            <a:gdLst/>
            <a:ahLst/>
            <a:cxnLst/>
            <a:rect l="l" t="t" r="r" b="b"/>
            <a:pathLst>
              <a:path w="10972800" h="5029200">
                <a:moveTo>
                  <a:pt x="0" y="0"/>
                </a:moveTo>
                <a:lnTo>
                  <a:pt x="10972800" y="0"/>
                </a:lnTo>
                <a:moveTo>
                  <a:pt x="0" y="5029200"/>
                </a:moveTo>
                <a:lnTo>
                  <a:pt x="10972800" y="5029200"/>
                </a:lnTo>
                <a:moveTo>
                  <a:pt x="190500" y="0"/>
                </a:moveTo>
                <a:lnTo>
                  <a:pt x="190500" y="5029200"/>
                </a:lnTo>
                <a:moveTo>
                  <a:pt x="10782300" y="0"/>
                </a:moveTo>
                <a:lnTo>
                  <a:pt x="10782300" y="5029200"/>
                </a:lnTo>
              </a:path>
            </a:pathLst>
          </a:custGeom>
          <a:noFill/>
          <a:ln w="9525">
            <a:solidFill>
              <a:schemeClr val="accent6">
                <a:alpha val="32000"/>
              </a:schemeClr>
            </a:solidFill>
          </a:ln>
        </p:spPr>
      </p:sp>
      <p:grpSp>
        <p:nvGrpSpPr>
          <p:cNvPr id="6" name="page-title"/>
          <p:cNvGrpSpPr/>
          <p:nvPr/>
        </p:nvGrpSpPr>
        <p:grpSpPr>
          <a:xfrm>
            <a:off x="592074" y="387350"/>
            <a:ext cx="5896754" cy="1297051"/>
            <a:chOff x="592074" y="387350"/>
            <a:chExt cx="5896754" cy="1297051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87350"/>
              <a:ext cx="14562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12 / 24 周进度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074" y="571500"/>
              <a:ext cx="358029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24 周完成从 RAG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2074" y="1009650"/>
              <a:ext cx="5896754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到 Web 原型再到三领域评测</a:t>
              </a:r>
            </a:p>
          </p:txBody>
        </p:sp>
      </p:grpSp>
      <p:grpSp>
        <p:nvGrpSpPr>
          <p:cNvPr id="42" name="roadmap"/>
          <p:cNvGrpSpPr/>
          <p:nvPr/>
        </p:nvGrpSpPr>
        <p:grpSpPr>
          <a:xfrm>
            <a:off x="609600" y="1676400"/>
            <a:ext cx="10972800" cy="4231259"/>
            <a:chOff x="609600" y="1676400"/>
            <a:chExt cx="10972800" cy="4231259"/>
          </a:xfrm>
        </p:grpSpPr>
        <p:sp>
          <p:nvSpPr>
            <p:cNvPr id="7" name="Rectangle 7"/>
            <p:cNvSpPr/>
            <p:nvPr/>
          </p:nvSpPr>
          <p:spPr>
            <a:xfrm>
              <a:off x="609600" y="1676400"/>
              <a:ext cx="10972800" cy="4191000"/>
            </a:xfrm>
            <a:prstGeom prst="roundRect">
              <a:avLst>
                <a:gd name="adj" fmla="val 272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7542" y="1835150"/>
              <a:ext cx="46530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DELIVERY PATH / CONTINUOUS INCREMENTS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914400" y="2381250"/>
              <a:ext cx="10363200" cy="9525"/>
            </a:xfrm>
            <a:custGeom>
              <a:avLst/>
              <a:gdLst/>
              <a:ahLst/>
              <a:cxnLst/>
              <a:rect l="l" t="t" r="r" b="b"/>
              <a:pathLst>
                <a:path w="10363200" h="9525">
                  <a:moveTo>
                    <a:pt x="0" y="0"/>
                  </a:moveTo>
                  <a:lnTo>
                    <a:pt x="10363200" y="0"/>
                  </a:lnTo>
                </a:path>
              </a:pathLst>
            </a:custGeom>
            <a:noFill/>
            <a:ln w="13335">
              <a:solidFill>
                <a:schemeClr val="accent1"/>
              </a:solidFill>
              <a:custDash>
                <a:ds d="428571" sp="357143"/>
              </a:custDash>
            </a:ln>
          </p:spPr>
        </p:sp>
        <p:grpSp>
          <p:nvGrpSpPr>
            <p:cNvPr id="16" name="phase-1"/>
            <p:cNvGrpSpPr/>
            <p:nvPr/>
          </p:nvGrpSpPr>
          <p:grpSpPr>
            <a:xfrm>
              <a:off x="609600" y="2628900"/>
              <a:ext cx="2476500" cy="2476500"/>
              <a:chOff x="609600" y="2628900"/>
              <a:chExt cx="2476500" cy="24765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609600" y="2628900"/>
                <a:ext cx="2476500" cy="2476500"/>
              </a:xfrm>
              <a:prstGeom prst="roundRect">
                <a:avLst>
                  <a:gd name="adj" fmla="val 3077"/>
                </a:avLst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832866" y="2844800"/>
                <a:ext cx="152397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PHASE 01 / WEEK 1—2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29056" y="313690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调研与需求冻结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31342" y="354965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文献矩阵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31342" y="3816350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用户与验收标准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31342" y="4311650"/>
                <a:ext cx="15530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成果：需求规格 v1</a:t>
                </a:r>
              </a:p>
            </p:txBody>
          </p:sp>
        </p:grpSp>
        <p:grpSp>
          <p:nvGrpSpPr>
            <p:cNvPr id="23" name="phase-2"/>
            <p:cNvGrpSpPr/>
            <p:nvPr/>
          </p:nvGrpSpPr>
          <p:grpSpPr>
            <a:xfrm>
              <a:off x="3429000" y="2628900"/>
              <a:ext cx="2476500" cy="2476500"/>
              <a:chOff x="3429000" y="2628900"/>
              <a:chExt cx="2476500" cy="24765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3429000" y="2628900"/>
                <a:ext cx="2476500" cy="2476500"/>
              </a:xfrm>
              <a:prstGeom prst="roundRect">
                <a:avLst>
                  <a:gd name="adj" fmla="val 3077"/>
                </a:avLst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3652266" y="2844800"/>
                <a:ext cx="152397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PHASE 02 / WEEK 3—8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648456" y="3136900"/>
                <a:ext cx="126946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架构与 RAG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650742" y="3549650"/>
                <a:ext cx="131313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数据接入 · 切分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650742" y="3816350"/>
                <a:ext cx="14948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混合检索 · 重排序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650742" y="4311650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成果：索引流水线</a:t>
                </a:r>
              </a:p>
            </p:txBody>
          </p:sp>
        </p:grpSp>
        <p:grpSp>
          <p:nvGrpSpPr>
            <p:cNvPr id="30" name="phase-3"/>
            <p:cNvGrpSpPr/>
            <p:nvPr/>
          </p:nvGrpSpPr>
          <p:grpSpPr>
            <a:xfrm>
              <a:off x="6248400" y="2628900"/>
              <a:ext cx="2476500" cy="2476500"/>
              <a:chOff x="6248400" y="2628900"/>
              <a:chExt cx="2476500" cy="24765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6248400" y="2628900"/>
                <a:ext cx="2476500" cy="2476500"/>
              </a:xfrm>
              <a:prstGeom prst="roundRect">
                <a:avLst>
                  <a:gd name="adj" fmla="val 3077"/>
                </a:avLst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471666" y="2844800"/>
                <a:ext cx="16102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PHASE 03 / WEEK 9—15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467856" y="3136900"/>
                <a:ext cx="154490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智能体与 Web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470142" y="3549650"/>
                <a:ext cx="202653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任务 DAG · 产物 schema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470142" y="3816350"/>
                <a:ext cx="14948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引用校验 · 四视图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470142" y="4311650"/>
                <a:ext cx="128102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成果：Alpha 版</a:t>
                </a:r>
              </a:p>
            </p:txBody>
          </p:sp>
        </p:grpSp>
        <p:grpSp>
          <p:nvGrpSpPr>
            <p:cNvPr id="37" name="phase-4"/>
            <p:cNvGrpSpPr/>
            <p:nvPr/>
          </p:nvGrpSpPr>
          <p:grpSpPr>
            <a:xfrm>
              <a:off x="9067800" y="2628900"/>
              <a:ext cx="2476500" cy="2476500"/>
              <a:chOff x="9067800" y="2628900"/>
              <a:chExt cx="2476500" cy="24765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9067800" y="2628900"/>
                <a:ext cx="2476500" cy="2476500"/>
              </a:xfrm>
              <a:prstGeom prst="roundRect">
                <a:avLst>
                  <a:gd name="adj" fmla="val 3077"/>
                </a:avLst>
              </a:prstGeom>
              <a:solidFill>
                <a:srgbClr val="FFF3E3"/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9291066" y="2844800"/>
                <a:ext cx="169647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PHASE 04 / WEEK 16—24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287256" y="313690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评测与结项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289542" y="3549650"/>
                <a:ext cx="14948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三领域盲评 · 消融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289542" y="3816350"/>
                <a:ext cx="113139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稳定性 · 成本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289542" y="4311650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成果：报告与答辩</a:t>
                </a:r>
              </a:p>
            </p:txBody>
          </p:sp>
        </p:grpSp>
        <p:grpSp>
          <p:nvGrpSpPr>
            <p:cNvPr id="41" name="milestones"/>
            <p:cNvGrpSpPr/>
            <p:nvPr/>
          </p:nvGrpSpPr>
          <p:grpSpPr>
            <a:xfrm>
              <a:off x="907542" y="5264150"/>
              <a:ext cx="10370058" cy="643509"/>
              <a:chOff x="907542" y="5264150"/>
              <a:chExt cx="10370058" cy="643509"/>
            </a:xfrm>
          </p:grpSpPr>
          <p:sp>
            <p:nvSpPr>
              <p:cNvPr id="38" name="TextBox 38"/>
              <p:cNvSpPr txBox="1"/>
              <p:nvPr/>
            </p:nvSpPr>
            <p:spPr>
              <a:xfrm>
                <a:off x="907542" y="5264150"/>
                <a:ext cx="613825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里程碑：第 8 周可检索 → 第 15 周可演示 → 第 20 周可评测 → 第 24 周可结项</a:t>
                </a:r>
              </a:p>
            </p:txBody>
          </p:sp>
          <p:sp>
            <p:nvSpPr>
              <p:cNvPr id="39" name="Freeform 39"/>
              <p:cNvSpPr/>
              <p:nvPr/>
            </p:nvSpPr>
            <p:spPr>
              <a:xfrm>
                <a:off x="914400" y="5600700"/>
                <a:ext cx="10363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363200" h="9525">
                    <a:moveTo>
                      <a:pt x="0" y="0"/>
                    </a:moveTo>
                    <a:lnTo>
                      <a:pt x="10363200" y="0"/>
                    </a:lnTo>
                  </a:path>
                </a:pathLst>
              </a:custGeom>
              <a:solidFill>
                <a:schemeClr val="dk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909066" y="5702300"/>
                <a:ext cx="495795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原则：每个阶段都产生可运行增量；优先保证证据链、任务恢复和可复现实验。</a:t>
                </a:r>
              </a:p>
            </p:txBody>
          </p:sp>
        </p:grpSp>
      </p:grpSp>
      <p:grpSp>
        <p:nvGrpSpPr>
          <p:cNvPr id="45" name="footer"/>
          <p:cNvGrpSpPr/>
          <p:nvPr/>
        </p:nvGrpSpPr>
        <p:grpSpPr>
          <a:xfrm>
            <a:off x="604266" y="6502400"/>
            <a:ext cx="10164318" cy="205359"/>
            <a:chOff x="604266" y="6502400"/>
            <a:chExt cx="10164318" cy="205359"/>
          </a:xfrm>
        </p:grpSpPr>
        <p:sp>
          <p:nvSpPr>
            <p:cNvPr id="43" name="TextBox 43"/>
            <p:cNvSpPr txBox="1"/>
            <p:nvPr/>
          </p:nvSpPr>
          <p:spPr>
            <a:xfrm>
              <a:off x="604266" y="6502400"/>
              <a:ext cx="24913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24 周进度 · 分阶段交付、尽早暴露风险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175443" y="6502400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P12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609600" y="1371600"/>
            <a:ext cx="10972800" cy="5029200"/>
          </a:xfrm>
          <a:custGeom>
            <a:avLst/>
            <a:gdLst/>
            <a:ahLst/>
            <a:cxnLst/>
            <a:rect l="l" t="t" r="r" b="b"/>
            <a:pathLst>
              <a:path w="10972800" h="5029200">
                <a:moveTo>
                  <a:pt x="0" y="0"/>
                </a:moveTo>
                <a:lnTo>
                  <a:pt x="10972800" y="0"/>
                </a:lnTo>
                <a:moveTo>
                  <a:pt x="0" y="5029200"/>
                </a:moveTo>
                <a:lnTo>
                  <a:pt x="10972800" y="5029200"/>
                </a:lnTo>
                <a:moveTo>
                  <a:pt x="190500" y="0"/>
                </a:moveTo>
                <a:lnTo>
                  <a:pt x="190500" y="5029200"/>
                </a:lnTo>
                <a:moveTo>
                  <a:pt x="10782300" y="0"/>
                </a:moveTo>
                <a:lnTo>
                  <a:pt x="10782300" y="5029200"/>
                </a:lnTo>
              </a:path>
            </a:pathLst>
          </a:custGeom>
          <a:noFill/>
          <a:ln w="9525">
            <a:solidFill>
              <a:schemeClr val="accent6">
                <a:alpha val="32000"/>
              </a:schemeClr>
            </a:solidFill>
          </a:ln>
        </p:spPr>
      </p:sp>
      <p:grpSp>
        <p:nvGrpSpPr>
          <p:cNvPr id="6" name="page-title"/>
          <p:cNvGrpSpPr/>
          <p:nvPr/>
        </p:nvGrpSpPr>
        <p:grpSpPr>
          <a:xfrm>
            <a:off x="592074" y="387350"/>
            <a:ext cx="5608320" cy="1297051"/>
            <a:chOff x="592074" y="387350"/>
            <a:chExt cx="5608320" cy="1297051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87350"/>
              <a:ext cx="1330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13 / 预期成果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074" y="571500"/>
              <a:ext cx="560832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交付一套可运行、可评测、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2074" y="1009650"/>
              <a:ext cx="3750564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可复现的综述系统</a:t>
              </a:r>
            </a:p>
          </p:txBody>
        </p:sp>
      </p:grpSp>
      <p:grpSp>
        <p:nvGrpSpPr>
          <p:cNvPr id="17" name="outcome-system"/>
          <p:cNvGrpSpPr/>
          <p:nvPr/>
        </p:nvGrpSpPr>
        <p:grpSpPr>
          <a:xfrm>
            <a:off x="609600" y="1905000"/>
            <a:ext cx="4953000" cy="1714500"/>
            <a:chOff x="609600" y="1905000"/>
            <a:chExt cx="4953000" cy="1714500"/>
          </a:xfrm>
        </p:grpSpPr>
        <p:sp>
          <p:nvSpPr>
            <p:cNvPr id="7" name="Rectangle 7"/>
            <p:cNvSpPr/>
            <p:nvPr/>
          </p:nvSpPr>
          <p:spPr>
            <a:xfrm>
              <a:off x="609600" y="1905000"/>
              <a:ext cx="4953000" cy="17145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904875" y="2200275"/>
              <a:ext cx="266699" cy="266700"/>
              <a:chOff x="904875" y="2200275"/>
              <a:chExt cx="266699" cy="2667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904875" y="2200275"/>
                <a:ext cx="100012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33350">
                    <a:moveTo>
                      <a:pt x="16669" y="0"/>
                    </a:moveTo>
                    <a:lnTo>
                      <a:pt x="83344" y="0"/>
                    </a:lnTo>
                    <a:cubicBezTo>
                      <a:pt x="92550" y="0"/>
                      <a:pt x="100012" y="7463"/>
                      <a:pt x="100012" y="16669"/>
                    </a:cubicBezTo>
                    <a:lnTo>
                      <a:pt x="100012" y="116681"/>
                    </a:lnTo>
                    <a:cubicBezTo>
                      <a:pt x="100012" y="125887"/>
                      <a:pt x="92550" y="133350"/>
                      <a:pt x="83344" y="133350"/>
                    </a:cubicBezTo>
                    <a:lnTo>
                      <a:pt x="16669" y="133350"/>
                    </a:lnTo>
                    <a:cubicBezTo>
                      <a:pt x="7463" y="133350"/>
                      <a:pt x="0" y="125887"/>
                      <a:pt x="0" y="116681"/>
                    </a:cubicBez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</a:path>
                </a:pathLst>
              </a:custGeom>
              <a:noFill/>
              <a:ln w="33338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04875" y="2400300"/>
                <a:ext cx="100012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66675">
                    <a:moveTo>
                      <a:pt x="16669" y="0"/>
                    </a:moveTo>
                    <a:lnTo>
                      <a:pt x="83344" y="0"/>
                    </a:lnTo>
                    <a:cubicBezTo>
                      <a:pt x="92550" y="0"/>
                      <a:pt x="100012" y="7463"/>
                      <a:pt x="100012" y="16669"/>
                    </a:cubicBezTo>
                    <a:lnTo>
                      <a:pt x="100012" y="50006"/>
                    </a:lnTo>
                    <a:cubicBezTo>
                      <a:pt x="100012" y="59212"/>
                      <a:pt x="92550" y="66675"/>
                      <a:pt x="83344" y="66675"/>
                    </a:cubicBezTo>
                    <a:lnTo>
                      <a:pt x="16669" y="66675"/>
                    </a:lnTo>
                    <a:cubicBezTo>
                      <a:pt x="7463" y="66675"/>
                      <a:pt x="0" y="59212"/>
                      <a:pt x="0" y="50006"/>
                    </a:cubicBez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</a:path>
                </a:pathLst>
              </a:custGeom>
              <a:noFill/>
              <a:ln w="33338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71562" y="2333625"/>
                <a:ext cx="100012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33350">
                    <a:moveTo>
                      <a:pt x="16669" y="0"/>
                    </a:moveTo>
                    <a:lnTo>
                      <a:pt x="83344" y="0"/>
                    </a:lnTo>
                    <a:cubicBezTo>
                      <a:pt x="92550" y="0"/>
                      <a:pt x="100012" y="7463"/>
                      <a:pt x="100012" y="16669"/>
                    </a:cubicBezTo>
                    <a:lnTo>
                      <a:pt x="100012" y="116681"/>
                    </a:lnTo>
                    <a:cubicBezTo>
                      <a:pt x="100012" y="125887"/>
                      <a:pt x="92550" y="133350"/>
                      <a:pt x="83344" y="133350"/>
                    </a:cubicBezTo>
                    <a:lnTo>
                      <a:pt x="16669" y="133350"/>
                    </a:lnTo>
                    <a:cubicBezTo>
                      <a:pt x="7463" y="133350"/>
                      <a:pt x="0" y="125887"/>
                      <a:pt x="0" y="116681"/>
                    </a:cubicBez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</a:path>
                </a:pathLst>
              </a:custGeom>
              <a:noFill/>
              <a:ln w="33338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71562" y="2200275"/>
                <a:ext cx="100012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66675">
                    <a:moveTo>
                      <a:pt x="16669" y="0"/>
                    </a:moveTo>
                    <a:lnTo>
                      <a:pt x="83344" y="0"/>
                    </a:lnTo>
                    <a:cubicBezTo>
                      <a:pt x="92550" y="0"/>
                      <a:pt x="100012" y="7463"/>
                      <a:pt x="100012" y="16669"/>
                    </a:cubicBezTo>
                    <a:lnTo>
                      <a:pt x="100012" y="50006"/>
                    </a:lnTo>
                    <a:cubicBezTo>
                      <a:pt x="100012" y="59212"/>
                      <a:pt x="92550" y="66675"/>
                      <a:pt x="83344" y="66675"/>
                    </a:cubicBezTo>
                    <a:lnTo>
                      <a:pt x="16669" y="66675"/>
                    </a:lnTo>
                    <a:cubicBezTo>
                      <a:pt x="7463" y="66675"/>
                      <a:pt x="0" y="59212"/>
                      <a:pt x="0" y="50006"/>
                    </a:cubicBez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</a:path>
                </a:pathLst>
              </a:custGeom>
              <a:noFill/>
              <a:ln w="33338">
                <a:solidFill>
                  <a:schemeClr val="accent1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381506" y="220345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可运行的系统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1342" y="2711450"/>
              <a:ext cx="2262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Web 原型 · REST/SSE 接口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1342" y="2997200"/>
              <a:ext cx="21682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RAG 流水线 · Docker 部署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2866" y="3321050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从主题输入到报告导出完整闭环</a:t>
              </a:r>
            </a:p>
          </p:txBody>
        </p:sp>
      </p:grpSp>
      <p:grpSp>
        <p:nvGrpSpPr>
          <p:cNvPr id="29" name="outcome-eval"/>
          <p:cNvGrpSpPr/>
          <p:nvPr/>
        </p:nvGrpSpPr>
        <p:grpSpPr>
          <a:xfrm>
            <a:off x="5943600" y="1905000"/>
            <a:ext cx="5638800" cy="1714500"/>
            <a:chOff x="5943600" y="1905000"/>
            <a:chExt cx="5638800" cy="1714500"/>
          </a:xfrm>
        </p:grpSpPr>
        <p:sp>
          <p:nvSpPr>
            <p:cNvPr id="18" name="Rectangle 18"/>
            <p:cNvSpPr/>
            <p:nvPr/>
          </p:nvSpPr>
          <p:spPr>
            <a:xfrm>
              <a:off x="5943600" y="1905000"/>
              <a:ext cx="5638800" cy="17145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6255544" y="2183606"/>
              <a:ext cx="233362" cy="300038"/>
              <a:chOff x="6255544" y="2183606"/>
              <a:chExt cx="233362" cy="300038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6255544" y="2216944"/>
                <a:ext cx="233362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266700">
                    <a:moveTo>
                      <a:pt x="66675" y="0"/>
                    </a:moveTo>
                    <a:lnTo>
                      <a:pt x="33338" y="0"/>
                    </a:lnTo>
                    <a:cubicBezTo>
                      <a:pt x="14926" y="0"/>
                      <a:pt x="0" y="14926"/>
                      <a:pt x="0" y="33338"/>
                    </a:cubicBezTo>
                    <a:lnTo>
                      <a:pt x="0" y="233362"/>
                    </a:lnTo>
                    <a:cubicBezTo>
                      <a:pt x="0" y="251774"/>
                      <a:pt x="14926" y="266700"/>
                      <a:pt x="33338" y="266700"/>
                    </a:cubicBezTo>
                    <a:lnTo>
                      <a:pt x="200025" y="266700"/>
                    </a:lnTo>
                    <a:cubicBezTo>
                      <a:pt x="218437" y="266700"/>
                      <a:pt x="233362" y="251774"/>
                      <a:pt x="233362" y="233362"/>
                    </a:cubicBezTo>
                    <a:lnTo>
                      <a:pt x="233362" y="33338"/>
                    </a:lnTo>
                    <a:cubicBezTo>
                      <a:pt x="233362" y="14926"/>
                      <a:pt x="218437" y="0"/>
                      <a:pt x="200025" y="0"/>
                    </a:cubicBezTo>
                    <a:lnTo>
                      <a:pt x="166688" y="0"/>
                    </a:lnTo>
                  </a:path>
                </a:pathLst>
              </a:custGeom>
              <a:noFill/>
              <a:ln w="33338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322219" y="2183606"/>
                <a:ext cx="100012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66675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lnTo>
                      <a:pt x="66675" y="0"/>
                    </a:lnTo>
                    <a:cubicBezTo>
                      <a:pt x="85087" y="0"/>
                      <a:pt x="100012" y="14926"/>
                      <a:pt x="100012" y="33338"/>
                    </a:cubicBezTo>
                    <a:cubicBezTo>
                      <a:pt x="100012" y="51749"/>
                      <a:pt x="85087" y="66675"/>
                      <a:pt x="66675" y="66675"/>
                    </a:cubicBezTo>
                    <a:lnTo>
                      <a:pt x="33338" y="66675"/>
                    </a:lnTo>
                    <a:cubicBezTo>
                      <a:pt x="14926" y="66675"/>
                      <a:pt x="0" y="51749"/>
                      <a:pt x="0" y="33338"/>
                    </a:cubicBezTo>
                  </a:path>
                </a:pathLst>
              </a:custGeom>
              <a:noFill/>
              <a:ln w="33338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322219" y="2333625"/>
                <a:ext cx="9525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3344">
                    <a:moveTo>
                      <a:pt x="0" y="83344"/>
                    </a:moveTo>
                    <a:lnTo>
                      <a:pt x="0" y="0"/>
                    </a:lnTo>
                  </a:path>
                </a:pathLst>
              </a:custGeom>
              <a:noFill/>
              <a:ln w="33338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372225" y="2400300"/>
                <a:ext cx="9525" cy="1666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669">
                    <a:moveTo>
                      <a:pt x="0" y="16669"/>
                    </a:moveTo>
                    <a:lnTo>
                      <a:pt x="0" y="0"/>
                    </a:lnTo>
                  </a:path>
                </a:pathLst>
              </a:custGeom>
              <a:noFill/>
              <a:ln w="33338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422231" y="2366962"/>
                <a:ext cx="9525" cy="5000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006">
                    <a:moveTo>
                      <a:pt x="0" y="50006"/>
                    </a:moveTo>
                    <a:lnTo>
                      <a:pt x="0" y="0"/>
                    </a:lnTo>
                  </a:path>
                </a:pathLst>
              </a:custGeom>
              <a:noFill/>
              <a:ln w="33338">
                <a:solidFill>
                  <a:schemeClr val="accent1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6715506" y="220345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可评测的证据包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65342" y="271145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 个领域 · 9 个主题 · 关键点清单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65342" y="2997200"/>
              <a:ext cx="33395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引用核验样本 · 自动指标 · 人工评分脚本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166866" y="332105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四类基线与消融实验可复现</a:t>
              </a:r>
            </a:p>
          </p:txBody>
        </p:sp>
      </p:grpSp>
      <p:grpSp>
        <p:nvGrpSpPr>
          <p:cNvPr id="41" name="outcome-docs"/>
          <p:cNvGrpSpPr/>
          <p:nvPr/>
        </p:nvGrpSpPr>
        <p:grpSpPr>
          <a:xfrm>
            <a:off x="609600" y="3905250"/>
            <a:ext cx="4953000" cy="1714500"/>
            <a:chOff x="609600" y="3905250"/>
            <a:chExt cx="4953000" cy="1714500"/>
          </a:xfrm>
        </p:grpSpPr>
        <p:sp>
          <p:nvSpPr>
            <p:cNvPr id="30" name="Rectangle 30"/>
            <p:cNvSpPr/>
            <p:nvPr/>
          </p:nvSpPr>
          <p:spPr>
            <a:xfrm>
              <a:off x="609600" y="3905250"/>
              <a:ext cx="4953000" cy="17145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21544" y="4183856"/>
              <a:ext cx="233362" cy="300038"/>
              <a:chOff x="921544" y="4183856"/>
              <a:chExt cx="233362" cy="300038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1071562" y="4183856"/>
                <a:ext cx="83344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83344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75881"/>
                      <a:pt x="7463" y="83344"/>
                      <a:pt x="16669" y="83344"/>
                    </a:cubicBezTo>
                    <a:lnTo>
                      <a:pt x="83344" y="83344"/>
                    </a:lnTo>
                  </a:path>
                </a:pathLst>
              </a:custGeom>
              <a:noFill/>
              <a:ln w="33338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21544" y="4183856"/>
                <a:ext cx="233362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300038">
                    <a:moveTo>
                      <a:pt x="200025" y="300038"/>
                    </a:moveTo>
                    <a:lnTo>
                      <a:pt x="33338" y="300038"/>
                    </a:lnTo>
                    <a:cubicBezTo>
                      <a:pt x="14926" y="300038"/>
                      <a:pt x="0" y="285112"/>
                      <a:pt x="0" y="266700"/>
                    </a:cubicBezTo>
                    <a:lnTo>
                      <a:pt x="0" y="33338"/>
                    </a:lnTo>
                    <a:cubicBezTo>
                      <a:pt x="0" y="14926"/>
                      <a:pt x="14926" y="0"/>
                      <a:pt x="33338" y="0"/>
                    </a:cubicBezTo>
                    <a:lnTo>
                      <a:pt x="150019" y="0"/>
                    </a:lnTo>
                    <a:lnTo>
                      <a:pt x="233362" y="83344"/>
                    </a:lnTo>
                    <a:lnTo>
                      <a:pt x="233362" y="266700"/>
                    </a:lnTo>
                    <a:cubicBezTo>
                      <a:pt x="233362" y="285112"/>
                      <a:pt x="218437" y="300038"/>
                      <a:pt x="200025" y="300038"/>
                    </a:cubicBezTo>
                  </a:path>
                </a:pathLst>
              </a:custGeom>
              <a:noFill/>
              <a:ln w="33338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988219" y="4283869"/>
                <a:ext cx="166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669" h="9525">
                    <a:moveTo>
                      <a:pt x="0" y="0"/>
                    </a:moveTo>
                    <a:lnTo>
                      <a:pt x="16669" y="0"/>
                    </a:lnTo>
                  </a:path>
                </a:pathLst>
              </a:custGeom>
              <a:noFill/>
              <a:ln w="33338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88219" y="4350544"/>
                <a:ext cx="1000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525">
                    <a:moveTo>
                      <a:pt x="0" y="0"/>
                    </a:moveTo>
                    <a:lnTo>
                      <a:pt x="100012" y="0"/>
                    </a:lnTo>
                  </a:path>
                </a:pathLst>
              </a:custGeom>
              <a:noFill/>
              <a:ln w="33338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88219" y="4417219"/>
                <a:ext cx="1000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525">
                    <a:moveTo>
                      <a:pt x="0" y="0"/>
                    </a:moveTo>
                    <a:lnTo>
                      <a:pt x="100012" y="0"/>
                    </a:lnTo>
                  </a:path>
                </a:pathLst>
              </a:custGeom>
              <a:noFill/>
              <a:ln w="33338">
                <a:solidFill>
                  <a:schemeClr val="accent1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381506" y="420370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可交接的文档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1342" y="4711700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技术报告 · 接口文档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1342" y="4997450"/>
              <a:ext cx="2271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UML 源文件 · 复现实验说明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2866" y="5321300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报告中保留目标值、局限和失败案例</a:t>
              </a:r>
            </a:p>
          </p:txBody>
        </p:sp>
      </p:grpSp>
      <p:grpSp>
        <p:nvGrpSpPr>
          <p:cNvPr id="53" name="outcome-demo"/>
          <p:cNvGrpSpPr/>
          <p:nvPr/>
        </p:nvGrpSpPr>
        <p:grpSpPr>
          <a:xfrm>
            <a:off x="5943600" y="3905250"/>
            <a:ext cx="5638800" cy="1714500"/>
            <a:chOff x="5943600" y="3905250"/>
            <a:chExt cx="5638800" cy="1714500"/>
          </a:xfrm>
        </p:grpSpPr>
        <p:sp>
          <p:nvSpPr>
            <p:cNvPr id="42" name="Rectangle 42"/>
            <p:cNvSpPr/>
            <p:nvPr/>
          </p:nvSpPr>
          <p:spPr>
            <a:xfrm>
              <a:off x="5943600" y="3905250"/>
              <a:ext cx="5638800" cy="1714500"/>
            </a:xfrm>
            <a:prstGeom prst="roundRect">
              <a:avLst>
                <a:gd name="adj" fmla="val 6667"/>
              </a:avLst>
            </a:prstGeom>
            <a:solidFill>
              <a:srgbClr val="FFF3E3"/>
            </a:solidFill>
            <a:ln w="14288">
              <a:solidFill>
                <a:schemeClr val="accent2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209352" y="4177667"/>
              <a:ext cx="318982" cy="319009"/>
              <a:chOff x="6209352" y="4177667"/>
              <a:chExt cx="318982" cy="319009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355556" y="4317206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16669"/>
                    </a:moveTo>
                    <a:cubicBezTo>
                      <a:pt x="0" y="25875"/>
                      <a:pt x="7463" y="33338"/>
                      <a:pt x="16669" y="33338"/>
                    </a:cubicBezTo>
                    <a:cubicBezTo>
                      <a:pt x="25875" y="33338"/>
                      <a:pt x="33338" y="25875"/>
                      <a:pt x="33338" y="16669"/>
                    </a:cubicBezTo>
                    <a:cubicBezTo>
                      <a:pt x="33338" y="7463"/>
                      <a:pt x="25875" y="0"/>
                      <a:pt x="16669" y="0"/>
                    </a:cubicBezTo>
                    <a:cubicBezTo>
                      <a:pt x="7463" y="0"/>
                      <a:pt x="0" y="7463"/>
                      <a:pt x="0" y="16669"/>
                    </a:cubicBezTo>
                  </a:path>
                </a:pathLst>
              </a:custGeom>
              <a:noFill/>
              <a:ln w="33338">
                <a:solidFill>
                  <a:schemeClr val="accent2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288881" y="4250531"/>
                <a:ext cx="166688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66688">
                    <a:moveTo>
                      <a:pt x="83344" y="0"/>
                    </a:moveTo>
                    <a:cubicBezTo>
                      <a:pt x="37314" y="0"/>
                      <a:pt x="0" y="37314"/>
                      <a:pt x="0" y="83344"/>
                    </a:cubicBezTo>
                    <a:cubicBezTo>
                      <a:pt x="0" y="129373"/>
                      <a:pt x="37314" y="166688"/>
                      <a:pt x="83344" y="166688"/>
                    </a:cubicBezTo>
                    <a:cubicBezTo>
                      <a:pt x="129373" y="166688"/>
                      <a:pt x="166688" y="129373"/>
                      <a:pt x="166688" y="83344"/>
                    </a:cubicBezTo>
                  </a:path>
                </a:pathLst>
              </a:custGeom>
              <a:noFill/>
              <a:ln w="33338">
                <a:solidFill>
                  <a:schemeClr val="accent2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209352" y="4177667"/>
                <a:ext cx="318982" cy="319009"/>
              </a:xfrm>
              <a:custGeom>
                <a:avLst/>
                <a:gdLst/>
                <a:ahLst/>
                <a:cxnLst/>
                <a:rect l="l" t="t" r="r" b="b"/>
                <a:pathLst>
                  <a:path w="318982" h="319009">
                    <a:moveTo>
                      <a:pt x="179541" y="7106"/>
                    </a:moveTo>
                    <a:cubicBezTo>
                      <a:pt x="116205" y="0"/>
                      <a:pt x="55293" y="33689"/>
                      <a:pt x="27646" y="91114"/>
                    </a:cubicBezTo>
                    <a:cubicBezTo>
                      <a:pt x="0" y="148539"/>
                      <a:pt x="11655" y="217164"/>
                      <a:pt x="56710" y="262242"/>
                    </a:cubicBezTo>
                    <a:cubicBezTo>
                      <a:pt x="101765" y="307319"/>
                      <a:pt x="170384" y="319009"/>
                      <a:pt x="227823" y="291391"/>
                    </a:cubicBezTo>
                    <a:cubicBezTo>
                      <a:pt x="285262" y="263774"/>
                      <a:pt x="318982" y="202879"/>
                      <a:pt x="311908" y="139539"/>
                    </a:cubicBezTo>
                  </a:path>
                </a:pathLst>
              </a:custGeom>
              <a:noFill/>
              <a:ln w="33338">
                <a:solidFill>
                  <a:schemeClr val="accent2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422231" y="4183856"/>
                <a:ext cx="10001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00012">
                    <a:moveTo>
                      <a:pt x="0" y="50006"/>
                    </a:moveTo>
                    <a:lnTo>
                      <a:pt x="0" y="100012"/>
                    </a:lnTo>
                    <a:lnTo>
                      <a:pt x="50006" y="100012"/>
                    </a:lnTo>
                    <a:lnTo>
                      <a:pt x="100012" y="50006"/>
                    </a:lnTo>
                    <a:lnTo>
                      <a:pt x="50006" y="50006"/>
                    </a:lnTo>
                    <a:lnTo>
                      <a:pt x="50006" y="0"/>
                    </a:lnTo>
                    <a:lnTo>
                      <a:pt x="0" y="50006"/>
                    </a:lnTo>
                  </a:path>
                </a:pathLst>
              </a:custGeom>
              <a:noFill/>
              <a:ln w="33338">
                <a:solidFill>
                  <a:schemeClr val="accent2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372225" y="4283869"/>
                <a:ext cx="50006" cy="50006"/>
              </a:xfrm>
              <a:custGeom>
                <a:avLst/>
                <a:gdLst/>
                <a:ahLst/>
                <a:cxnLst/>
                <a:rect l="l" t="t" r="r" b="b"/>
                <a:pathLst>
                  <a:path w="50006" h="50006">
                    <a:moveTo>
                      <a:pt x="50006" y="0"/>
                    </a:moveTo>
                    <a:lnTo>
                      <a:pt x="0" y="50006"/>
                    </a:lnTo>
                  </a:path>
                </a:pathLst>
              </a:custGeom>
              <a:noFill/>
              <a:ln w="33338">
                <a:solidFill>
                  <a:schemeClr val="accent2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715506" y="420370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可判断的结果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165342" y="4711700"/>
              <a:ext cx="22327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端到端演示视频 · 答辩 PPT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165342" y="499745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成功案例与失败案例并列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166866" y="532130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不选择性展示；报告实测偏差</a:t>
              </a:r>
            </a:p>
          </p:txBody>
        </p:sp>
      </p:grpSp>
      <p:grpSp>
        <p:nvGrpSpPr>
          <p:cNvPr id="55" name="targets"/>
          <p:cNvGrpSpPr/>
          <p:nvPr/>
        </p:nvGrpSpPr>
        <p:grpSpPr>
          <a:xfrm>
            <a:off x="600456" y="5822950"/>
            <a:ext cx="9688514" cy="352044"/>
            <a:chOff x="600456" y="5822950"/>
            <a:chExt cx="9688514" cy="352044"/>
          </a:xfrm>
        </p:grpSpPr>
        <p:sp>
          <p:nvSpPr>
            <p:cNvPr id="54" name="TextBox 54"/>
            <p:cNvSpPr txBox="1"/>
            <p:nvPr/>
          </p:nvSpPr>
          <p:spPr>
            <a:xfrm>
              <a:off x="600456" y="5822950"/>
              <a:ext cx="96885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目标：证据绑定 100% · 引用精度 ≥85% · 覆盖 ≥80% · 专家评分 ≥4.0/5（以实测为准）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604266" y="6502400"/>
            <a:ext cx="10164318" cy="205359"/>
            <a:chOff x="604266" y="6502400"/>
            <a:chExt cx="10164318" cy="205359"/>
          </a:xfrm>
        </p:grpSpPr>
        <p:sp>
          <p:nvSpPr>
            <p:cNvPr id="56" name="TextBox 56"/>
            <p:cNvSpPr txBox="1"/>
            <p:nvPr/>
          </p:nvSpPr>
          <p:spPr>
            <a:xfrm>
              <a:off x="604266" y="6502400"/>
              <a:ext cx="3000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预期成果 · 系统、证据包、文档与可判断的结果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175443" y="6502400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P13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609600" y="1371600"/>
            <a:ext cx="10972800" cy="5029200"/>
          </a:xfrm>
          <a:custGeom>
            <a:avLst/>
            <a:gdLst/>
            <a:ahLst/>
            <a:cxnLst/>
            <a:rect l="l" t="t" r="r" b="b"/>
            <a:pathLst>
              <a:path w="10972800" h="5029200">
                <a:moveTo>
                  <a:pt x="0" y="0"/>
                </a:moveTo>
                <a:lnTo>
                  <a:pt x="10972800" y="0"/>
                </a:lnTo>
                <a:moveTo>
                  <a:pt x="0" y="5029200"/>
                </a:moveTo>
                <a:lnTo>
                  <a:pt x="10972800" y="5029200"/>
                </a:lnTo>
                <a:moveTo>
                  <a:pt x="190500" y="0"/>
                </a:moveTo>
                <a:lnTo>
                  <a:pt x="190500" y="5029200"/>
                </a:lnTo>
                <a:moveTo>
                  <a:pt x="10782300" y="0"/>
                </a:moveTo>
                <a:lnTo>
                  <a:pt x="10782300" y="5029200"/>
                </a:lnTo>
              </a:path>
            </a:pathLst>
          </a:custGeom>
          <a:noFill/>
          <a:ln w="9525">
            <a:solidFill>
              <a:schemeClr val="accent6">
                <a:alpha val="32000"/>
              </a:schemeClr>
            </a:solidFill>
          </a:ln>
        </p:spPr>
      </p:sp>
      <p:grpSp>
        <p:nvGrpSpPr>
          <p:cNvPr id="6" name="page-title"/>
          <p:cNvGrpSpPr/>
          <p:nvPr/>
        </p:nvGrpSpPr>
        <p:grpSpPr>
          <a:xfrm>
            <a:off x="592074" y="387350"/>
            <a:ext cx="4215003" cy="1297051"/>
            <a:chOff x="592074" y="387350"/>
            <a:chExt cx="4215003" cy="1297051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87350"/>
              <a:ext cx="9265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14 / 结论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074" y="571500"/>
              <a:ext cx="421500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让每一次综述结论，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2074" y="1009650"/>
              <a:ext cx="3750564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都能回到原文证据</a:t>
              </a:r>
            </a:p>
          </p:txBody>
        </p:sp>
      </p:grpSp>
      <p:grpSp>
        <p:nvGrpSpPr>
          <p:cNvPr id="16" name="conclusion-statement"/>
          <p:cNvGrpSpPr/>
          <p:nvPr/>
        </p:nvGrpSpPr>
        <p:grpSpPr>
          <a:xfrm>
            <a:off x="609600" y="2089150"/>
            <a:ext cx="6667500" cy="2863850"/>
            <a:chOff x="609600" y="2089150"/>
            <a:chExt cx="6667500" cy="2863850"/>
          </a:xfrm>
        </p:grpSpPr>
        <p:sp>
          <p:nvSpPr>
            <p:cNvPr id="7" name="Rectangle 7"/>
            <p:cNvSpPr/>
            <p:nvPr/>
          </p:nvSpPr>
          <p:spPr>
            <a:xfrm>
              <a:off x="609600" y="2095500"/>
              <a:ext cx="6667500" cy="28575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5350" y="2089150"/>
              <a:ext cx="41126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36370" y="2578100"/>
              <a:ext cx="456628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可信科研辅助，不是替代研究者，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36370" y="2978150"/>
              <a:ext cx="486918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而是把证据链变成可检查的工作流。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1447800" y="3619500"/>
              <a:ext cx="5257800" cy="9525"/>
            </a:xfrm>
            <a:custGeom>
              <a:avLst/>
              <a:gdLst/>
              <a:ahLst/>
              <a:cxnLst/>
              <a:rect l="l" t="t" r="r" b="b"/>
              <a:pathLst>
                <a:path w="5257800" h="9525">
                  <a:moveTo>
                    <a:pt x="0" y="0"/>
                  </a:moveTo>
                  <a:lnTo>
                    <a:pt x="5257800" y="0"/>
                  </a:lnTo>
                </a:path>
              </a:pathLst>
            </a:custGeom>
            <a:solidFill>
              <a:schemeClr val="dk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40942" y="383540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从任务分解、混合检索、结构化融合，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40942" y="4083050"/>
              <a:ext cx="34485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到 claim–evidence–locator 的引用校验。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447800" y="4495800"/>
              <a:ext cx="4762500" cy="228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025083" y="4530725"/>
              <a:ext cx="16079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7F9F6"/>
                  </a:solidFill>
                  <a:latin typeface="+mn-lt"/>
                  <a:ea typeface="+mn-ea"/>
                  <a:cs typeface="+mn-cs"/>
                </a:rPr>
                <a:t>可交互 · 可追溯 · 可复现</a:t>
              </a:r>
            </a:p>
          </p:txBody>
        </p:sp>
      </p:grpSp>
      <p:grpSp>
        <p:nvGrpSpPr>
          <p:cNvPr id="31" name="pillars"/>
          <p:cNvGrpSpPr/>
          <p:nvPr/>
        </p:nvGrpSpPr>
        <p:grpSpPr>
          <a:xfrm>
            <a:off x="7620000" y="2095500"/>
            <a:ext cx="3962400" cy="2857500"/>
            <a:chOff x="7620000" y="2095500"/>
            <a:chExt cx="3962400" cy="2857500"/>
          </a:xfrm>
        </p:grpSpPr>
        <p:sp>
          <p:nvSpPr>
            <p:cNvPr id="17" name="Rectangle 17"/>
            <p:cNvSpPr/>
            <p:nvPr/>
          </p:nvSpPr>
          <p:spPr>
            <a:xfrm>
              <a:off x="7620000" y="2095500"/>
              <a:ext cx="3962400" cy="2857500"/>
            </a:xfrm>
            <a:prstGeom prst="roundRect">
              <a:avLst>
                <a:gd name="adj" fmla="val 400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917942" y="2273300"/>
              <a:ext cx="19657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THREE TAKEAWAYS</a:t>
              </a:r>
            </a:p>
          </p:txBody>
        </p:sp>
        <p:grpSp>
          <p:nvGrpSpPr>
            <p:cNvPr id="22" name="pillar-1"/>
            <p:cNvGrpSpPr/>
            <p:nvPr/>
          </p:nvGrpSpPr>
          <p:grpSpPr>
            <a:xfrm>
              <a:off x="7915656" y="2647950"/>
              <a:ext cx="2854833" cy="575183"/>
              <a:chOff x="7915656" y="2647950"/>
              <a:chExt cx="2854833" cy="575183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7915656" y="2647950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391906" y="266065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任务图管理复杂度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394192" y="2959100"/>
                <a:ext cx="23762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用契约与检查点控制多智能体</a:t>
                </a:r>
              </a:p>
            </p:txBody>
          </p:sp>
        </p:grpSp>
        <p:grpSp>
          <p:nvGrpSpPr>
            <p:cNvPr id="26" name="pillar-2"/>
            <p:cNvGrpSpPr/>
            <p:nvPr/>
          </p:nvGrpSpPr>
          <p:grpSpPr>
            <a:xfrm>
              <a:off x="7915656" y="3390900"/>
              <a:ext cx="2969636" cy="575183"/>
              <a:chOff x="7915656" y="3390900"/>
              <a:chExt cx="2969636" cy="575183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915656" y="3390900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391906" y="3403600"/>
                <a:ext cx="207706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混合 RAG 管理证据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394192" y="3702050"/>
                <a:ext cx="249110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每条结论有 evidenceId 与定位</a:t>
                </a:r>
              </a:p>
            </p:txBody>
          </p:sp>
        </p:grpSp>
        <p:grpSp>
          <p:nvGrpSpPr>
            <p:cNvPr id="30" name="pillar-3"/>
            <p:cNvGrpSpPr/>
            <p:nvPr/>
          </p:nvGrpSpPr>
          <p:grpSpPr>
            <a:xfrm>
              <a:off x="7915656" y="4133850"/>
              <a:ext cx="3036570" cy="575183"/>
              <a:chOff x="7915656" y="4133850"/>
              <a:chExt cx="3036570" cy="575183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915656" y="4133850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391906" y="414655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三领域验证可行性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394192" y="4445000"/>
                <a:ext cx="255803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引用、覆盖、时延和成本一起测</a:t>
                </a:r>
              </a:p>
            </p:txBody>
          </p:sp>
        </p:grpSp>
      </p:grpSp>
      <p:grpSp>
        <p:nvGrpSpPr>
          <p:cNvPr id="35" name="ask"/>
          <p:cNvGrpSpPr/>
          <p:nvPr/>
        </p:nvGrpSpPr>
        <p:grpSpPr>
          <a:xfrm>
            <a:off x="609600" y="5334000"/>
            <a:ext cx="10972800" cy="666750"/>
            <a:chOff x="609600" y="5334000"/>
            <a:chExt cx="10972800" cy="666750"/>
          </a:xfrm>
        </p:grpSpPr>
        <p:sp>
          <p:nvSpPr>
            <p:cNvPr id="32" name="Rectangle 32"/>
            <p:cNvSpPr/>
            <p:nvPr/>
          </p:nvSpPr>
          <p:spPr>
            <a:xfrm>
              <a:off x="609600" y="5334000"/>
              <a:ext cx="10972800" cy="666750"/>
            </a:xfrm>
            <a:prstGeom prst="roundRect">
              <a:avLst>
                <a:gd name="adj" fmla="val 11429"/>
              </a:avLst>
            </a:prstGeom>
            <a:solidFill>
              <a:srgbClr val="FFF3E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29056" y="5403850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请评审指正研究边界、评测设计与实施风险。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2866" y="5740400"/>
              <a:ext cx="40642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下一步：完成需求冻结 → 搭建 RAG 基线 → 迭代多智能体任务图。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604266" y="6502400"/>
            <a:ext cx="10164318" cy="205359"/>
            <a:chOff x="604266" y="6502400"/>
            <a:chExt cx="10164318" cy="205359"/>
          </a:xfrm>
        </p:grpSpPr>
        <p:sp>
          <p:nvSpPr>
            <p:cNvPr id="36" name="TextBox 36"/>
            <p:cNvSpPr txBox="1"/>
            <p:nvPr/>
          </p:nvSpPr>
          <p:spPr>
            <a:xfrm>
              <a:off x="604266" y="6502400"/>
              <a:ext cx="1445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结论 · 让结论回到证据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175443" y="6502400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P14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609600" y="1371600"/>
            <a:ext cx="10972800" cy="5029200"/>
          </a:xfrm>
          <a:custGeom>
            <a:avLst/>
            <a:gdLst/>
            <a:ahLst/>
            <a:cxnLst/>
            <a:rect l="l" t="t" r="r" b="b"/>
            <a:pathLst>
              <a:path w="10972800" h="5029200">
                <a:moveTo>
                  <a:pt x="0" y="0"/>
                </a:moveTo>
                <a:lnTo>
                  <a:pt x="10972800" y="0"/>
                </a:lnTo>
                <a:moveTo>
                  <a:pt x="0" y="5029200"/>
                </a:moveTo>
                <a:lnTo>
                  <a:pt x="10972800" y="5029200"/>
                </a:lnTo>
                <a:moveTo>
                  <a:pt x="190500" y="0"/>
                </a:moveTo>
                <a:lnTo>
                  <a:pt x="190500" y="5029200"/>
                </a:lnTo>
                <a:moveTo>
                  <a:pt x="10782300" y="0"/>
                </a:moveTo>
                <a:lnTo>
                  <a:pt x="10782300" y="5029200"/>
                </a:lnTo>
              </a:path>
            </a:pathLst>
          </a:custGeom>
          <a:noFill/>
          <a:ln w="9525">
            <a:solidFill>
              <a:schemeClr val="accent6">
                <a:alpha val="32000"/>
              </a:schemeClr>
            </a:solidFill>
          </a:ln>
        </p:spPr>
      </p:sp>
      <p:grpSp>
        <p:nvGrpSpPr>
          <p:cNvPr id="6" name="page-title"/>
          <p:cNvGrpSpPr/>
          <p:nvPr/>
        </p:nvGrpSpPr>
        <p:grpSpPr>
          <a:xfrm>
            <a:off x="592074" y="387350"/>
            <a:ext cx="5608320" cy="1297051"/>
            <a:chOff x="592074" y="387350"/>
            <a:chExt cx="5608320" cy="1297051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87350"/>
              <a:ext cx="18781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15 / UML 用例视图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074" y="571500"/>
              <a:ext cx="253618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UML 用例：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2074" y="1009650"/>
              <a:ext cx="560832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研究者的主流程与系统边界</a:t>
              </a:r>
            </a:p>
          </p:txBody>
        </p:sp>
      </p:grpSp>
      <p:grpSp>
        <p:nvGrpSpPr>
          <p:cNvPr id="55" name="use-case-diagram"/>
          <p:cNvGrpSpPr/>
          <p:nvPr/>
        </p:nvGrpSpPr>
        <p:grpSpPr>
          <a:xfrm>
            <a:off x="609600" y="1676400"/>
            <a:ext cx="10972800" cy="4191000"/>
            <a:chOff x="609600" y="1676400"/>
            <a:chExt cx="10972800" cy="4191000"/>
          </a:xfrm>
        </p:grpSpPr>
        <p:sp>
          <p:nvSpPr>
            <p:cNvPr id="7" name="Rectangle 7"/>
            <p:cNvSpPr/>
            <p:nvPr/>
          </p:nvSpPr>
          <p:spPr>
            <a:xfrm>
              <a:off x="609600" y="1676400"/>
              <a:ext cx="10972800" cy="4191000"/>
            </a:xfrm>
            <a:prstGeom prst="roundRect">
              <a:avLst>
                <a:gd name="adj" fmla="val 272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2476500" y="2057400"/>
              <a:ext cx="7429500" cy="3143250"/>
            </a:xfrm>
            <a:prstGeom prst="roundRect">
              <a:avLst>
                <a:gd name="adj" fmla="val 3030"/>
              </a:avLst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660142" y="213995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科研文献智能综述系统</a:t>
              </a:r>
            </a:p>
          </p:txBody>
        </p:sp>
        <p:grpSp>
          <p:nvGrpSpPr>
            <p:cNvPr id="16" name="actor-researcher"/>
            <p:cNvGrpSpPr/>
            <p:nvPr/>
          </p:nvGrpSpPr>
          <p:grpSpPr>
            <a:xfrm>
              <a:off x="914400" y="2552700"/>
              <a:ext cx="609600" cy="1680083"/>
              <a:chOff x="914400" y="2552700"/>
              <a:chExt cx="609600" cy="1680083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1047750" y="2552700"/>
                <a:ext cx="342900" cy="342900"/>
              </a:xfrm>
              <a:prstGeom prst="ellipse">
                <a:avLst/>
              </a:pr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1219200" y="2895600"/>
                <a:ext cx="9525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95300">
                    <a:moveTo>
                      <a:pt x="0" y="0"/>
                    </a:moveTo>
                    <a:lnTo>
                      <a:pt x="0" y="4953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914400" y="3105150"/>
                <a:ext cx="609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9600" h="9525">
                    <a:moveTo>
                      <a:pt x="0" y="0"/>
                    </a:moveTo>
                    <a:lnTo>
                      <a:pt x="6096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952500" y="3390900"/>
                <a:ext cx="2667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419100">
                    <a:moveTo>
                      <a:pt x="266700" y="0"/>
                    </a:moveTo>
                    <a:lnTo>
                      <a:pt x="0" y="4191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1219200" y="3390900"/>
                <a:ext cx="2667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419100">
                    <a:moveTo>
                      <a:pt x="0" y="0"/>
                    </a:moveTo>
                    <a:lnTo>
                      <a:pt x="266700" y="4191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939736" y="3968750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研究者</a:t>
                </a:r>
              </a:p>
            </p:txBody>
          </p:sp>
        </p:grpSp>
        <p:grpSp>
          <p:nvGrpSpPr>
            <p:cNvPr id="23" name="actor-admin"/>
            <p:cNvGrpSpPr/>
            <p:nvPr/>
          </p:nvGrpSpPr>
          <p:grpSpPr>
            <a:xfrm>
              <a:off x="10668000" y="2552700"/>
              <a:ext cx="609600" cy="1680083"/>
              <a:chOff x="10668000" y="2552700"/>
              <a:chExt cx="609600" cy="1680083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10801350" y="2552700"/>
                <a:ext cx="342900" cy="342900"/>
              </a:xfrm>
              <a:prstGeom prst="ellipse">
                <a:avLst/>
              </a:pr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10972800" y="2895600"/>
                <a:ext cx="9525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95300">
                    <a:moveTo>
                      <a:pt x="0" y="0"/>
                    </a:moveTo>
                    <a:lnTo>
                      <a:pt x="0" y="4953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10668000" y="3105150"/>
                <a:ext cx="609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9600" h="9525">
                    <a:moveTo>
                      <a:pt x="0" y="0"/>
                    </a:moveTo>
                    <a:lnTo>
                      <a:pt x="6096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10706100" y="3390900"/>
                <a:ext cx="2667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419100">
                    <a:moveTo>
                      <a:pt x="266700" y="0"/>
                    </a:moveTo>
                    <a:lnTo>
                      <a:pt x="0" y="4191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10972800" y="3390900"/>
                <a:ext cx="2667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419100">
                    <a:moveTo>
                      <a:pt x="0" y="0"/>
                    </a:moveTo>
                    <a:lnTo>
                      <a:pt x="266700" y="4191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0693336" y="3968750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管理员</a:t>
                </a:r>
              </a:p>
            </p:txBody>
          </p:sp>
        </p:grpSp>
        <p:grpSp>
          <p:nvGrpSpPr>
            <p:cNvPr id="26" name="uc-01"/>
            <p:cNvGrpSpPr/>
            <p:nvPr/>
          </p:nvGrpSpPr>
          <p:grpSpPr>
            <a:xfrm>
              <a:off x="3048000" y="2476500"/>
              <a:ext cx="1714500" cy="533400"/>
              <a:chOff x="3048000" y="2476500"/>
              <a:chExt cx="1714500" cy="533400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3048000" y="2476500"/>
                <a:ext cx="1714500" cy="533400"/>
              </a:xfrm>
              <a:prstGeom prst="ellipse">
                <a:avLst/>
              </a:prstGeom>
              <a:solidFill>
                <a:schemeClr val="lt2"/>
              </a:solidFill>
              <a:ln w="11430">
                <a:solidFill>
                  <a:schemeClr val="accent1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3262312" y="2635250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提交主题与约束</a:t>
                </a:r>
              </a:p>
            </p:txBody>
          </p:sp>
        </p:grpSp>
        <p:grpSp>
          <p:nvGrpSpPr>
            <p:cNvPr id="29" name="uc-02"/>
            <p:cNvGrpSpPr/>
            <p:nvPr/>
          </p:nvGrpSpPr>
          <p:grpSpPr>
            <a:xfrm>
              <a:off x="3048000" y="3238500"/>
              <a:ext cx="1714500" cy="533400"/>
              <a:chOff x="3048000" y="3238500"/>
              <a:chExt cx="1714500" cy="533400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3048000" y="3238500"/>
                <a:ext cx="1714500" cy="533400"/>
              </a:xfrm>
              <a:prstGeom prst="ellipse">
                <a:avLst/>
              </a:prstGeom>
              <a:solidFill>
                <a:schemeClr val="lt2"/>
              </a:solidFill>
              <a:ln w="11430">
                <a:solidFill>
                  <a:schemeClr val="accent1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3262312" y="3397250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生成结构化综述</a:t>
                </a:r>
              </a:p>
            </p:txBody>
          </p:sp>
        </p:grpSp>
        <p:grpSp>
          <p:nvGrpSpPr>
            <p:cNvPr id="32" name="uc-03"/>
            <p:cNvGrpSpPr/>
            <p:nvPr/>
          </p:nvGrpSpPr>
          <p:grpSpPr>
            <a:xfrm>
              <a:off x="3048000" y="4000500"/>
              <a:ext cx="1714500" cy="533400"/>
              <a:chOff x="3048000" y="4000500"/>
              <a:chExt cx="1714500" cy="533400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3048000" y="4000500"/>
                <a:ext cx="1714500" cy="533400"/>
              </a:xfrm>
              <a:prstGeom prst="ellipse">
                <a:avLst/>
              </a:prstGeom>
              <a:solidFill>
                <a:schemeClr val="lt2"/>
              </a:solidFill>
              <a:ln w="11430">
                <a:solidFill>
                  <a:schemeClr val="accent1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3262312" y="4159250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查看证据与导出</a:t>
                </a:r>
              </a:p>
            </p:txBody>
          </p:sp>
        </p:grpSp>
        <p:grpSp>
          <p:nvGrpSpPr>
            <p:cNvPr id="35" name="uc-04"/>
            <p:cNvGrpSpPr/>
            <p:nvPr/>
          </p:nvGrpSpPr>
          <p:grpSpPr>
            <a:xfrm>
              <a:off x="7524750" y="2476500"/>
              <a:ext cx="1714500" cy="533400"/>
              <a:chOff x="7524750" y="2476500"/>
              <a:chExt cx="1714500" cy="533400"/>
            </a:xfrm>
          </p:grpSpPr>
          <p:sp>
            <p:nvSpPr>
              <p:cNvPr id="33" name="Ellipse 33"/>
              <p:cNvSpPr/>
              <p:nvPr/>
            </p:nvSpPr>
            <p:spPr>
              <a:xfrm>
                <a:off x="7524750" y="2476500"/>
                <a:ext cx="1714500" cy="533400"/>
              </a:xfrm>
              <a:prstGeom prst="ellipse">
                <a:avLst/>
              </a:prstGeom>
              <a:solidFill>
                <a:schemeClr val="lt2"/>
              </a:solidFill>
              <a:ln w="11430">
                <a:solidFill>
                  <a:schemeClr val="accent1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648194" y="2635250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配置数据源与模型</a:t>
                </a:r>
              </a:p>
            </p:txBody>
          </p:sp>
        </p:grpSp>
        <p:grpSp>
          <p:nvGrpSpPr>
            <p:cNvPr id="38" name="uc-05"/>
            <p:cNvGrpSpPr/>
            <p:nvPr/>
          </p:nvGrpSpPr>
          <p:grpSpPr>
            <a:xfrm>
              <a:off x="7524750" y="3238500"/>
              <a:ext cx="1714500" cy="533400"/>
              <a:chOff x="7524750" y="3238500"/>
              <a:chExt cx="1714500" cy="533400"/>
            </a:xfrm>
          </p:grpSpPr>
          <p:sp>
            <p:nvSpPr>
              <p:cNvPr id="36" name="Ellipse 36"/>
              <p:cNvSpPr/>
              <p:nvPr/>
            </p:nvSpPr>
            <p:spPr>
              <a:xfrm>
                <a:off x="7524750" y="3238500"/>
                <a:ext cx="1714500" cy="533400"/>
              </a:xfrm>
              <a:prstGeom prst="ellipse">
                <a:avLst/>
              </a:prstGeom>
              <a:solidFill>
                <a:schemeClr val="lt2"/>
              </a:solidFill>
              <a:ln w="11430">
                <a:solidFill>
                  <a:schemeClr val="accent1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7739062" y="3397250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监控任务与重试</a:t>
                </a:r>
              </a:p>
            </p:txBody>
          </p:sp>
        </p:grpSp>
        <p:grpSp>
          <p:nvGrpSpPr>
            <p:cNvPr id="41" name="uc-06"/>
            <p:cNvGrpSpPr/>
            <p:nvPr/>
          </p:nvGrpSpPr>
          <p:grpSpPr>
            <a:xfrm>
              <a:off x="5143500" y="2590800"/>
              <a:ext cx="1905000" cy="533400"/>
              <a:chOff x="5143500" y="2590800"/>
              <a:chExt cx="1905000" cy="533400"/>
            </a:xfrm>
          </p:grpSpPr>
          <p:sp>
            <p:nvSpPr>
              <p:cNvPr id="39" name="Ellipse 39"/>
              <p:cNvSpPr/>
              <p:nvPr/>
            </p:nvSpPr>
            <p:spPr>
              <a:xfrm>
                <a:off x="5143500" y="2590800"/>
                <a:ext cx="1905000" cy="533400"/>
              </a:xfrm>
              <a:prstGeom prst="ellipse">
                <a:avLst/>
              </a:prstGeom>
              <a:solidFill>
                <a:srgbClr val="FFF3E3"/>
              </a:solidFill>
              <a:ln w="11430">
                <a:solidFill>
                  <a:schemeClr val="accent2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5362194" y="2749550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检索并规范化文献</a:t>
                </a:r>
              </a:p>
            </p:txBody>
          </p:sp>
        </p:grpSp>
        <p:grpSp>
          <p:nvGrpSpPr>
            <p:cNvPr id="44" name="uc-07"/>
            <p:cNvGrpSpPr/>
            <p:nvPr/>
          </p:nvGrpSpPr>
          <p:grpSpPr>
            <a:xfrm>
              <a:off x="5143500" y="3829050"/>
              <a:ext cx="1905000" cy="533400"/>
              <a:chOff x="5143500" y="3829050"/>
              <a:chExt cx="1905000" cy="533400"/>
            </a:xfrm>
          </p:grpSpPr>
          <p:sp>
            <p:nvSpPr>
              <p:cNvPr id="42" name="Ellipse 42"/>
              <p:cNvSpPr/>
              <p:nvPr/>
            </p:nvSpPr>
            <p:spPr>
              <a:xfrm>
                <a:off x="5143500" y="3829050"/>
                <a:ext cx="1905000" cy="533400"/>
              </a:xfrm>
              <a:prstGeom prst="ellipse">
                <a:avLst/>
              </a:prstGeom>
              <a:solidFill>
                <a:srgbClr val="FFF3E3"/>
              </a:solidFill>
              <a:ln w="11430">
                <a:solidFill>
                  <a:schemeClr val="accent2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5453062" y="3987800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校验声明与引用</a:t>
                </a:r>
              </a:p>
            </p:txBody>
          </p:sp>
        </p:grpSp>
        <p:sp>
          <p:nvSpPr>
            <p:cNvPr id="45" name="Line 45"/>
            <p:cNvSpPr/>
            <p:nvPr/>
          </p:nvSpPr>
          <p:spPr>
            <a:xfrm>
              <a:off x="1390650" y="2743200"/>
              <a:ext cx="1657350" cy="361950"/>
            </a:xfrm>
            <a:custGeom>
              <a:avLst/>
              <a:gdLst/>
              <a:ahLst/>
              <a:cxnLst/>
              <a:rect l="l" t="t" r="r" b="b"/>
              <a:pathLst>
                <a:path w="1657350" h="361950">
                  <a:moveTo>
                    <a:pt x="0" y="361950"/>
                  </a:moveTo>
                  <a:lnTo>
                    <a:pt x="165735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1390650" y="3238500"/>
              <a:ext cx="1657350" cy="266700"/>
            </a:xfrm>
            <a:custGeom>
              <a:avLst/>
              <a:gdLst/>
              <a:ahLst/>
              <a:cxnLst/>
              <a:rect l="l" t="t" r="r" b="b"/>
              <a:pathLst>
                <a:path w="1657350" h="266700">
                  <a:moveTo>
                    <a:pt x="0" y="0"/>
                  </a:moveTo>
                  <a:lnTo>
                    <a:pt x="1657350" y="26670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1390650" y="3371850"/>
              <a:ext cx="1657350" cy="895350"/>
            </a:xfrm>
            <a:custGeom>
              <a:avLst/>
              <a:gdLst/>
              <a:ahLst/>
              <a:cxnLst/>
              <a:rect l="l" t="t" r="r" b="b"/>
              <a:pathLst>
                <a:path w="1657350" h="895350">
                  <a:moveTo>
                    <a:pt x="0" y="0"/>
                  </a:moveTo>
                  <a:lnTo>
                    <a:pt x="1657350" y="89535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9239250" y="2743200"/>
              <a:ext cx="1562100" cy="361950"/>
            </a:xfrm>
            <a:custGeom>
              <a:avLst/>
              <a:gdLst/>
              <a:ahLst/>
              <a:cxnLst/>
              <a:rect l="l" t="t" r="r" b="b"/>
              <a:pathLst>
                <a:path w="1562100" h="361950">
                  <a:moveTo>
                    <a:pt x="1562100" y="36195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9239250" y="3238500"/>
              <a:ext cx="1562100" cy="266700"/>
            </a:xfrm>
            <a:custGeom>
              <a:avLst/>
              <a:gdLst/>
              <a:ahLst/>
              <a:cxnLst/>
              <a:rect l="l" t="t" r="r" b="b"/>
              <a:pathLst>
                <a:path w="1562100" h="266700">
                  <a:moveTo>
                    <a:pt x="1562100" y="0"/>
                  </a:moveTo>
                  <a:lnTo>
                    <a:pt x="0" y="26670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50" name="Line 50"/>
            <p:cNvSpPr/>
            <p:nvPr/>
          </p:nvSpPr>
          <p:spPr>
            <a:xfrm flipV="1">
              <a:off x="4762500" y="2971800"/>
              <a:ext cx="381000" cy="533400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custDash>
                <a:ds d="400000" sp="266667"/>
              </a:custDash>
              <a:tailEnd type="triangle" w="lg" len="lg"/>
            </a:ln>
          </p:spPr>
        </p:sp>
        <p:sp>
          <p:nvSpPr>
            <p:cNvPr id="51" name="Line 51"/>
            <p:cNvSpPr/>
            <p:nvPr/>
          </p:nvSpPr>
          <p:spPr>
            <a:xfrm>
              <a:off x="4762500" y="3505200"/>
              <a:ext cx="381000" cy="514350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custDash>
                <a:ds d="400000" sp="266667"/>
              </a:custDash>
              <a:tailEnd type="triangle" w="lg" len="lg"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909566" y="3054350"/>
              <a:ext cx="639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«include»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909566" y="3816350"/>
              <a:ext cx="639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«include»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660142" y="4845050"/>
              <a:ext cx="51801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外部数据源：arXiv / PubMed · 研究者与管理员均为外部参与者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604266" y="6502400"/>
            <a:ext cx="10164318" cy="205359"/>
            <a:chOff x="604266" y="6502400"/>
            <a:chExt cx="10164318" cy="205359"/>
          </a:xfrm>
        </p:grpSpPr>
        <p:sp>
          <p:nvSpPr>
            <p:cNvPr id="56" name="TextBox 56"/>
            <p:cNvSpPr txBox="1"/>
            <p:nvPr/>
          </p:nvSpPr>
          <p:spPr>
            <a:xfrm>
              <a:off x="604266" y="6502400"/>
              <a:ext cx="31729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UML 用例附录 · 参与者、系统边界与 include 关系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175443" y="6502400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P15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609600" y="1371600"/>
            <a:ext cx="10972800" cy="5029200"/>
          </a:xfrm>
          <a:custGeom>
            <a:avLst/>
            <a:gdLst/>
            <a:ahLst/>
            <a:cxnLst/>
            <a:rect l="l" t="t" r="r" b="b"/>
            <a:pathLst>
              <a:path w="10972800" h="5029200">
                <a:moveTo>
                  <a:pt x="0" y="0"/>
                </a:moveTo>
                <a:lnTo>
                  <a:pt x="10972800" y="0"/>
                </a:lnTo>
                <a:moveTo>
                  <a:pt x="0" y="5029200"/>
                </a:moveTo>
                <a:lnTo>
                  <a:pt x="10972800" y="5029200"/>
                </a:lnTo>
                <a:moveTo>
                  <a:pt x="190500" y="0"/>
                </a:moveTo>
                <a:lnTo>
                  <a:pt x="190500" y="5029200"/>
                </a:lnTo>
                <a:moveTo>
                  <a:pt x="10782300" y="0"/>
                </a:moveTo>
                <a:lnTo>
                  <a:pt x="10782300" y="5029200"/>
                </a:lnTo>
              </a:path>
            </a:pathLst>
          </a:custGeom>
          <a:noFill/>
          <a:ln w="9525">
            <a:solidFill>
              <a:schemeClr val="accent6">
                <a:alpha val="32000"/>
              </a:schemeClr>
            </a:solidFill>
          </a:ln>
        </p:spPr>
      </p:sp>
      <p:grpSp>
        <p:nvGrpSpPr>
          <p:cNvPr id="6" name="page-title"/>
          <p:cNvGrpSpPr/>
          <p:nvPr/>
        </p:nvGrpSpPr>
        <p:grpSpPr>
          <a:xfrm>
            <a:off x="592074" y="387350"/>
            <a:ext cx="5143881" cy="1297051"/>
            <a:chOff x="592074" y="387350"/>
            <a:chExt cx="5143881" cy="1297051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87350"/>
              <a:ext cx="14742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16 / UML 类图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074" y="571500"/>
              <a:ext cx="253618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UML 类图：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2074" y="1009650"/>
              <a:ext cx="5143881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证据、声明与引用的关系</a:t>
              </a:r>
            </a:p>
          </p:txBody>
        </p:sp>
      </p:grpSp>
      <p:grpSp>
        <p:nvGrpSpPr>
          <p:cNvPr id="68" name="class-diagram"/>
          <p:cNvGrpSpPr/>
          <p:nvPr/>
        </p:nvGrpSpPr>
        <p:grpSpPr>
          <a:xfrm>
            <a:off x="609600" y="1676400"/>
            <a:ext cx="10972800" cy="4191000"/>
            <a:chOff x="609600" y="1676400"/>
            <a:chExt cx="10972800" cy="4191000"/>
          </a:xfrm>
        </p:grpSpPr>
        <p:sp>
          <p:nvSpPr>
            <p:cNvPr id="7" name="Rectangle 7"/>
            <p:cNvSpPr/>
            <p:nvPr/>
          </p:nvSpPr>
          <p:spPr>
            <a:xfrm>
              <a:off x="609600" y="1676400"/>
              <a:ext cx="10972800" cy="4191000"/>
            </a:xfrm>
            <a:prstGeom prst="roundRect">
              <a:avLst>
                <a:gd name="adj" fmla="val 272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7542" y="1835150"/>
              <a:ext cx="34113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DOMAIN MODEL / MULTIPLICITY</a:t>
              </a:r>
            </a:p>
          </p:txBody>
        </p:sp>
        <p:grpSp>
          <p:nvGrpSpPr>
            <p:cNvPr id="16" name="class-paper"/>
            <p:cNvGrpSpPr/>
            <p:nvPr/>
          </p:nvGrpSpPr>
          <p:grpSpPr>
            <a:xfrm>
              <a:off x="914400" y="2266950"/>
              <a:ext cx="1905000" cy="1409700"/>
              <a:chOff x="914400" y="2266950"/>
              <a:chExt cx="1905000" cy="14097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914400" y="2266950"/>
                <a:ext cx="1905000" cy="1409700"/>
              </a:xfrm>
              <a:prstGeom prst="roundRect">
                <a:avLst>
                  <a:gd name="adj" fmla="val 4054"/>
                </a:avLst>
              </a:prstGeom>
              <a:solidFill>
                <a:schemeClr val="lt1"/>
              </a:solidFill>
              <a:ln w="13335">
                <a:solidFill>
                  <a:schemeClr val="accent1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914400" y="2266950"/>
                <a:ext cx="1905000" cy="361950"/>
              </a:xfrm>
              <a:prstGeom prst="roundRect">
                <a:avLst>
                  <a:gd name="adj" fmla="val 15789"/>
                </a:avLst>
              </a:prstGeom>
              <a:solidFill>
                <a:schemeClr val="lt2"/>
              </a:solidFill>
              <a:ln w="13335">
                <a:solidFill>
                  <a:schemeClr val="accent1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594689" y="2349500"/>
                <a:ext cx="5444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Paper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80516" y="2768600"/>
                <a:ext cx="93859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paperId: UUID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80516" y="2978150"/>
                <a:ext cx="8844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title: String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80516" y="3187700"/>
                <a:ext cx="7645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doi: String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80516" y="3397250"/>
                <a:ext cx="95548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year: Integer</a:t>
                </a:r>
              </a:p>
            </p:txBody>
          </p:sp>
        </p:grpSp>
        <p:grpSp>
          <p:nvGrpSpPr>
            <p:cNvPr id="24" name="class-evidence"/>
            <p:cNvGrpSpPr/>
            <p:nvPr/>
          </p:nvGrpSpPr>
          <p:grpSpPr>
            <a:xfrm>
              <a:off x="3238500" y="2266950"/>
              <a:ext cx="2095500" cy="1409700"/>
              <a:chOff x="3238500" y="2266950"/>
              <a:chExt cx="2095500" cy="14097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3238500" y="2266950"/>
                <a:ext cx="2095500" cy="1409700"/>
              </a:xfrm>
              <a:prstGeom prst="roundRect">
                <a:avLst>
                  <a:gd name="adj" fmla="val 4054"/>
                </a:avLst>
              </a:prstGeom>
              <a:solidFill>
                <a:schemeClr val="lt1"/>
              </a:solidFill>
              <a:ln w="13335">
                <a:solidFill>
                  <a:schemeClr val="accent1"/>
                </a:solidFill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3238500" y="2266950"/>
                <a:ext cx="2095500" cy="361950"/>
              </a:xfrm>
              <a:prstGeom prst="roundRect">
                <a:avLst>
                  <a:gd name="adj" fmla="val 15789"/>
                </a:avLst>
              </a:prstGeom>
              <a:solidFill>
                <a:schemeClr val="lt2"/>
              </a:solidFill>
              <a:ln w="13335">
                <a:solidFill>
                  <a:schemeClr val="accent1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3880631" y="2349500"/>
                <a:ext cx="8112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Evidence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404616" y="2768600"/>
                <a:ext cx="113549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evidenceId: UUID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404616" y="2978150"/>
                <a:ext cx="95548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quote: String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404616" y="3187700"/>
                <a:ext cx="107541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locator: String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404616" y="3397250"/>
                <a:ext cx="12308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confidence: Float</a:t>
                </a:r>
              </a:p>
            </p:txBody>
          </p:sp>
        </p:grpSp>
        <p:grpSp>
          <p:nvGrpSpPr>
            <p:cNvPr id="32" name="class-claim"/>
            <p:cNvGrpSpPr/>
            <p:nvPr/>
          </p:nvGrpSpPr>
          <p:grpSpPr>
            <a:xfrm>
              <a:off x="5905500" y="2266950"/>
              <a:ext cx="2095500" cy="1409700"/>
              <a:chOff x="5905500" y="2266950"/>
              <a:chExt cx="2095500" cy="14097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5905500" y="2266950"/>
                <a:ext cx="2095500" cy="1409700"/>
              </a:xfrm>
              <a:prstGeom prst="roundRect">
                <a:avLst>
                  <a:gd name="adj" fmla="val 4054"/>
                </a:avLst>
              </a:prstGeom>
              <a:solidFill>
                <a:schemeClr val="lt1"/>
              </a:solidFill>
              <a:ln w="13335">
                <a:solidFill>
                  <a:schemeClr val="accent1"/>
                </a:solidFill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5905500" y="2266950"/>
                <a:ext cx="2095500" cy="361950"/>
              </a:xfrm>
              <a:prstGeom prst="roundRect">
                <a:avLst>
                  <a:gd name="adj" fmla="val 15789"/>
                </a:avLst>
              </a:prstGeom>
              <a:solidFill>
                <a:schemeClr val="lt2"/>
              </a:solidFill>
              <a:ln w="13335">
                <a:solidFill>
                  <a:schemeClr val="accent1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709986" y="2349500"/>
                <a:ext cx="4865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Claim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071616" y="2768600"/>
                <a:ext cx="89509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claimId: UUID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071616" y="2978150"/>
                <a:ext cx="87779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text: String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071616" y="3187700"/>
                <a:ext cx="107541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section: String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071616" y="3397250"/>
                <a:ext cx="142647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supportScore: Float</a:t>
                </a:r>
              </a:p>
            </p:txBody>
          </p:sp>
        </p:grpSp>
        <p:grpSp>
          <p:nvGrpSpPr>
            <p:cNvPr id="40" name="class-citation"/>
            <p:cNvGrpSpPr/>
            <p:nvPr/>
          </p:nvGrpSpPr>
          <p:grpSpPr>
            <a:xfrm>
              <a:off x="8667750" y="2266950"/>
              <a:ext cx="2381250" cy="1409700"/>
              <a:chOff x="8667750" y="2266950"/>
              <a:chExt cx="2381250" cy="140970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8667750" y="2266950"/>
                <a:ext cx="2381250" cy="1409700"/>
              </a:xfrm>
              <a:prstGeom prst="roundRect">
                <a:avLst>
                  <a:gd name="adj" fmla="val 4054"/>
                </a:avLst>
              </a:prstGeom>
              <a:solidFill>
                <a:srgbClr val="FFF3E3"/>
              </a:solidFill>
              <a:ln w="13335">
                <a:solidFill>
                  <a:schemeClr val="accent2"/>
                </a:solidFill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8667750" y="2266950"/>
                <a:ext cx="2381250" cy="361950"/>
              </a:xfrm>
              <a:prstGeom prst="roundRect">
                <a:avLst>
                  <a:gd name="adj" fmla="val 15789"/>
                </a:avLst>
              </a:prstGeom>
              <a:solidFill>
                <a:srgbClr val="FFF3E3"/>
              </a:solidFill>
              <a:ln w="13335">
                <a:solidFill>
                  <a:schemeClr val="accent2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9476778" y="2349500"/>
                <a:ext cx="76319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Citation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833866" y="2768600"/>
                <a:ext cx="10994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citationId: UUID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833866" y="2978150"/>
                <a:ext cx="115774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styleKey: String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833866" y="3187700"/>
                <a:ext cx="107541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locator: String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833866" y="3397250"/>
                <a:ext cx="113549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evidenceId: UUID</a:t>
                </a:r>
              </a:p>
            </p:txBody>
          </p:sp>
        </p:grpSp>
        <p:sp>
          <p:nvSpPr>
            <p:cNvPr id="41" name="Line 41"/>
            <p:cNvSpPr/>
            <p:nvPr/>
          </p:nvSpPr>
          <p:spPr>
            <a:xfrm>
              <a:off x="2819400" y="297180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3335">
              <a:solidFill>
                <a:schemeClr val="accent1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909316" y="273050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 *-- 1..*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5334000" y="29718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3335">
              <a:solidFill>
                <a:schemeClr val="accent1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347716" y="2730500"/>
              <a:ext cx="8729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0..* -- 0..*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8001000" y="29718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3335">
              <a:solidFill>
                <a:schemeClr val="accent1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033766" y="2730500"/>
              <a:ext cx="639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1 -- 1..*</a:t>
              </a:r>
            </a:p>
          </p:txBody>
        </p:sp>
        <p:grpSp>
          <p:nvGrpSpPr>
            <p:cNvPr id="53" name="class-project"/>
            <p:cNvGrpSpPr/>
            <p:nvPr/>
          </p:nvGrpSpPr>
          <p:grpSpPr>
            <a:xfrm>
              <a:off x="914400" y="4210050"/>
              <a:ext cx="2095500" cy="1126109"/>
              <a:chOff x="914400" y="4210050"/>
              <a:chExt cx="2095500" cy="1126109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914400" y="4210050"/>
                <a:ext cx="2095500" cy="1104900"/>
              </a:xfrm>
              <a:prstGeom prst="roundRect">
                <a:avLst>
                  <a:gd name="adj" fmla="val 5172"/>
                </a:avLst>
              </a:prstGeom>
              <a:solidFill>
                <a:schemeClr val="lt1"/>
              </a:solidFill>
              <a:ln w="13335">
                <a:solidFill>
                  <a:schemeClr val="accent1"/>
                </a:solidFill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914400" y="4210050"/>
                <a:ext cx="2095500" cy="361950"/>
              </a:xfrm>
              <a:prstGeom prst="roundRect">
                <a:avLst>
                  <a:gd name="adj" fmla="val 15789"/>
                </a:avLst>
              </a:prstGeom>
              <a:solidFill>
                <a:schemeClr val="lt2"/>
              </a:solidFill>
              <a:ln w="13335">
                <a:solidFill>
                  <a:schemeClr val="accent1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296029" y="4292600"/>
                <a:ext cx="133224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ReviewProject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080516" y="4711700"/>
                <a:ext cx="105777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projectId: UUID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1080516" y="4921250"/>
                <a:ext cx="9199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topic: String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1080516" y="5130800"/>
                <a:ext cx="158190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status: ProjectStatus</a:t>
                </a:r>
              </a:p>
            </p:txBody>
          </p:sp>
        </p:grpSp>
        <p:grpSp>
          <p:nvGrpSpPr>
            <p:cNvPr id="60" name="class-draft"/>
            <p:cNvGrpSpPr/>
            <p:nvPr/>
          </p:nvGrpSpPr>
          <p:grpSpPr>
            <a:xfrm>
              <a:off x="3905250" y="4210050"/>
              <a:ext cx="2286000" cy="1126109"/>
              <a:chOff x="3905250" y="4210050"/>
              <a:chExt cx="2286000" cy="1126109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3905250" y="4210050"/>
                <a:ext cx="2286000" cy="1104900"/>
              </a:xfrm>
              <a:prstGeom prst="roundRect">
                <a:avLst>
                  <a:gd name="adj" fmla="val 5172"/>
                </a:avLst>
              </a:prstGeom>
              <a:solidFill>
                <a:schemeClr val="lt1"/>
              </a:solidFill>
              <a:ln w="13335">
                <a:solidFill>
                  <a:schemeClr val="accent1"/>
                </a:solidFill>
              </a:ln>
            </p:spPr>
          </p:sp>
          <p:sp>
            <p:nvSpPr>
              <p:cNvPr id="55" name="Rectangle 55"/>
              <p:cNvSpPr/>
              <p:nvPr/>
            </p:nvSpPr>
            <p:spPr>
              <a:xfrm>
                <a:off x="3905250" y="4210050"/>
                <a:ext cx="2286000" cy="361950"/>
              </a:xfrm>
              <a:prstGeom prst="roundRect">
                <a:avLst>
                  <a:gd name="adj" fmla="val 15789"/>
                </a:avLst>
              </a:prstGeom>
              <a:solidFill>
                <a:schemeClr val="lt2"/>
              </a:solidFill>
              <a:ln w="13335">
                <a:solidFill>
                  <a:schemeClr val="accent1"/>
                </a:solidFill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4463029" y="4292600"/>
                <a:ext cx="117044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ReviewDraft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4071366" y="4711700"/>
                <a:ext cx="93859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draftId: UUID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4071366" y="4921250"/>
                <a:ext cx="115314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version: Integer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4071366" y="5130800"/>
                <a:ext cx="146204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status: DraftStatus</a:t>
                </a:r>
              </a:p>
            </p:txBody>
          </p:sp>
        </p:grpSp>
        <p:sp>
          <p:nvSpPr>
            <p:cNvPr id="61" name="Line 61"/>
            <p:cNvSpPr/>
            <p:nvPr/>
          </p:nvSpPr>
          <p:spPr>
            <a:xfrm>
              <a:off x="3009900" y="4762500"/>
              <a:ext cx="895350" cy="9525"/>
            </a:xfrm>
            <a:custGeom>
              <a:avLst/>
              <a:gdLst/>
              <a:ahLst/>
              <a:cxnLst/>
              <a:rect l="l" t="t" r="r" b="b"/>
              <a:pathLst>
                <a:path w="895350" h="9525">
                  <a:moveTo>
                    <a:pt x="0" y="0"/>
                  </a:moveTo>
                  <a:lnTo>
                    <a:pt x="895350" y="0"/>
                  </a:lnTo>
                </a:path>
              </a:pathLst>
            </a:custGeom>
            <a:noFill/>
            <a:ln w="13335">
              <a:solidFill>
                <a:schemeClr val="accent1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004566" y="452120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 *-- 0..*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5048250" y="3676650"/>
              <a:ext cx="1905000" cy="533400"/>
            </a:xfrm>
            <a:custGeom>
              <a:avLst/>
              <a:gdLst/>
              <a:ahLst/>
              <a:cxnLst/>
              <a:rect l="l" t="t" r="r" b="b"/>
              <a:pathLst>
                <a:path w="1905000" h="533400">
                  <a:moveTo>
                    <a:pt x="0" y="533400"/>
                  </a:moveTo>
                  <a:lnTo>
                    <a:pt x="0" y="228600"/>
                  </a:lnTo>
                  <a:lnTo>
                    <a:pt x="1905000" y="228600"/>
                  </a:lnTo>
                  <a:lnTo>
                    <a:pt x="1905000" y="0"/>
                  </a:lnTo>
                </a:path>
              </a:pathLst>
            </a:custGeom>
            <a:noFill/>
            <a:ln w="13335">
              <a:solidFill>
                <a:schemeClr val="accent1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081016" y="375920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 *-- 1..*</a:t>
              </a:r>
            </a:p>
          </p:txBody>
        </p:sp>
        <p:sp>
          <p:nvSpPr>
            <p:cNvPr id="65" name="Freeform 65"/>
            <p:cNvSpPr/>
            <p:nvPr/>
          </p:nvSpPr>
          <p:spPr>
            <a:xfrm>
              <a:off x="5048250" y="3676650"/>
              <a:ext cx="4810125" cy="228600"/>
            </a:xfrm>
            <a:custGeom>
              <a:avLst/>
              <a:gdLst/>
              <a:ahLst/>
              <a:cxnLst/>
              <a:rect l="l" t="t" r="r" b="b"/>
              <a:pathLst>
                <a:path w="4810125" h="228600">
                  <a:moveTo>
                    <a:pt x="4810125" y="0"/>
                  </a:moveTo>
                  <a:lnTo>
                    <a:pt x="4810125" y="228600"/>
                  </a:lnTo>
                  <a:lnTo>
                    <a:pt x="0" y="228600"/>
                  </a:lnTo>
                  <a:lnTo>
                    <a:pt x="0" y="0"/>
                  </a:lnTo>
                </a:path>
              </a:pathLst>
            </a:cu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090916" y="3968750"/>
              <a:ext cx="1320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Citation → Evidence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07542" y="549275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类图把可追溯性落实到对象、字段与多重性。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604266" y="6502400"/>
            <a:ext cx="10164318" cy="205359"/>
            <a:chOff x="604266" y="6502400"/>
            <a:chExt cx="10164318" cy="205359"/>
          </a:xfrm>
        </p:grpSpPr>
        <p:sp>
          <p:nvSpPr>
            <p:cNvPr id="69" name="TextBox 69"/>
            <p:cNvSpPr txBox="1"/>
            <p:nvPr/>
          </p:nvSpPr>
          <p:spPr>
            <a:xfrm>
              <a:off x="604266" y="6502400"/>
              <a:ext cx="27139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UML 类图附录 · Evidence–Claim–Citation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175443" y="6502400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P16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609600" y="1371600"/>
            <a:ext cx="10972800" cy="5029200"/>
          </a:xfrm>
          <a:custGeom>
            <a:avLst/>
            <a:gdLst/>
            <a:ahLst/>
            <a:cxnLst/>
            <a:rect l="l" t="t" r="r" b="b"/>
            <a:pathLst>
              <a:path w="10972800" h="5029200">
                <a:moveTo>
                  <a:pt x="0" y="0"/>
                </a:moveTo>
                <a:lnTo>
                  <a:pt x="10972800" y="0"/>
                </a:lnTo>
                <a:moveTo>
                  <a:pt x="0" y="5029200"/>
                </a:moveTo>
                <a:lnTo>
                  <a:pt x="10972800" y="5029200"/>
                </a:lnTo>
                <a:moveTo>
                  <a:pt x="190500" y="0"/>
                </a:moveTo>
                <a:lnTo>
                  <a:pt x="190500" y="5029200"/>
                </a:lnTo>
                <a:moveTo>
                  <a:pt x="10782300" y="0"/>
                </a:moveTo>
                <a:lnTo>
                  <a:pt x="10782300" y="5029200"/>
                </a:lnTo>
              </a:path>
            </a:pathLst>
          </a:custGeom>
          <a:noFill/>
          <a:ln w="9525">
            <a:solidFill>
              <a:schemeClr val="accent6">
                <a:alpha val="32000"/>
              </a:schemeClr>
            </a:solidFill>
          </a:ln>
        </p:spPr>
      </p:sp>
      <p:grpSp>
        <p:nvGrpSpPr>
          <p:cNvPr id="6" name="page-title"/>
          <p:cNvGrpSpPr/>
          <p:nvPr/>
        </p:nvGrpSpPr>
        <p:grpSpPr>
          <a:xfrm>
            <a:off x="592074" y="387350"/>
            <a:ext cx="4679442" cy="1297051"/>
            <a:chOff x="592074" y="387350"/>
            <a:chExt cx="4679442" cy="1297051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87350"/>
              <a:ext cx="16762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17 / UML 顺序图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074" y="571500"/>
              <a:ext cx="300062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UML 顺序图：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2074" y="1009650"/>
              <a:ext cx="4679442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从主题输入到引用校验</a:t>
              </a:r>
            </a:p>
          </p:txBody>
        </p:sp>
      </p:grpSp>
      <p:grpSp>
        <p:nvGrpSpPr>
          <p:cNvPr id="47" name="sequence-diagram"/>
          <p:cNvGrpSpPr/>
          <p:nvPr/>
        </p:nvGrpSpPr>
        <p:grpSpPr>
          <a:xfrm>
            <a:off x="609600" y="1676400"/>
            <a:ext cx="10972800" cy="4191000"/>
            <a:chOff x="609600" y="1676400"/>
            <a:chExt cx="10972800" cy="4191000"/>
          </a:xfrm>
        </p:grpSpPr>
        <p:sp>
          <p:nvSpPr>
            <p:cNvPr id="7" name="Rectangle 7"/>
            <p:cNvSpPr/>
            <p:nvPr/>
          </p:nvSpPr>
          <p:spPr>
            <a:xfrm>
              <a:off x="609600" y="1676400"/>
              <a:ext cx="10972800" cy="4191000"/>
            </a:xfrm>
            <a:prstGeom prst="roundRect">
              <a:avLst>
                <a:gd name="adj" fmla="val 272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7542" y="1835150"/>
              <a:ext cx="32892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SEQUENCE / MAIN FLOW + ALT</a:t>
              </a:r>
            </a:p>
          </p:txBody>
        </p:sp>
        <p:grpSp>
          <p:nvGrpSpPr>
            <p:cNvPr id="11" name="participant-researcher"/>
            <p:cNvGrpSpPr/>
            <p:nvPr/>
          </p:nvGrpSpPr>
          <p:grpSpPr>
            <a:xfrm>
              <a:off x="800100" y="2190750"/>
              <a:ext cx="1619250" cy="495300"/>
              <a:chOff x="800100" y="2190750"/>
              <a:chExt cx="1619250" cy="4953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800100" y="2190750"/>
                <a:ext cx="1619250" cy="495300"/>
              </a:xfrm>
              <a:prstGeom prst="roundRect">
                <a:avLst>
                  <a:gd name="adj" fmla="val 11538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330262" y="2330450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7F9F6"/>
                    </a:solidFill>
                    <a:latin typeface="+mn-lt"/>
                    <a:ea typeface="+mn-ea"/>
                    <a:cs typeface="+mn-cs"/>
                  </a:rPr>
                  <a:t>研究者</a:t>
                </a:r>
              </a:p>
            </p:txBody>
          </p:sp>
        </p:grpSp>
        <p:grpSp>
          <p:nvGrpSpPr>
            <p:cNvPr id="14" name="participant-ui"/>
            <p:cNvGrpSpPr/>
            <p:nvPr/>
          </p:nvGrpSpPr>
          <p:grpSpPr>
            <a:xfrm>
              <a:off x="2571750" y="2190750"/>
              <a:ext cx="1619250" cy="495300"/>
              <a:chOff x="2571750" y="2190750"/>
              <a:chExt cx="1619250" cy="4953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2571750" y="2190750"/>
                <a:ext cx="1619250" cy="495300"/>
              </a:xfrm>
              <a:prstGeom prst="roundRect">
                <a:avLst>
                  <a:gd name="adj" fmla="val 11538"/>
                </a:avLst>
              </a:prstGeom>
              <a:solidFill>
                <a:schemeClr val="lt1"/>
              </a:solidFill>
              <a:ln w="13335">
                <a:solidFill>
                  <a:schemeClr val="accent1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078560" y="2330450"/>
                <a:ext cx="60563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Web UI</a:t>
                </a:r>
              </a:p>
            </p:txBody>
          </p:sp>
        </p:grpSp>
        <p:grpSp>
          <p:nvGrpSpPr>
            <p:cNvPr id="17" name="participant-orchestrator"/>
            <p:cNvGrpSpPr/>
            <p:nvPr/>
          </p:nvGrpSpPr>
          <p:grpSpPr>
            <a:xfrm>
              <a:off x="4343400" y="2190750"/>
              <a:ext cx="1619250" cy="495300"/>
              <a:chOff x="4343400" y="2190750"/>
              <a:chExt cx="1619250" cy="4953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4343400" y="2190750"/>
                <a:ext cx="1619250" cy="495300"/>
              </a:xfrm>
              <a:prstGeom prst="roundRect">
                <a:avLst>
                  <a:gd name="adj" fmla="val 11538"/>
                </a:avLst>
              </a:prstGeom>
              <a:solidFill>
                <a:schemeClr val="lt1"/>
              </a:solidFill>
              <a:ln w="13335">
                <a:solidFill>
                  <a:schemeClr val="accent1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873562" y="2330450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编排器</a:t>
                </a:r>
              </a:p>
            </p:txBody>
          </p:sp>
        </p:grpSp>
        <p:grpSp>
          <p:nvGrpSpPr>
            <p:cNvPr id="20" name="participant-rag"/>
            <p:cNvGrpSpPr/>
            <p:nvPr/>
          </p:nvGrpSpPr>
          <p:grpSpPr>
            <a:xfrm>
              <a:off x="6115050" y="2190750"/>
              <a:ext cx="1619250" cy="495300"/>
              <a:chOff x="6115050" y="2190750"/>
              <a:chExt cx="1619250" cy="4953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6115050" y="2190750"/>
                <a:ext cx="1619250" cy="495300"/>
              </a:xfrm>
              <a:prstGeom prst="roundRect">
                <a:avLst>
                  <a:gd name="adj" fmla="val 11538"/>
                </a:avLst>
              </a:prstGeom>
              <a:solidFill>
                <a:schemeClr val="lt1"/>
              </a:solidFill>
              <a:ln w="13335">
                <a:solidFill>
                  <a:schemeClr val="accent1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453805" y="2330450"/>
                <a:ext cx="94174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检索 / RAG</a:t>
                </a:r>
              </a:p>
            </p:txBody>
          </p:sp>
        </p:grpSp>
        <p:grpSp>
          <p:nvGrpSpPr>
            <p:cNvPr id="23" name="participant-writer"/>
            <p:cNvGrpSpPr/>
            <p:nvPr/>
          </p:nvGrpSpPr>
          <p:grpSpPr>
            <a:xfrm>
              <a:off x="7886700" y="2190750"/>
              <a:ext cx="1619250" cy="495300"/>
              <a:chOff x="7886700" y="2190750"/>
              <a:chExt cx="1619250" cy="4953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7886700" y="2190750"/>
                <a:ext cx="1619250" cy="495300"/>
              </a:xfrm>
              <a:prstGeom prst="roundRect">
                <a:avLst>
                  <a:gd name="adj" fmla="val 11538"/>
                </a:avLst>
              </a:prstGeom>
              <a:solidFill>
                <a:schemeClr val="lt1"/>
              </a:solidFill>
              <a:ln w="13335">
                <a:solidFill>
                  <a:schemeClr val="accent1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507730" y="2330450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撰写</a:t>
                </a:r>
              </a:p>
            </p:txBody>
          </p:sp>
        </p:grpSp>
        <p:grpSp>
          <p:nvGrpSpPr>
            <p:cNvPr id="26" name="participant-verifier"/>
            <p:cNvGrpSpPr/>
            <p:nvPr/>
          </p:nvGrpSpPr>
          <p:grpSpPr>
            <a:xfrm>
              <a:off x="9658350" y="2190750"/>
              <a:ext cx="1619250" cy="495300"/>
              <a:chOff x="9658350" y="2190750"/>
              <a:chExt cx="1619250" cy="4953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9658350" y="2190750"/>
                <a:ext cx="1619250" cy="495300"/>
              </a:xfrm>
              <a:prstGeom prst="roundRect">
                <a:avLst>
                  <a:gd name="adj" fmla="val 11538"/>
                </a:avLst>
              </a:prstGeom>
              <a:solidFill>
                <a:srgbClr val="FFF3E3"/>
              </a:solidFill>
              <a:ln w="13335">
                <a:solidFill>
                  <a:schemeClr val="accent2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0097643" y="233045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8B4A16"/>
                    </a:solidFill>
                    <a:latin typeface="+mn-lt"/>
                    <a:ea typeface="+mn-ea"/>
                    <a:cs typeface="+mn-cs"/>
                  </a:rPr>
                  <a:t>引用校验</a:t>
                </a:r>
              </a:p>
            </p:txBody>
          </p:sp>
        </p:grpSp>
        <p:sp>
          <p:nvSpPr>
            <p:cNvPr id="27" name="Freeform 27"/>
            <p:cNvSpPr/>
            <p:nvPr/>
          </p:nvSpPr>
          <p:spPr>
            <a:xfrm>
              <a:off x="1609725" y="2686050"/>
              <a:ext cx="8858250" cy="3028950"/>
            </a:xfrm>
            <a:custGeom>
              <a:avLst/>
              <a:gdLst/>
              <a:ahLst/>
              <a:cxnLst/>
              <a:rect l="l" t="t" r="r" b="b"/>
              <a:pathLst>
                <a:path w="8858250" h="3028950">
                  <a:moveTo>
                    <a:pt x="0" y="0"/>
                  </a:moveTo>
                  <a:lnTo>
                    <a:pt x="0" y="3028950"/>
                  </a:lnTo>
                  <a:moveTo>
                    <a:pt x="1771650" y="0"/>
                  </a:moveTo>
                  <a:lnTo>
                    <a:pt x="1771650" y="3028950"/>
                  </a:lnTo>
                  <a:moveTo>
                    <a:pt x="3543300" y="0"/>
                  </a:moveTo>
                  <a:lnTo>
                    <a:pt x="3543300" y="3028950"/>
                  </a:lnTo>
                  <a:moveTo>
                    <a:pt x="5314950" y="0"/>
                  </a:moveTo>
                  <a:lnTo>
                    <a:pt x="5314950" y="3028950"/>
                  </a:lnTo>
                  <a:moveTo>
                    <a:pt x="7086600" y="0"/>
                  </a:moveTo>
                  <a:lnTo>
                    <a:pt x="7086600" y="3028950"/>
                  </a:lnTo>
                  <a:moveTo>
                    <a:pt x="8858250" y="0"/>
                  </a:moveTo>
                  <a:lnTo>
                    <a:pt x="8858250" y="3028950"/>
                  </a:lnTo>
                </a:path>
              </a:pathLst>
            </a:custGeom>
            <a:noFill/>
            <a:ln w="9525">
              <a:solidFill>
                <a:schemeClr val="accent3"/>
              </a:solidFill>
              <a:custDash>
                <a:ds d="400000" sp="600000"/>
              </a:custDash>
            </a:ln>
          </p:spPr>
        </p:sp>
        <p:sp>
          <p:nvSpPr>
            <p:cNvPr id="28" name="Line 28"/>
            <p:cNvSpPr/>
            <p:nvPr/>
          </p:nvSpPr>
          <p:spPr>
            <a:xfrm>
              <a:off x="1609725" y="3048000"/>
              <a:ext cx="1724025" cy="1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690116" y="28257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输入主题与约束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3381375" y="3371850"/>
              <a:ext cx="1724025" cy="1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461766" y="3149600"/>
              <a:ext cx="10277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POST /reviews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5153025" y="3695700"/>
              <a:ext cx="1724025" cy="1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33416" y="3473450"/>
              <a:ext cx="7969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SearchTask</a:t>
              </a:r>
            </a:p>
          </p:txBody>
        </p:sp>
        <p:sp>
          <p:nvSpPr>
            <p:cNvPr id="34" name="Line 34"/>
            <p:cNvSpPr/>
            <p:nvPr/>
          </p:nvSpPr>
          <p:spPr>
            <a:xfrm flipH="1">
              <a:off x="5200650" y="4019550"/>
              <a:ext cx="1724025" cy="1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custDash>
                <a:ds d="466667" sp="333333"/>
              </a:custDash>
              <a:tailEnd type="triangle" w="lg" len="lg"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652516" y="3797300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evidence[]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153025" y="4343400"/>
              <a:ext cx="3495675" cy="1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33416" y="4121150"/>
              <a:ext cx="17351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draft(outline, evidence)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8696325" y="4667250"/>
              <a:ext cx="1724025" cy="1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776716" y="44450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claims</a:t>
              </a:r>
            </a:p>
          </p:txBody>
        </p:sp>
        <p:sp>
          <p:nvSpPr>
            <p:cNvPr id="40" name="Line 40"/>
            <p:cNvSpPr/>
            <p:nvPr/>
          </p:nvSpPr>
          <p:spPr>
            <a:xfrm flipH="1">
              <a:off x="5200650" y="4953000"/>
              <a:ext cx="5267325" cy="1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custDash>
                <a:ds d="466667" sp="333333"/>
              </a:custDash>
              <a:tailEnd type="triangle" w="lg" len="lg"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62216" y="4730750"/>
              <a:ext cx="13080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verificationPassed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810500" y="5143500"/>
              <a:ext cx="3467100" cy="609600"/>
            </a:xfrm>
            <a:prstGeom prst="rect">
              <a:avLst/>
            </a:prstGeom>
            <a:noFill/>
            <a:ln w="13335">
              <a:solidFill>
                <a:schemeClr val="accent2"/>
              </a:solidFill>
              <a:custDash>
                <a:ds d="428571" sp="285714"/>
              </a:custDash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957566" y="5187950"/>
              <a:ext cx="18139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alt [unsupported claims]</a:t>
              </a:r>
            </a:p>
          </p:txBody>
        </p:sp>
        <p:sp>
          <p:nvSpPr>
            <p:cNvPr id="44" name="Line 44"/>
            <p:cNvSpPr/>
            <p:nvPr/>
          </p:nvSpPr>
          <p:spPr>
            <a:xfrm flipH="1">
              <a:off x="8743950" y="5543550"/>
              <a:ext cx="1724025" cy="1"/>
            </a:xfrm>
            <a:prstGeom prst="line">
              <a:avLst/>
            </a:prstGeom>
            <a:noFill/>
            <a:ln w="13335">
              <a:solidFill>
                <a:schemeClr val="accent2"/>
              </a:solidFill>
              <a:custDash>
                <a:ds d="500000" sp="357143"/>
              </a:custDash>
              <a:tailEnd type="triangle" w="lg" len="lg"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233916" y="5340350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4A16"/>
                  </a:solidFill>
                  <a:latin typeface="+mn-lt"/>
                  <a:ea typeface="+mn-ea"/>
                  <a:cs typeface="+mn-cs"/>
                </a:rPr>
                <a:t>定向改写 / 补充检索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9066" y="5530850"/>
              <a:ext cx="48948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REST 创建任务 · SSE 推送进度 · evidenceId 持久化 · 校验失败不被静默忽略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604266" y="6502400"/>
            <a:ext cx="10164318" cy="205359"/>
            <a:chOff x="604266" y="6502400"/>
            <a:chExt cx="10164318" cy="205359"/>
          </a:xfrm>
        </p:grpSpPr>
        <p:sp>
          <p:nvSpPr>
            <p:cNvPr id="48" name="TextBox 48"/>
            <p:cNvSpPr txBox="1"/>
            <p:nvPr/>
          </p:nvSpPr>
          <p:spPr>
            <a:xfrm>
              <a:off x="604266" y="6502400"/>
              <a:ext cx="30386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UML 顺序图附录 · 主流程、返回消息与失败分支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175443" y="6502400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P17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aper_agent_opening">
  <a:themeElements>
    <a:clrScheme name="paper_agent_opening">
      <a:dk1>
        <a:srgbClr val="1F2933"/>
      </a:dk1>
      <a:lt1>
        <a:srgbClr val="F7F9F6"/>
      </a:lt1>
      <a:dk2>
        <a:srgbClr val="1F497D"/>
      </a:dk2>
      <a:lt2>
        <a:srgbClr val="E8EFEA"/>
      </a:lt2>
      <a:accent1>
        <a:srgbClr val="0E3B43"/>
      </a:accent1>
      <a:accent2>
        <a:srgbClr val="D97706"/>
      </a:accent2>
      <a:accent3>
        <a:srgbClr val="2F6F7E"/>
      </a:accent3>
      <a:accent4>
        <a:srgbClr val="0E3B43"/>
      </a:accent4>
      <a:accent5>
        <a:srgbClr val="5B6770"/>
      </a:accent5>
      <a:accent6>
        <a:srgbClr val="BED0C5"/>
      </a:accent6>
      <a:hlink>
        <a:srgbClr val="D97706"/>
      </a:hlink>
      <a:folHlink>
        <a:srgbClr val="2F6F7E"/>
      </a:folHlink>
    </a:clrScheme>
    <a:fontScheme name="paper_agent_opening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per_agent_open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aper_agent_opening">
  <a:themeElements>
    <a:clrScheme name="paper_agent_opening">
      <a:dk1>
        <a:srgbClr val="1F2933"/>
      </a:dk1>
      <a:lt1>
        <a:srgbClr val="F7F9F6"/>
      </a:lt1>
      <a:dk2>
        <a:srgbClr val="1F497D"/>
      </a:dk2>
      <a:lt2>
        <a:srgbClr val="E8EFEA"/>
      </a:lt2>
      <a:accent1>
        <a:srgbClr val="0E3B43"/>
      </a:accent1>
      <a:accent2>
        <a:srgbClr val="D97706"/>
      </a:accent2>
      <a:accent3>
        <a:srgbClr val="2F6F7E"/>
      </a:accent3>
      <a:accent4>
        <a:srgbClr val="0E3B43"/>
      </a:accent4>
      <a:accent5>
        <a:srgbClr val="5B6770"/>
      </a:accent5>
      <a:accent6>
        <a:srgbClr val="BED0C5"/>
      </a:accent6>
      <a:hlink>
        <a:srgbClr val="D97706"/>
      </a:hlink>
      <a:folHlink>
        <a:srgbClr val="2F6F7E"/>
      </a:folHlink>
    </a:clrScheme>
    <a:fontScheme name="paper_agent_opening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per_agent_open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2026-10-28T08:52:19Z</dcterms:created>
  <dcterms:modified xsi:type="dcterms:W3CDTF">2026-10-28T08:52:19Z</dcterms:modified>
  <cp:category/>
  <cp:contentStatus/>
</cp:coreProperties>
</file>